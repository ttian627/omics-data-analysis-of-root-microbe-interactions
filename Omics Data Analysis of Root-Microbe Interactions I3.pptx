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5"/>
  </p:notesMasterIdLst>
  <p:handoutMasterIdLst>
    <p:handoutMasterId r:id="rId36"/>
  </p:handoutMasterIdLst>
  <p:sldIdLst>
    <p:sldId id="269" r:id="rId2"/>
    <p:sldId id="257" r:id="rId3"/>
    <p:sldId id="270" r:id="rId4"/>
    <p:sldId id="262" r:id="rId5"/>
    <p:sldId id="261" r:id="rId6"/>
    <p:sldId id="265" r:id="rId7"/>
    <p:sldId id="278" r:id="rId8"/>
    <p:sldId id="282" r:id="rId9"/>
    <p:sldId id="290" r:id="rId10"/>
    <p:sldId id="283" r:id="rId11"/>
    <p:sldId id="260" r:id="rId12"/>
    <p:sldId id="258" r:id="rId13"/>
    <p:sldId id="271" r:id="rId14"/>
    <p:sldId id="291" r:id="rId15"/>
    <p:sldId id="296" r:id="rId16"/>
    <p:sldId id="297" r:id="rId17"/>
    <p:sldId id="298" r:id="rId18"/>
    <p:sldId id="299" r:id="rId19"/>
    <p:sldId id="300" r:id="rId20"/>
    <p:sldId id="288" r:id="rId21"/>
    <p:sldId id="294" r:id="rId22"/>
    <p:sldId id="280" r:id="rId23"/>
    <p:sldId id="295" r:id="rId24"/>
    <p:sldId id="273" r:id="rId25"/>
    <p:sldId id="267" r:id="rId26"/>
    <p:sldId id="286" r:id="rId27"/>
    <p:sldId id="284" r:id="rId28"/>
    <p:sldId id="272" r:id="rId29"/>
    <p:sldId id="279" r:id="rId30"/>
    <p:sldId id="285" r:id="rId31"/>
    <p:sldId id="289" r:id="rId32"/>
    <p:sldId id="292" r:id="rId33"/>
    <p:sldId id="274" r:id="rId34"/>
  </p:sldIdLst>
  <p:sldSz cx="9144000" cy="6858000" type="screen4x3"/>
  <p:notesSz cx="6858000" cy="9144000"/>
  <p:defaultTextStyle>
    <a:defPPr>
      <a:defRPr lang="de-DE"/>
    </a:defPPr>
    <a:lvl1pPr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1pPr>
    <a:lvl2pPr marL="4572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2pPr>
    <a:lvl3pPr marL="9144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3pPr>
    <a:lvl4pPr marL="13716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4pPr>
    <a:lvl5pPr marL="18288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0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0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0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0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66">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AC6B"/>
    <a:srgbClr val="FFFFFF"/>
    <a:srgbClr val="A3DBFF"/>
    <a:srgbClr val="0065BD"/>
    <a:srgbClr val="E6E6E6"/>
    <a:srgbClr val="B5CA82"/>
    <a:srgbClr val="41BEFF"/>
    <a:srgbClr val="0099FF"/>
    <a:srgbClr val="CA213F"/>
    <a:srgbClr val="E5341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56" autoAdjust="0"/>
    <p:restoredTop sz="68805" autoAdjust="0"/>
  </p:normalViewPr>
  <p:slideViewPr>
    <p:cSldViewPr snapToGrid="0" showGuides="1">
      <p:cViewPr varScale="1">
        <p:scale>
          <a:sx n="93" d="100"/>
          <a:sy n="93" d="100"/>
        </p:scale>
        <p:origin x="1184" y="208"/>
      </p:cViewPr>
      <p:guideLst>
        <p:guide orient="horz" pos="106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139DE0-C36D-0C45-9A1C-332449CB2FCF}" type="doc">
      <dgm:prSet loTypeId="urn:microsoft.com/office/officeart/2009/layout/CircleArrowProcess" loCatId="" qsTypeId="urn:microsoft.com/office/officeart/2005/8/quickstyle/simple1" qsCatId="simple" csTypeId="urn:microsoft.com/office/officeart/2005/8/colors/accent1_2" csCatId="accent1" phldr="1"/>
      <dgm:spPr/>
      <dgm:t>
        <a:bodyPr/>
        <a:lstStyle/>
        <a:p>
          <a:endParaRPr lang="zh-CN" altLang="en-US"/>
        </a:p>
      </dgm:t>
    </dgm:pt>
    <dgm:pt modelId="{6BEFBCE0-5B03-1F44-820F-745E219CA1F2}">
      <dgm:prSet phldrT="[文本]" custT="1"/>
      <dgm:spPr/>
      <dgm:t>
        <a:bodyPr/>
        <a:lstStyle/>
        <a:p>
          <a:r>
            <a:rPr lang="en-US" altLang="zh-CN" sz="1800" dirty="0"/>
            <a:t>Genome</a:t>
          </a:r>
          <a:endParaRPr lang="zh-CN" altLang="en-US" sz="1800" dirty="0"/>
        </a:p>
      </dgm:t>
    </dgm:pt>
    <dgm:pt modelId="{CDCFED1A-47CF-4A47-9975-9735E592689F}" type="parTrans" cxnId="{46390823-73BD-924A-904B-9542C14EA6F3}">
      <dgm:prSet/>
      <dgm:spPr/>
      <dgm:t>
        <a:bodyPr/>
        <a:lstStyle/>
        <a:p>
          <a:endParaRPr lang="zh-CN" altLang="en-US" sz="1800"/>
        </a:p>
      </dgm:t>
    </dgm:pt>
    <dgm:pt modelId="{3FD3199F-E25B-314E-A93B-72CCD20A73F3}" type="sibTrans" cxnId="{46390823-73BD-924A-904B-9542C14EA6F3}">
      <dgm:prSet/>
      <dgm:spPr/>
      <dgm:t>
        <a:bodyPr/>
        <a:lstStyle/>
        <a:p>
          <a:endParaRPr lang="zh-CN" altLang="en-US" sz="1800"/>
        </a:p>
      </dgm:t>
    </dgm:pt>
    <dgm:pt modelId="{295E52D9-234F-DD4F-A1C8-118586DD02BC}">
      <dgm:prSet phldrT="[文本]" custT="1"/>
      <dgm:spPr/>
      <dgm:t>
        <a:bodyPr/>
        <a:lstStyle/>
        <a:p>
          <a:r>
            <a:rPr lang="en-US" altLang="zh-CN" sz="1800" b="1" dirty="0"/>
            <a:t>Transcriptome</a:t>
          </a:r>
          <a:endParaRPr lang="zh-CN" altLang="en-US" sz="1800" b="1" dirty="0"/>
        </a:p>
      </dgm:t>
    </dgm:pt>
    <dgm:pt modelId="{3BD4ED98-FEA3-1146-93BC-7754B798E644}" type="parTrans" cxnId="{DFDC1EDA-24CD-E349-9DED-A6B6A08E284D}">
      <dgm:prSet/>
      <dgm:spPr/>
      <dgm:t>
        <a:bodyPr/>
        <a:lstStyle/>
        <a:p>
          <a:endParaRPr lang="zh-CN" altLang="en-US" sz="1800"/>
        </a:p>
      </dgm:t>
    </dgm:pt>
    <dgm:pt modelId="{D2625476-0955-B444-AA7C-A78B9D9BFF0A}" type="sibTrans" cxnId="{DFDC1EDA-24CD-E349-9DED-A6B6A08E284D}">
      <dgm:prSet/>
      <dgm:spPr/>
      <dgm:t>
        <a:bodyPr/>
        <a:lstStyle/>
        <a:p>
          <a:endParaRPr lang="zh-CN" altLang="en-US" sz="1800"/>
        </a:p>
      </dgm:t>
    </dgm:pt>
    <dgm:pt modelId="{8F5DAAD9-2CD6-0643-B40F-198486B3DC90}">
      <dgm:prSet phldrT="[文本]" custT="1"/>
      <dgm:spPr/>
      <dgm:t>
        <a:bodyPr/>
        <a:lstStyle/>
        <a:p>
          <a:r>
            <a:rPr lang="en-US" altLang="zh-CN" sz="1800" dirty="0"/>
            <a:t>……</a:t>
          </a:r>
          <a:endParaRPr lang="zh-CN" altLang="en-US" sz="1800" dirty="0"/>
        </a:p>
      </dgm:t>
    </dgm:pt>
    <dgm:pt modelId="{3B678388-46DC-7742-B1C1-4CF3A69862AF}" type="parTrans" cxnId="{69E2FFFE-E074-5A48-A37A-AE25FFA278E6}">
      <dgm:prSet/>
      <dgm:spPr/>
      <dgm:t>
        <a:bodyPr/>
        <a:lstStyle/>
        <a:p>
          <a:endParaRPr lang="zh-CN" altLang="en-US" sz="1800"/>
        </a:p>
      </dgm:t>
    </dgm:pt>
    <dgm:pt modelId="{F0DF0F76-DB96-0448-BBD7-6E3A16BB1491}" type="sibTrans" cxnId="{69E2FFFE-E074-5A48-A37A-AE25FFA278E6}">
      <dgm:prSet/>
      <dgm:spPr/>
      <dgm:t>
        <a:bodyPr/>
        <a:lstStyle/>
        <a:p>
          <a:endParaRPr lang="zh-CN" altLang="en-US" sz="1800"/>
        </a:p>
      </dgm:t>
    </dgm:pt>
    <dgm:pt modelId="{7C89CE58-7F36-6441-B19D-C72B865A33FA}">
      <dgm:prSet custT="1"/>
      <dgm:spPr/>
      <dgm:t>
        <a:bodyPr/>
        <a:lstStyle/>
        <a:p>
          <a:r>
            <a:rPr lang="en-US" altLang="zh-CN" sz="1800" b="1" dirty="0"/>
            <a:t>Microbiome</a:t>
          </a:r>
          <a:endParaRPr lang="zh-CN" altLang="en-US" sz="1800" b="1" dirty="0"/>
        </a:p>
      </dgm:t>
    </dgm:pt>
    <dgm:pt modelId="{5DD0E558-BA9A-E14C-8509-397C4FF9DAB3}" type="parTrans" cxnId="{A1FED97D-66C6-EE45-8313-EF75C1A7B17E}">
      <dgm:prSet/>
      <dgm:spPr/>
      <dgm:t>
        <a:bodyPr/>
        <a:lstStyle/>
        <a:p>
          <a:endParaRPr lang="zh-CN" altLang="en-US" sz="1800"/>
        </a:p>
      </dgm:t>
    </dgm:pt>
    <dgm:pt modelId="{1E0BF2D4-C115-894E-9B9A-90FE3B836449}" type="sibTrans" cxnId="{A1FED97D-66C6-EE45-8313-EF75C1A7B17E}">
      <dgm:prSet/>
      <dgm:spPr/>
      <dgm:t>
        <a:bodyPr/>
        <a:lstStyle/>
        <a:p>
          <a:endParaRPr lang="zh-CN" altLang="en-US" sz="1800"/>
        </a:p>
      </dgm:t>
    </dgm:pt>
    <dgm:pt modelId="{B7BACB6D-8DA8-3742-B86E-D07727F4165A}" type="pres">
      <dgm:prSet presAssocID="{CF139DE0-C36D-0C45-9A1C-332449CB2FCF}" presName="Name0" presStyleCnt="0">
        <dgm:presLayoutVars>
          <dgm:chMax val="7"/>
          <dgm:chPref val="7"/>
          <dgm:dir/>
          <dgm:animLvl val="lvl"/>
        </dgm:presLayoutVars>
      </dgm:prSet>
      <dgm:spPr/>
    </dgm:pt>
    <dgm:pt modelId="{2814B46C-E7F9-634C-90D5-40EFCE542730}" type="pres">
      <dgm:prSet presAssocID="{6BEFBCE0-5B03-1F44-820F-745E219CA1F2}" presName="Accent1" presStyleCnt="0"/>
      <dgm:spPr/>
    </dgm:pt>
    <dgm:pt modelId="{827342CD-C34F-364C-AE75-66DDE1144518}" type="pres">
      <dgm:prSet presAssocID="{6BEFBCE0-5B03-1F44-820F-745E219CA1F2}" presName="Accent" presStyleLbl="node1" presStyleIdx="0" presStyleCnt="4"/>
      <dgm:spPr>
        <a:solidFill>
          <a:srgbClr val="00B050"/>
        </a:solidFill>
      </dgm:spPr>
    </dgm:pt>
    <dgm:pt modelId="{B9522A03-B10A-5949-80F0-9EC179440D5E}" type="pres">
      <dgm:prSet presAssocID="{6BEFBCE0-5B03-1F44-820F-745E219CA1F2}" presName="Parent1" presStyleLbl="revTx" presStyleIdx="0" presStyleCnt="4" custScaleX="214246">
        <dgm:presLayoutVars>
          <dgm:chMax val="1"/>
          <dgm:chPref val="1"/>
          <dgm:bulletEnabled val="1"/>
        </dgm:presLayoutVars>
      </dgm:prSet>
      <dgm:spPr/>
    </dgm:pt>
    <dgm:pt modelId="{B5271341-CEB1-8F4E-BBD4-912BDD20AF12}" type="pres">
      <dgm:prSet presAssocID="{295E52D9-234F-DD4F-A1C8-118586DD02BC}" presName="Accent2" presStyleCnt="0"/>
      <dgm:spPr/>
    </dgm:pt>
    <dgm:pt modelId="{DE64439A-5E77-564C-AAB6-D58941A70859}" type="pres">
      <dgm:prSet presAssocID="{295E52D9-234F-DD4F-A1C8-118586DD02BC}" presName="Accent" presStyleLbl="node1" presStyleIdx="1" presStyleCnt="4"/>
      <dgm:spPr>
        <a:solidFill>
          <a:srgbClr val="92D050"/>
        </a:solidFill>
      </dgm:spPr>
    </dgm:pt>
    <dgm:pt modelId="{9F366595-2F79-C94B-AE00-61398B2ABF96}" type="pres">
      <dgm:prSet presAssocID="{295E52D9-234F-DD4F-A1C8-118586DD02BC}" presName="Parent2" presStyleLbl="revTx" presStyleIdx="1" presStyleCnt="4" custScaleX="241837" custLinFactNeighborX="41770" custLinFactNeighborY="3987">
        <dgm:presLayoutVars>
          <dgm:chMax val="1"/>
          <dgm:chPref val="1"/>
          <dgm:bulletEnabled val="1"/>
        </dgm:presLayoutVars>
      </dgm:prSet>
      <dgm:spPr/>
    </dgm:pt>
    <dgm:pt modelId="{29A5B56F-95C4-D74D-85EE-B857F9D57170}" type="pres">
      <dgm:prSet presAssocID="{8F5DAAD9-2CD6-0643-B40F-198486B3DC90}" presName="Accent3" presStyleCnt="0"/>
      <dgm:spPr/>
    </dgm:pt>
    <dgm:pt modelId="{86649A59-FFEF-0440-904F-340D5F0ED682}" type="pres">
      <dgm:prSet presAssocID="{8F5DAAD9-2CD6-0643-B40F-198486B3DC90}" presName="Accent" presStyleLbl="node1" presStyleIdx="2" presStyleCnt="4"/>
      <dgm:spPr>
        <a:solidFill>
          <a:schemeClr val="accent1"/>
        </a:solidFill>
      </dgm:spPr>
    </dgm:pt>
    <dgm:pt modelId="{2B09ECBB-D973-5049-AF72-31BC338DB110}" type="pres">
      <dgm:prSet presAssocID="{8F5DAAD9-2CD6-0643-B40F-198486B3DC90}" presName="Parent3" presStyleLbl="revTx" presStyleIdx="2" presStyleCnt="4">
        <dgm:presLayoutVars>
          <dgm:chMax val="1"/>
          <dgm:chPref val="1"/>
          <dgm:bulletEnabled val="1"/>
        </dgm:presLayoutVars>
      </dgm:prSet>
      <dgm:spPr/>
    </dgm:pt>
    <dgm:pt modelId="{2C6569C2-B569-BB4A-9407-8DB545F1F272}" type="pres">
      <dgm:prSet presAssocID="{7C89CE58-7F36-6441-B19D-C72B865A33FA}" presName="Accent4" presStyleCnt="0"/>
      <dgm:spPr/>
    </dgm:pt>
    <dgm:pt modelId="{3C651FD3-E57A-3D42-92F2-D237ED799EBC}" type="pres">
      <dgm:prSet presAssocID="{7C89CE58-7F36-6441-B19D-C72B865A33FA}" presName="Accent" presStyleLbl="node1" presStyleIdx="3" presStyleCnt="4"/>
      <dgm:spPr>
        <a:solidFill>
          <a:srgbClr val="C00000"/>
        </a:solidFill>
      </dgm:spPr>
    </dgm:pt>
    <dgm:pt modelId="{9BEF2350-481C-E944-9F2A-B47BAE2A9F9B}" type="pres">
      <dgm:prSet presAssocID="{7C89CE58-7F36-6441-B19D-C72B865A33FA}" presName="Parent4" presStyleLbl="revTx" presStyleIdx="3" presStyleCnt="4" custScaleX="210280" custLinFactNeighborX="26732" custLinFactNeighborY="-23394">
        <dgm:presLayoutVars>
          <dgm:chMax val="1"/>
          <dgm:chPref val="1"/>
          <dgm:bulletEnabled val="1"/>
        </dgm:presLayoutVars>
      </dgm:prSet>
      <dgm:spPr/>
    </dgm:pt>
  </dgm:ptLst>
  <dgm:cxnLst>
    <dgm:cxn modelId="{70B4D521-BAB8-724B-824B-3A8F56244407}" type="presOf" srcId="{8F5DAAD9-2CD6-0643-B40F-198486B3DC90}" destId="{2B09ECBB-D973-5049-AF72-31BC338DB110}" srcOrd="0" destOrd="0" presId="urn:microsoft.com/office/officeart/2009/layout/CircleArrowProcess"/>
    <dgm:cxn modelId="{46390823-73BD-924A-904B-9542C14EA6F3}" srcId="{CF139DE0-C36D-0C45-9A1C-332449CB2FCF}" destId="{6BEFBCE0-5B03-1F44-820F-745E219CA1F2}" srcOrd="0" destOrd="0" parTransId="{CDCFED1A-47CF-4A47-9975-9735E592689F}" sibTransId="{3FD3199F-E25B-314E-A93B-72CCD20A73F3}"/>
    <dgm:cxn modelId="{7FCCCD7A-0D25-E448-A1CB-645EBD63B0D1}" type="presOf" srcId="{7C89CE58-7F36-6441-B19D-C72B865A33FA}" destId="{9BEF2350-481C-E944-9F2A-B47BAE2A9F9B}" srcOrd="0" destOrd="0" presId="urn:microsoft.com/office/officeart/2009/layout/CircleArrowProcess"/>
    <dgm:cxn modelId="{A1FED97D-66C6-EE45-8313-EF75C1A7B17E}" srcId="{CF139DE0-C36D-0C45-9A1C-332449CB2FCF}" destId="{7C89CE58-7F36-6441-B19D-C72B865A33FA}" srcOrd="3" destOrd="0" parTransId="{5DD0E558-BA9A-E14C-8509-397C4FF9DAB3}" sibTransId="{1E0BF2D4-C115-894E-9B9A-90FE3B836449}"/>
    <dgm:cxn modelId="{E8858293-C7C3-694A-ADD9-D6A13EBB0BA8}" type="presOf" srcId="{6BEFBCE0-5B03-1F44-820F-745E219CA1F2}" destId="{B9522A03-B10A-5949-80F0-9EC179440D5E}" srcOrd="0" destOrd="0" presId="urn:microsoft.com/office/officeart/2009/layout/CircleArrowProcess"/>
    <dgm:cxn modelId="{1641EBC2-77D4-7B48-8F9B-D68FB9EA3314}" type="presOf" srcId="{CF139DE0-C36D-0C45-9A1C-332449CB2FCF}" destId="{B7BACB6D-8DA8-3742-B86E-D07727F4165A}" srcOrd="0" destOrd="0" presId="urn:microsoft.com/office/officeart/2009/layout/CircleArrowProcess"/>
    <dgm:cxn modelId="{DFDC1EDA-24CD-E349-9DED-A6B6A08E284D}" srcId="{CF139DE0-C36D-0C45-9A1C-332449CB2FCF}" destId="{295E52D9-234F-DD4F-A1C8-118586DD02BC}" srcOrd="1" destOrd="0" parTransId="{3BD4ED98-FEA3-1146-93BC-7754B798E644}" sibTransId="{D2625476-0955-B444-AA7C-A78B9D9BFF0A}"/>
    <dgm:cxn modelId="{4600F2FC-96A3-6043-A37E-C6DE1CBE11C1}" type="presOf" srcId="{295E52D9-234F-DD4F-A1C8-118586DD02BC}" destId="{9F366595-2F79-C94B-AE00-61398B2ABF96}" srcOrd="0" destOrd="0" presId="urn:microsoft.com/office/officeart/2009/layout/CircleArrowProcess"/>
    <dgm:cxn modelId="{69E2FFFE-E074-5A48-A37A-AE25FFA278E6}" srcId="{CF139DE0-C36D-0C45-9A1C-332449CB2FCF}" destId="{8F5DAAD9-2CD6-0643-B40F-198486B3DC90}" srcOrd="2" destOrd="0" parTransId="{3B678388-46DC-7742-B1C1-4CF3A69862AF}" sibTransId="{F0DF0F76-DB96-0448-BBD7-6E3A16BB1491}"/>
    <dgm:cxn modelId="{6DD2E38C-5B37-1149-A1E4-FECA83DE2311}" type="presParOf" srcId="{B7BACB6D-8DA8-3742-B86E-D07727F4165A}" destId="{2814B46C-E7F9-634C-90D5-40EFCE542730}" srcOrd="0" destOrd="0" presId="urn:microsoft.com/office/officeart/2009/layout/CircleArrowProcess"/>
    <dgm:cxn modelId="{226F7C6A-ED82-984B-8CA5-5E716C6BBCD5}" type="presParOf" srcId="{2814B46C-E7F9-634C-90D5-40EFCE542730}" destId="{827342CD-C34F-364C-AE75-66DDE1144518}" srcOrd="0" destOrd="0" presId="urn:microsoft.com/office/officeart/2009/layout/CircleArrowProcess"/>
    <dgm:cxn modelId="{F9F42D6C-8D9B-454E-8297-678C5016BE49}" type="presParOf" srcId="{B7BACB6D-8DA8-3742-B86E-D07727F4165A}" destId="{B9522A03-B10A-5949-80F0-9EC179440D5E}" srcOrd="1" destOrd="0" presId="urn:microsoft.com/office/officeart/2009/layout/CircleArrowProcess"/>
    <dgm:cxn modelId="{6B3BB29A-0019-3242-9603-AB6C15D68280}" type="presParOf" srcId="{B7BACB6D-8DA8-3742-B86E-D07727F4165A}" destId="{B5271341-CEB1-8F4E-BBD4-912BDD20AF12}" srcOrd="2" destOrd="0" presId="urn:microsoft.com/office/officeart/2009/layout/CircleArrowProcess"/>
    <dgm:cxn modelId="{E02AB4DA-7F90-CC4A-B51A-199BB4BE0941}" type="presParOf" srcId="{B5271341-CEB1-8F4E-BBD4-912BDD20AF12}" destId="{DE64439A-5E77-564C-AAB6-D58941A70859}" srcOrd="0" destOrd="0" presId="urn:microsoft.com/office/officeart/2009/layout/CircleArrowProcess"/>
    <dgm:cxn modelId="{D7AB1C46-0CF8-8945-B8B8-D157F85C2336}" type="presParOf" srcId="{B7BACB6D-8DA8-3742-B86E-D07727F4165A}" destId="{9F366595-2F79-C94B-AE00-61398B2ABF96}" srcOrd="3" destOrd="0" presId="urn:microsoft.com/office/officeart/2009/layout/CircleArrowProcess"/>
    <dgm:cxn modelId="{2919DB62-A75E-2B45-88CC-AAE57B1E7FE4}" type="presParOf" srcId="{B7BACB6D-8DA8-3742-B86E-D07727F4165A}" destId="{29A5B56F-95C4-D74D-85EE-B857F9D57170}" srcOrd="4" destOrd="0" presId="urn:microsoft.com/office/officeart/2009/layout/CircleArrowProcess"/>
    <dgm:cxn modelId="{9B78542E-852E-4840-8B45-1288174C7CC5}" type="presParOf" srcId="{29A5B56F-95C4-D74D-85EE-B857F9D57170}" destId="{86649A59-FFEF-0440-904F-340D5F0ED682}" srcOrd="0" destOrd="0" presId="urn:microsoft.com/office/officeart/2009/layout/CircleArrowProcess"/>
    <dgm:cxn modelId="{CDD405D4-918B-9E4F-9344-97EEEFAEEF01}" type="presParOf" srcId="{B7BACB6D-8DA8-3742-B86E-D07727F4165A}" destId="{2B09ECBB-D973-5049-AF72-31BC338DB110}" srcOrd="5" destOrd="0" presId="urn:microsoft.com/office/officeart/2009/layout/CircleArrowProcess"/>
    <dgm:cxn modelId="{151A65A7-1555-F347-B0A4-21467327FDE9}" type="presParOf" srcId="{B7BACB6D-8DA8-3742-B86E-D07727F4165A}" destId="{2C6569C2-B569-BB4A-9407-8DB545F1F272}" srcOrd="6" destOrd="0" presId="urn:microsoft.com/office/officeart/2009/layout/CircleArrowProcess"/>
    <dgm:cxn modelId="{35B17C65-25A2-1841-BDCC-B197A1C5C3D4}" type="presParOf" srcId="{2C6569C2-B569-BB4A-9407-8DB545F1F272}" destId="{3C651FD3-E57A-3D42-92F2-D237ED799EBC}" srcOrd="0" destOrd="0" presId="urn:microsoft.com/office/officeart/2009/layout/CircleArrowProcess"/>
    <dgm:cxn modelId="{9848E3E4-81F5-4840-A6E3-755B8B8111AD}" type="presParOf" srcId="{B7BACB6D-8DA8-3742-B86E-D07727F4165A}" destId="{9BEF2350-481C-E944-9F2A-B47BAE2A9F9B}" srcOrd="7"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342CD-C34F-364C-AE75-66DDE1144518}">
      <dsp:nvSpPr>
        <dsp:cNvPr id="0" name=""/>
        <dsp:cNvSpPr/>
      </dsp:nvSpPr>
      <dsp:spPr>
        <a:xfrm>
          <a:off x="2407163" y="0"/>
          <a:ext cx="1532378" cy="1532534"/>
        </a:xfrm>
        <a:prstGeom prst="circularArrow">
          <a:avLst>
            <a:gd name="adj1" fmla="val 10980"/>
            <a:gd name="adj2" fmla="val 1142322"/>
            <a:gd name="adj3" fmla="val 4500000"/>
            <a:gd name="adj4" fmla="val 10800000"/>
            <a:gd name="adj5" fmla="val 125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522A03-B10A-5949-80F0-9EC179440D5E}">
      <dsp:nvSpPr>
        <dsp:cNvPr id="0" name=""/>
        <dsp:cNvSpPr/>
      </dsp:nvSpPr>
      <dsp:spPr>
        <a:xfrm>
          <a:off x="2256998" y="554736"/>
          <a:ext cx="1832133" cy="427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Genome</a:t>
          </a:r>
          <a:endParaRPr lang="zh-CN" altLang="en-US" sz="1800" kern="1200" dirty="0"/>
        </a:p>
      </dsp:txBody>
      <dsp:txXfrm>
        <a:off x="2256998" y="554736"/>
        <a:ext cx="1832133" cy="427532"/>
      </dsp:txXfrm>
    </dsp:sp>
    <dsp:sp modelId="{DE64439A-5E77-564C-AAB6-D58941A70859}">
      <dsp:nvSpPr>
        <dsp:cNvPr id="0" name=""/>
        <dsp:cNvSpPr/>
      </dsp:nvSpPr>
      <dsp:spPr>
        <a:xfrm>
          <a:off x="1981455" y="880668"/>
          <a:ext cx="1532378" cy="1532534"/>
        </a:xfrm>
        <a:prstGeom prst="leftCircularArrow">
          <a:avLst>
            <a:gd name="adj1" fmla="val 10980"/>
            <a:gd name="adj2" fmla="val 1142322"/>
            <a:gd name="adj3" fmla="val 6300000"/>
            <a:gd name="adj4" fmla="val 18900000"/>
            <a:gd name="adj5" fmla="val 12500"/>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366595-2F79-C94B-AE00-61398B2ABF96}">
      <dsp:nvSpPr>
        <dsp:cNvPr id="0" name=""/>
        <dsp:cNvSpPr/>
      </dsp:nvSpPr>
      <dsp:spPr>
        <a:xfrm>
          <a:off x="2068790" y="1454076"/>
          <a:ext cx="2068078" cy="427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Transcriptome</a:t>
          </a:r>
          <a:endParaRPr lang="zh-CN" altLang="en-US" sz="1800" b="1" kern="1200" dirty="0"/>
        </a:p>
      </dsp:txBody>
      <dsp:txXfrm>
        <a:off x="2068790" y="1454076"/>
        <a:ext cx="2068078" cy="427532"/>
      </dsp:txXfrm>
    </dsp:sp>
    <dsp:sp modelId="{86649A59-FFEF-0440-904F-340D5F0ED682}">
      <dsp:nvSpPr>
        <dsp:cNvPr id="0" name=""/>
        <dsp:cNvSpPr/>
      </dsp:nvSpPr>
      <dsp:spPr>
        <a:xfrm>
          <a:off x="2407163" y="1764588"/>
          <a:ext cx="1532378" cy="1532534"/>
        </a:xfrm>
        <a:prstGeom prst="circularArrow">
          <a:avLst>
            <a:gd name="adj1" fmla="val 10980"/>
            <a:gd name="adj2" fmla="val 1142322"/>
            <a:gd name="adj3" fmla="val 4500000"/>
            <a:gd name="adj4" fmla="val 13500000"/>
            <a:gd name="adj5" fmla="val 12500"/>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09ECBB-D973-5049-AF72-31BC338DB110}">
      <dsp:nvSpPr>
        <dsp:cNvPr id="0" name=""/>
        <dsp:cNvSpPr/>
      </dsp:nvSpPr>
      <dsp:spPr>
        <a:xfrm>
          <a:off x="2745488" y="2319324"/>
          <a:ext cx="855153" cy="427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a:t>
          </a:r>
          <a:endParaRPr lang="zh-CN" altLang="en-US" sz="1800" kern="1200" dirty="0"/>
        </a:p>
      </dsp:txBody>
      <dsp:txXfrm>
        <a:off x="2745488" y="2319324"/>
        <a:ext cx="855153" cy="427532"/>
      </dsp:txXfrm>
    </dsp:sp>
    <dsp:sp modelId="{3C651FD3-E57A-3D42-92F2-D237ED799EBC}">
      <dsp:nvSpPr>
        <dsp:cNvPr id="0" name=""/>
        <dsp:cNvSpPr/>
      </dsp:nvSpPr>
      <dsp:spPr>
        <a:xfrm>
          <a:off x="2090684" y="2746857"/>
          <a:ext cx="1316505" cy="1317142"/>
        </a:xfrm>
        <a:prstGeom prst="blockArc">
          <a:avLst>
            <a:gd name="adj1" fmla="val 0"/>
            <a:gd name="adj2" fmla="val 18900000"/>
            <a:gd name="adj3" fmla="val 1274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EF2350-481C-E944-9F2A-B47BAE2A9F9B}">
      <dsp:nvSpPr>
        <dsp:cNvPr id="0" name=""/>
        <dsp:cNvSpPr/>
      </dsp:nvSpPr>
      <dsp:spPr>
        <a:xfrm>
          <a:off x="2075123" y="3101602"/>
          <a:ext cx="1798217" cy="427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Microbiome</a:t>
          </a:r>
          <a:endParaRPr lang="zh-CN" altLang="en-US" sz="1800" b="1" kern="1200" dirty="0"/>
        </a:p>
      </dsp:txBody>
      <dsp:txXfrm>
        <a:off x="2075123" y="3101602"/>
        <a:ext cx="1798217" cy="427532"/>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508000" y="169863"/>
            <a:ext cx="3378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US"/>
          </a:p>
        </p:txBody>
      </p:sp>
      <p:sp>
        <p:nvSpPr>
          <p:cNvPr id="14339" name="Rectangle 3"/>
          <p:cNvSpPr>
            <a:spLocks noGrp="1" noChangeArrowheads="1"/>
          </p:cNvSpPr>
          <p:nvPr>
            <p:ph type="dt" sz="quarter" idx="1"/>
          </p:nvPr>
        </p:nvSpPr>
        <p:spPr bwMode="auto">
          <a:xfrm>
            <a:off x="4191000" y="169863"/>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434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US"/>
          </a:p>
        </p:txBody>
      </p:sp>
      <p:sp>
        <p:nvSpPr>
          <p:cNvPr id="1434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fld id="{B8682F5A-9025-5143-B95A-464527BD45C7}" type="slidenum">
              <a:rPr lang="de-DE"/>
              <a:pPr/>
              <a:t>‹#›</a:t>
            </a:fld>
            <a:endParaRPr lang="de-DE"/>
          </a:p>
        </p:txBody>
      </p:sp>
    </p:spTree>
    <p:extLst>
      <p:ext uri="{BB962C8B-B14F-4D97-AF65-F5344CB8AC3E}">
        <p14:creationId xmlns:p14="http://schemas.microsoft.com/office/powerpoint/2010/main" val="4400069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fld id="{224B126A-EBFB-3945-B395-849A2AAB6EE9}" type="slidenum">
              <a:rPr lang="de-DE"/>
              <a:pPr/>
              <a:t>‹#›</a:t>
            </a:fld>
            <a:endParaRPr lang="de-DE"/>
          </a:p>
        </p:txBody>
      </p:sp>
    </p:spTree>
    <p:extLst>
      <p:ext uri="{BB962C8B-B14F-4D97-AF65-F5344CB8AC3E}">
        <p14:creationId xmlns:p14="http://schemas.microsoft.com/office/powerpoint/2010/main" val="34407213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ＭＳ Ｐゴシック" pitchFamily="-65" charset="-128"/>
        <a:cs typeface="ＭＳ Ｐゴシック" pitchFamily="18" charset="-128"/>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pitchFamily="-65" charset="-128"/>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pitchFamily="-65" charset="-128"/>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pitchFamily="-65" charset="-128"/>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ampus.tum.de/tumonline/pl/ui/$ctx;lang=DE/wbLv.wbShowLVDetail?pStpSpNr=950831859"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Hey everyone! I’m Tian Tian, your </a:t>
            </a:r>
            <a:r>
              <a:rPr lang="en-US" altLang="zh-CN" kern="0" dirty="0">
                <a:latin typeface="Arial" charset="0"/>
                <a:ea typeface="ＭＳ Ｐゴシック" charset="0"/>
                <a:cs typeface="ＭＳ Ｐゴシック" charset="0"/>
              </a:rPr>
              <a:t>Lecturer Assistant</a:t>
            </a:r>
            <a:r>
              <a:rPr lang="en-US" altLang="zh-CN" dirty="0"/>
              <a:t> for this class. Great to see you all here. Today we’re going to go through the topic of “</a:t>
            </a:r>
            <a:r>
              <a:rPr lang="en-US" altLang="zh-CN" sz="1200" dirty="0">
                <a:latin typeface="Arial" charset="0"/>
                <a:ea typeface="ＭＳ Ｐゴシック" charset="0"/>
                <a:cs typeface="ＭＳ Ｐゴシック" charset="0"/>
              </a:rPr>
              <a:t>Omics Data Analysis of Root-Microbe Interactions” </a:t>
            </a:r>
            <a:r>
              <a:rPr lang="en-US" altLang="zh-CN" dirty="0"/>
              <a:t> — As you all know, this is part of </a:t>
            </a:r>
            <a:r>
              <a:rPr lang="en-US" altLang="zh-CN" sz="1000" dirty="0"/>
              <a:t>course of </a:t>
            </a:r>
            <a:r>
              <a:rPr lang="en-US" altLang="zh-CN" sz="1000" b="1" dirty="0">
                <a:solidFill>
                  <a:schemeClr val="tx1"/>
                </a:solidFill>
                <a:latin typeface="+mn-lt"/>
                <a:ea typeface="ＭＳ Ｐゴシック" pitchFamily="-65" charset="-128"/>
              </a:rPr>
              <a:t>“</a:t>
            </a:r>
            <a:r>
              <a:rPr lang="en-US" altLang="zh-CN" sz="1200" b="1" i="0" u="none" strike="noStrike" dirty="0">
                <a:solidFill>
                  <a:srgbClr val="3070B3"/>
                </a:solidFill>
                <a:effectLst/>
                <a:latin typeface="Arial" panose="020B0604020202020204" pitchFamily="34" charset="0"/>
                <a:hlinkClick r:id="rId3" tooltip="Detail view of the course 'Genetics and Genomics of Root-Microbe Interactions'"/>
              </a:rPr>
              <a:t>Genetics and Genomics of Root-Microbe Interactions</a:t>
            </a:r>
            <a:r>
              <a:rPr lang="en-US" altLang="zh-CN" sz="1200" b="0" i="0" dirty="0">
                <a:solidFill>
                  <a:srgbClr val="000000"/>
                </a:solidFill>
                <a:effectLst/>
                <a:latin typeface="Arial" panose="020B0604020202020204" pitchFamily="34" charset="0"/>
              </a:rPr>
              <a:t> </a:t>
            </a:r>
            <a:r>
              <a:rPr lang="en-US" altLang="zh-CN" sz="1000" b="1" dirty="0">
                <a:solidFill>
                  <a:schemeClr val="tx1"/>
                </a:solidFill>
                <a:latin typeface="+mn-lt"/>
                <a:ea typeface="ＭＳ Ｐゴシック" pitchFamily="-65" charset="-128"/>
              </a:rPr>
              <a:t>”</a:t>
            </a:r>
            <a:r>
              <a:rPr lang="en-US" altLang="zh-CN" sz="1200" dirty="0"/>
              <a:t>led by</a:t>
            </a:r>
            <a:r>
              <a:rPr lang="en-US" altLang="zh-CN" sz="1000" b="1" dirty="0">
                <a:solidFill>
                  <a:schemeClr val="tx1"/>
                </a:solidFill>
                <a:latin typeface="+mn-lt"/>
                <a:ea typeface="ＭＳ Ｐゴシック" pitchFamily="-65" charset="-128"/>
              </a:rPr>
              <a:t> </a:t>
            </a:r>
            <a:r>
              <a:rPr lang="en-US" altLang="zh-CN" sz="1000" b="1" dirty="0" err="1">
                <a:solidFill>
                  <a:schemeClr val="tx1"/>
                </a:solidFill>
                <a:latin typeface="+mn-lt"/>
                <a:ea typeface="ＭＳ Ｐゴシック" pitchFamily="-65" charset="-128"/>
              </a:rPr>
              <a:t>Prof.Yu</a:t>
            </a:r>
            <a:r>
              <a:rPr lang="en-US" altLang="zh-CN" sz="1000" b="1" dirty="0">
                <a:solidFill>
                  <a:schemeClr val="tx1"/>
                </a:solidFill>
                <a:latin typeface="+mn-lt"/>
                <a:ea typeface="ＭＳ Ｐゴシック" pitchFamily="-65" charset="-128"/>
              </a:rPr>
              <a:t>. </a:t>
            </a:r>
            <a:r>
              <a:rPr lang="en-US" altLang="zh-CN" dirty="0"/>
              <a:t>I’ll try to keep it clear and to the point. Let’s get started!</a:t>
            </a:r>
          </a:p>
          <a:p>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1</a:t>
            </a:fld>
            <a:endParaRPr lang="de-DE"/>
          </a:p>
        </p:txBody>
      </p:sp>
    </p:spTree>
    <p:extLst>
      <p:ext uri="{BB962C8B-B14F-4D97-AF65-F5344CB8AC3E}">
        <p14:creationId xmlns:p14="http://schemas.microsoft.com/office/powerpoint/2010/main" val="1600156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C4043"/>
                </a:solidFill>
                <a:effectLst/>
                <a:latin typeface="Roboto" panose="02000000000000000000" pitchFamily="2" charset="0"/>
              </a:rPr>
              <a:t>This is the main content of the course</a:t>
            </a:r>
            <a:r>
              <a:rPr lang="zh-CN" altLang="en-US" b="0" i="0" dirty="0">
                <a:solidFill>
                  <a:srgbClr val="3C4043"/>
                </a:solidFill>
                <a:effectLst/>
                <a:latin typeface="Roboto" panose="02000000000000000000" pitchFamily="2" charset="0"/>
              </a:rPr>
              <a:t> </a:t>
            </a:r>
            <a:r>
              <a:rPr lang="en-US" altLang="zh-CN" b="0" i="0" dirty="0">
                <a:solidFill>
                  <a:srgbClr val="3C4043"/>
                </a:solidFill>
                <a:effectLst/>
                <a:latin typeface="Roboto" panose="02000000000000000000" pitchFamily="2" charset="0"/>
              </a:rPr>
              <a:t>in which </a:t>
            </a:r>
            <a:r>
              <a:rPr lang="en-US" altLang="zh-CN" dirty="0"/>
              <a:t>I am responsible for.</a:t>
            </a:r>
            <a:r>
              <a:rPr lang="en-US" altLang="zh-CN" b="0" i="0" dirty="0">
                <a:solidFill>
                  <a:srgbClr val="3C4043"/>
                </a:solidFill>
                <a:effectLst/>
                <a:latin typeface="Roboto" panose="02000000000000000000" pitchFamily="2" charset="0"/>
              </a:rPr>
              <a:t> The</a:t>
            </a:r>
            <a:r>
              <a:rPr lang="en-US" altLang="zh-CN" dirty="0"/>
              <a:t> content will be divided into four main parts corresponding to 4 lessons, focusing on a key area in plant-microbe interaction research, particularly in the context of omics data.</a:t>
            </a:r>
          </a:p>
          <a:p>
            <a:endParaRPr lang="en-US" altLang="zh-CN" dirty="0"/>
          </a:p>
          <a:p>
            <a:r>
              <a:rPr lang="en-US" altLang="zh-CN" b="1" dirty="0"/>
              <a:t>First</a:t>
            </a:r>
            <a:r>
              <a:rPr lang="en-US" altLang="zh-CN" dirty="0"/>
              <a:t>, we’ll start with </a:t>
            </a:r>
            <a:r>
              <a:rPr lang="en-US" altLang="zh-CN" b="1" dirty="0"/>
              <a:t>Omics Data in Root–Microbe Studies</a:t>
            </a:r>
            <a:r>
              <a:rPr lang="en-US" altLang="zh-CN" dirty="0"/>
              <a:t>. This will give us a broad overview of the types of high-throughput data that are commonly used to explore interactions between plant roots and microbes.</a:t>
            </a:r>
          </a:p>
          <a:p>
            <a:endParaRPr lang="en-US" altLang="zh-CN" dirty="0"/>
          </a:p>
          <a:p>
            <a:r>
              <a:rPr lang="en-US" altLang="zh-CN" b="1" dirty="0"/>
              <a:t>Next</a:t>
            </a:r>
            <a:r>
              <a:rPr lang="en-US" altLang="zh-CN" dirty="0"/>
              <a:t>, we’ll move on to </a:t>
            </a:r>
            <a:r>
              <a:rPr lang="en-US" altLang="zh-CN" b="1" dirty="0"/>
              <a:t>Key Statistical Metrics in Microbiome Analysis</a:t>
            </a:r>
            <a:r>
              <a:rPr lang="en-US" altLang="zh-CN" dirty="0"/>
              <a:t>. This section will introduce you to the main quantitative metrics used to assess microbial community structure, diversity, and similarity. Understanding these metrics is essential for interpreting microbiome data correctly.</a:t>
            </a:r>
          </a:p>
          <a:p>
            <a:endParaRPr lang="en-US" altLang="zh-CN" dirty="0"/>
          </a:p>
          <a:p>
            <a:r>
              <a:rPr lang="en-US" altLang="zh-CN" b="1" dirty="0"/>
              <a:t>After that</a:t>
            </a:r>
            <a:r>
              <a:rPr lang="en-US" altLang="zh-CN" dirty="0"/>
              <a:t>, we’ll look specifically at the </a:t>
            </a:r>
            <a:r>
              <a:rPr lang="en-US" altLang="zh-CN" b="1" dirty="0"/>
              <a:t>Root Transcriptome Data Analysis</a:t>
            </a:r>
            <a:r>
              <a:rPr lang="en-US" altLang="zh-CN" dirty="0"/>
              <a:t>. This part will focus on how we analyze gene expression in plant roots and what insights we can gain from transcriptome profiling in the context of microbe interactions.</a:t>
            </a:r>
          </a:p>
          <a:p>
            <a:endParaRPr lang="en-US" altLang="zh-CN" dirty="0"/>
          </a:p>
          <a:p>
            <a:r>
              <a:rPr lang="en-US" altLang="zh-CN" b="1" dirty="0"/>
              <a:t>Finally</a:t>
            </a:r>
            <a:r>
              <a:rPr lang="en-US" altLang="zh-CN" dirty="0"/>
              <a:t>, we’ll discuss </a:t>
            </a:r>
            <a:r>
              <a:rPr lang="en-US" altLang="zh-CN" b="1" dirty="0"/>
              <a:t>Gene Expression–Microbiome Co-regulation Networks</a:t>
            </a:r>
            <a:r>
              <a:rPr lang="en-US" altLang="zh-CN" dirty="0"/>
              <a:t>. Here, we’ll connect the dots between part II and III, link host gene expression and microbial community features, construction co-regulation networks and regulatory relationship. This is where systems biology really comes into play.</a:t>
            </a:r>
          </a:p>
          <a:p>
            <a:endParaRPr lang="en-US" altLang="zh-CN" dirty="0"/>
          </a:p>
          <a:p>
            <a:r>
              <a:rPr lang="en-US" altLang="zh-CN" dirty="0"/>
              <a:t>So with that overview in mind, let’s get started with the first section — </a:t>
            </a:r>
            <a:r>
              <a:rPr lang="en-US" altLang="zh-CN" i="1" dirty="0"/>
              <a:t>Omics Data in Root–Microbe Studies</a:t>
            </a:r>
            <a:r>
              <a:rPr lang="en-US" altLang="zh-CN" dirty="0"/>
              <a:t>.</a:t>
            </a:r>
          </a:p>
          <a:p>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2</a:t>
            </a:fld>
            <a:endParaRPr lang="de-DE"/>
          </a:p>
        </p:txBody>
      </p:sp>
    </p:spTree>
    <p:extLst>
      <p:ext uri="{BB962C8B-B14F-4D97-AF65-F5344CB8AC3E}">
        <p14:creationId xmlns:p14="http://schemas.microsoft.com/office/powerpoint/2010/main" val="535517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1" i="0" u="none" strike="noStrike" dirty="0">
                <a:solidFill>
                  <a:srgbClr val="000000"/>
                </a:solidFill>
                <a:effectLst/>
              </a:rPr>
              <a:t>"In microbiome research, especially in root–microbe interactions, we often use different types of omics data to study both the microbes and how the host plant responds to them. This slide shows four key types of sequencing technologies commonly used in these studies."</a:t>
            </a:r>
            <a:endParaRPr lang="en-US" altLang="zh-CN" b="0" i="0" u="none" strike="noStrike" dirty="0">
              <a:solidFill>
                <a:srgbClr val="000000"/>
              </a:solidFill>
              <a:effectLst/>
            </a:endParaRPr>
          </a:p>
          <a:p>
            <a:pPr algn="l">
              <a:buFont typeface="+mj-lt"/>
              <a:buAutoNum type="arabicPeriod"/>
            </a:pPr>
            <a:r>
              <a:rPr lang="en-US" altLang="zh-CN" b="1" i="0" u="none" strike="noStrike" dirty="0">
                <a:solidFill>
                  <a:srgbClr val="000000"/>
                </a:solidFill>
                <a:effectLst/>
              </a:rPr>
              <a:t>16S rRNA Gene Sequencing</a:t>
            </a:r>
            <a:br>
              <a:rPr lang="en-US" altLang="zh-CN" b="0" i="0" u="none" strike="noStrike" dirty="0">
                <a:solidFill>
                  <a:srgbClr val="000000"/>
                </a:solidFill>
                <a:effectLst/>
              </a:rPr>
            </a:br>
            <a:r>
              <a:rPr lang="en-US" altLang="zh-CN" b="0" i="1" u="none" strike="noStrike" dirty="0">
                <a:solidFill>
                  <a:srgbClr val="000000"/>
                </a:solidFill>
                <a:effectLst/>
              </a:rPr>
              <a:t>"This method is used to study bacterial and archaeal communities. It targets the 16S ribosomal RNA gene, which is highly conserved among bacteria but has variable regions that help identify different species. It’s a powerful tool for profiling bacterial diversity in root-associated microbiomes.”</a:t>
            </a:r>
          </a:p>
          <a:p>
            <a:pPr algn="l">
              <a:buFont typeface="+mj-lt"/>
              <a:buAutoNum type="arabicPeriod"/>
            </a:pPr>
            <a:endParaRPr lang="en-US" altLang="zh-CN" b="0" i="0" u="none" strike="noStrike" dirty="0">
              <a:solidFill>
                <a:srgbClr val="000000"/>
              </a:solidFill>
              <a:effectLst/>
            </a:endParaRPr>
          </a:p>
          <a:p>
            <a:pPr algn="l">
              <a:buFont typeface="+mj-lt"/>
              <a:buAutoNum type="arabicPeriod"/>
            </a:pPr>
            <a:r>
              <a:rPr lang="en-US" altLang="zh-CN" b="1" i="0" u="none" strike="noStrike" dirty="0">
                <a:solidFill>
                  <a:srgbClr val="000000"/>
                </a:solidFill>
                <a:effectLst/>
              </a:rPr>
              <a:t>ITS Sequencing (Internal Transcribed Spacer)</a:t>
            </a:r>
            <a:br>
              <a:rPr lang="en-US" altLang="zh-CN" b="0" i="0" u="none" strike="noStrike" dirty="0">
                <a:solidFill>
                  <a:srgbClr val="000000"/>
                </a:solidFill>
                <a:effectLst/>
              </a:rPr>
            </a:br>
            <a:r>
              <a:rPr lang="en-US" altLang="zh-CN" b="0" i="1" u="none" strike="noStrike" dirty="0">
                <a:solidFill>
                  <a:srgbClr val="000000"/>
                </a:solidFill>
                <a:effectLst/>
              </a:rPr>
              <a:t>"Similar to 16S, but this one is for fungi. The ITS region is a highly variable DNA sequence located between ribosomal RNA genes, and it's widely used for fungal community profiling. When we want to know what kinds of fungi are present in the root zone, we use ITS sequencing.”</a:t>
            </a:r>
          </a:p>
          <a:p>
            <a:pPr algn="l">
              <a:buFont typeface="+mj-lt"/>
              <a:buAutoNum type="arabicPeriod"/>
            </a:pPr>
            <a:endParaRPr lang="en-US" altLang="zh-CN" b="0" i="0" u="none" strike="noStrike" dirty="0">
              <a:solidFill>
                <a:srgbClr val="000000"/>
              </a:solidFill>
              <a:effectLst/>
            </a:endParaRPr>
          </a:p>
          <a:p>
            <a:pPr algn="l">
              <a:buFont typeface="+mj-lt"/>
              <a:buAutoNum type="arabicPeriod"/>
            </a:pPr>
            <a:r>
              <a:rPr lang="en-US" altLang="zh-CN" b="1" i="0" u="none" strike="noStrike" dirty="0">
                <a:solidFill>
                  <a:srgbClr val="000000"/>
                </a:solidFill>
                <a:effectLst/>
              </a:rPr>
              <a:t>Whole-Genome Sequencing</a:t>
            </a:r>
            <a:br>
              <a:rPr lang="en-US" altLang="zh-CN" b="0" i="0" u="none" strike="noStrike" dirty="0">
                <a:solidFill>
                  <a:srgbClr val="000000"/>
                </a:solidFill>
                <a:effectLst/>
              </a:rPr>
            </a:br>
            <a:r>
              <a:rPr lang="en-US" altLang="zh-CN" b="0" i="1" u="none" strike="noStrike" dirty="0">
                <a:solidFill>
                  <a:srgbClr val="000000"/>
                </a:solidFill>
                <a:effectLst/>
              </a:rPr>
              <a:t>"Instead of targeting a specific gene, this method sequences the entire genome of an organism. It provides comprehensive genetic information and is useful when we want to study the full genetic potential of a host.”</a:t>
            </a:r>
          </a:p>
          <a:p>
            <a:pPr algn="l">
              <a:buFont typeface="+mj-lt"/>
              <a:buAutoNum type="arabicPeriod"/>
            </a:pPr>
            <a:endParaRPr lang="en-US" altLang="zh-CN" b="0" i="0" u="none" strike="noStrike" dirty="0">
              <a:solidFill>
                <a:srgbClr val="000000"/>
              </a:solidFill>
              <a:effectLst/>
            </a:endParaRPr>
          </a:p>
          <a:p>
            <a:pPr algn="l">
              <a:buFont typeface="+mj-lt"/>
              <a:buAutoNum type="arabicPeriod"/>
            </a:pPr>
            <a:r>
              <a:rPr lang="en-US" altLang="zh-CN" b="1" i="0" u="none" strike="noStrike" dirty="0">
                <a:solidFill>
                  <a:srgbClr val="000000"/>
                </a:solidFill>
                <a:effectLst/>
              </a:rPr>
              <a:t>Transcriptome Sequencing (RNA-seq)</a:t>
            </a:r>
            <a:br>
              <a:rPr lang="en-US" altLang="zh-CN" b="0" i="0" u="none" strike="noStrike" dirty="0">
                <a:solidFill>
                  <a:srgbClr val="000000"/>
                </a:solidFill>
                <a:effectLst/>
              </a:rPr>
            </a:br>
            <a:r>
              <a:rPr lang="en-US" altLang="zh-CN" b="0" i="1" u="none" strike="noStrike" dirty="0">
                <a:solidFill>
                  <a:srgbClr val="000000"/>
                </a:solidFill>
                <a:effectLst/>
              </a:rPr>
              <a:t>“This method focuses on gene expression. It sequences the RNA transcripts in a sample, allowing us to understand which genes are being actively expressed. In root–microbe studies, it helps us learn how both the plant and the microbes respond to each other at the molecular level. Transcriptome are dynamic changed all the time, so for one plant you can do hundreds to thousands of RNA sequencing, with different tissues, different developmental stages or different treatments on what you focus. But the plant</a:t>
            </a:r>
            <a:r>
              <a:rPr lang="zh-CN" altLang="en-US" b="0" i="1" u="none" strike="noStrike" dirty="0">
                <a:solidFill>
                  <a:srgbClr val="000000"/>
                </a:solidFill>
                <a:effectLst/>
              </a:rPr>
              <a:t> </a:t>
            </a:r>
            <a:r>
              <a:rPr lang="en-US" altLang="zh-CN" b="0" i="1" u="none" strike="noStrike" dirty="0">
                <a:solidFill>
                  <a:srgbClr val="000000"/>
                </a:solidFill>
                <a:effectLst/>
              </a:rPr>
              <a:t>genome is stable with a low mutation rate that can  neglect.</a:t>
            </a:r>
            <a:endParaRPr lang="en-US" altLang="zh-CN" b="0" i="0" u="none" strike="noStrike" dirty="0">
              <a:solidFill>
                <a:srgbClr val="000000"/>
              </a:solidFill>
              <a:effectLst/>
            </a:endParaRPr>
          </a:p>
          <a:p>
            <a:endParaRPr kumimoji="1" lang="en-US" altLang="zh-CN" dirty="0"/>
          </a:p>
          <a:p>
            <a:r>
              <a:rPr lang="en-US" altLang="zh-CN" b="0" i="0" u="none" strike="noStrike" dirty="0">
                <a:solidFill>
                  <a:srgbClr val="000000"/>
                </a:solidFill>
                <a:effectLst/>
                <a:latin typeface="-webkit-standard"/>
              </a:rPr>
              <a:t>Then, one question, What types of data have you encountered or analyzed before?</a:t>
            </a:r>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4</a:t>
            </a:fld>
            <a:endParaRPr lang="de-DE"/>
          </a:p>
        </p:txBody>
      </p:sp>
    </p:spTree>
    <p:extLst>
      <p:ext uri="{BB962C8B-B14F-4D97-AF65-F5344CB8AC3E}">
        <p14:creationId xmlns:p14="http://schemas.microsoft.com/office/powerpoint/2010/main" val="3698574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u="none" strike="noStrike" dirty="0">
                <a:solidFill>
                  <a:srgbClr val="000000"/>
                </a:solidFill>
                <a:effectLst/>
              </a:rPr>
              <a:t>“Now let’s take a closer look at the bacterial genome. Bacteria have some unique genomic features that make them very different from eukaryotic organisms.</a:t>
            </a:r>
          </a:p>
          <a:p>
            <a:pPr algn="l"/>
            <a:endParaRPr lang="en-US" altLang="zh-CN" b="0" i="0" u="none" strike="noStrike" dirty="0">
              <a:solidFill>
                <a:srgbClr val="000000"/>
              </a:solidFill>
              <a:effectLst/>
            </a:endParaRPr>
          </a:p>
          <a:p>
            <a:pPr algn="l"/>
            <a:endParaRPr lang="en-US" altLang="zh-CN" b="0" i="0" u="none" strike="noStrike" dirty="0">
              <a:solidFill>
                <a:srgbClr val="000000"/>
              </a:solidFill>
              <a:effectLst/>
            </a:endParaRPr>
          </a:p>
          <a:p>
            <a:pPr algn="l"/>
            <a:r>
              <a:rPr lang="zh-CN" altLang="en-US" b="0" i="0" u="none" strike="noStrike" dirty="0">
                <a:solidFill>
                  <a:srgbClr val="000000"/>
                </a:solidFill>
                <a:effectLst/>
              </a:rPr>
              <a:t>🔹 </a:t>
            </a:r>
            <a:r>
              <a:rPr lang="en-US" altLang="zh-CN" b="1" i="0" u="none" strike="noStrike" dirty="0">
                <a:solidFill>
                  <a:srgbClr val="000000"/>
                </a:solidFill>
                <a:effectLst/>
              </a:rPr>
              <a:t>Structure</a:t>
            </a:r>
            <a:r>
              <a:rPr lang="en-US" altLang="zh-CN" b="0" i="0" u="none" strike="noStrike" dirty="0">
                <a:solidFill>
                  <a:srgbClr val="000000"/>
                </a:solidFill>
                <a:effectLst/>
              </a:rPr>
              <a:t>: Most bacterial genomes consist of a single, circular chromosome. The size can vary quite a bit — from as small as 0.5 Mb to as large as 10 Mb. In addition to the main chromosome, bacteria often carry extra genetic elements called </a:t>
            </a:r>
            <a:r>
              <a:rPr lang="en-US" altLang="zh-CN" b="1" i="0" u="none" strike="noStrike" dirty="0">
                <a:solidFill>
                  <a:srgbClr val="000000"/>
                </a:solidFill>
                <a:effectLst/>
              </a:rPr>
              <a:t>plasmids</a:t>
            </a:r>
            <a:r>
              <a:rPr lang="en-US" altLang="zh-CN" b="0" i="0" u="none" strike="noStrike" dirty="0">
                <a:solidFill>
                  <a:srgbClr val="000000"/>
                </a:solidFill>
                <a:effectLst/>
              </a:rPr>
              <a:t>. These are small, circular DNA molecules that can replicate independently and often carry genes related to antibiotic resistance or environmental adaptation.</a:t>
            </a:r>
          </a:p>
          <a:p>
            <a:pPr algn="l"/>
            <a:r>
              <a:rPr lang="zh-CN" altLang="en-US" b="0" i="0" u="none" strike="noStrike" dirty="0">
                <a:solidFill>
                  <a:srgbClr val="000000"/>
                </a:solidFill>
                <a:effectLst/>
              </a:rPr>
              <a:t>🔹 </a:t>
            </a:r>
            <a:r>
              <a:rPr lang="en-US" altLang="zh-CN" b="1" i="0" u="none" strike="noStrike" dirty="0">
                <a:solidFill>
                  <a:srgbClr val="000000"/>
                </a:solidFill>
                <a:effectLst/>
              </a:rPr>
              <a:t>Size</a:t>
            </a:r>
            <a:r>
              <a:rPr lang="en-US" altLang="zh-CN" b="0" i="0" u="none" strike="noStrike" dirty="0">
                <a:solidFill>
                  <a:srgbClr val="000000"/>
                </a:solidFill>
                <a:effectLst/>
              </a:rPr>
              <a:t>: As you can see in the diagram, the chromosome in this example is about 4.9 million base pairs long, with a GC content of 61%. Plasmids are smaller, ranging from ~280,000 to ~1 million base pairs, and they vary in GC content as well.</a:t>
            </a:r>
          </a:p>
          <a:p>
            <a:pPr algn="l"/>
            <a:r>
              <a:rPr lang="zh-CN" altLang="en-US" b="0" i="0" u="none" strike="noStrike" dirty="0">
                <a:solidFill>
                  <a:srgbClr val="000000"/>
                </a:solidFill>
                <a:effectLst/>
              </a:rPr>
              <a:t>🔹 </a:t>
            </a:r>
            <a:r>
              <a:rPr lang="en-US" altLang="zh-CN" b="1" i="0" u="none" strike="noStrike" dirty="0">
                <a:solidFill>
                  <a:srgbClr val="000000"/>
                </a:solidFill>
                <a:effectLst/>
              </a:rPr>
              <a:t>Assembly</a:t>
            </a:r>
            <a:r>
              <a:rPr lang="en-US" altLang="zh-CN" b="0" i="0" u="none" strike="noStrike" dirty="0">
                <a:solidFill>
                  <a:srgbClr val="000000"/>
                </a:solidFill>
                <a:effectLst/>
              </a:rPr>
              <a:t>: To reconstruct a bacterial genome like this, we need to do </a:t>
            </a:r>
            <a:r>
              <a:rPr lang="en-US" altLang="zh-CN" b="1" i="0" u="none" strike="noStrike" dirty="0">
                <a:solidFill>
                  <a:srgbClr val="000000"/>
                </a:solidFill>
                <a:effectLst/>
              </a:rPr>
              <a:t>strain-level sequencing</a:t>
            </a:r>
            <a:r>
              <a:rPr lang="en-US" altLang="zh-CN" b="0" i="0" u="none" strike="noStrike" dirty="0">
                <a:solidFill>
                  <a:srgbClr val="000000"/>
                </a:solidFill>
                <a:effectLst/>
              </a:rPr>
              <a:t>, which gives us enough resolution to assemble both the main chromosome and any plasmids. This requires good coverage and high-quality data.</a:t>
            </a:r>
          </a:p>
          <a:p>
            <a:pPr algn="l"/>
            <a:r>
              <a:rPr lang="zh-CN" altLang="en-US" b="0" i="0" u="none" strike="noStrike" dirty="0">
                <a:solidFill>
                  <a:srgbClr val="000000"/>
                </a:solidFill>
                <a:effectLst/>
              </a:rPr>
              <a:t>🔹 </a:t>
            </a:r>
            <a:r>
              <a:rPr lang="en-US" altLang="zh-CN" b="1" i="0" u="none" strike="noStrike" dirty="0">
                <a:solidFill>
                  <a:srgbClr val="000000"/>
                </a:solidFill>
                <a:effectLst/>
              </a:rPr>
              <a:t>Classification</a:t>
            </a:r>
            <a:r>
              <a:rPr lang="en-US" altLang="zh-CN" b="0" i="0" u="none" strike="noStrike" dirty="0">
                <a:solidFill>
                  <a:srgbClr val="000000"/>
                </a:solidFill>
                <a:effectLst/>
              </a:rPr>
              <a:t>: A key gene we use for bacterial classification is the </a:t>
            </a:r>
            <a:r>
              <a:rPr lang="en-US" altLang="zh-CN" b="1" i="0" u="none" strike="noStrike" dirty="0">
                <a:solidFill>
                  <a:srgbClr val="000000"/>
                </a:solidFill>
                <a:effectLst/>
              </a:rPr>
              <a:t>16S rRNA gene</a:t>
            </a:r>
            <a:r>
              <a:rPr lang="en-US" altLang="zh-CN" b="0" i="0" u="none" strike="noStrike" dirty="0">
                <a:solidFill>
                  <a:srgbClr val="000000"/>
                </a:solidFill>
                <a:effectLst/>
              </a:rPr>
              <a:t>. It’s present in all bacteria, evolves slowly, and includes conserved and variable regions that help us identify different taxa.</a:t>
            </a:r>
          </a:p>
          <a:p>
            <a:pPr algn="l"/>
            <a:r>
              <a:rPr lang="en-US" altLang="zh-CN" b="0" i="0" u="none" strike="noStrike" dirty="0">
                <a:solidFill>
                  <a:srgbClr val="000000"/>
                </a:solidFill>
                <a:effectLst/>
              </a:rPr>
              <a:t>You can also explore bacterial genome structures using the </a:t>
            </a:r>
            <a:r>
              <a:rPr lang="en-US" altLang="zh-CN" b="1" i="0" u="none" strike="noStrike" dirty="0" err="1">
                <a:solidFill>
                  <a:srgbClr val="000000"/>
                </a:solidFill>
                <a:effectLst/>
              </a:rPr>
              <a:t>MaGe</a:t>
            </a:r>
            <a:r>
              <a:rPr lang="en-US" altLang="zh-CN" b="1" i="0" u="none" strike="noStrike" dirty="0">
                <a:solidFill>
                  <a:srgbClr val="000000"/>
                </a:solidFill>
                <a:effectLst/>
              </a:rPr>
              <a:t> platform</a:t>
            </a:r>
            <a:r>
              <a:rPr lang="en-US" altLang="zh-CN" b="0" i="0" u="none" strike="noStrike" dirty="0">
                <a:solidFill>
                  <a:srgbClr val="000000"/>
                </a:solidFill>
                <a:effectLst/>
              </a:rPr>
              <a:t>, an online tool that provides annotated genome data for thousands of bacterial strains. The link is available at the bottom of the slide.”</a:t>
            </a:r>
          </a:p>
          <a:p>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5</a:t>
            </a:fld>
            <a:endParaRPr lang="de-DE"/>
          </a:p>
        </p:txBody>
      </p:sp>
    </p:spTree>
    <p:extLst>
      <p:ext uri="{BB962C8B-B14F-4D97-AF65-F5344CB8AC3E}">
        <p14:creationId xmlns:p14="http://schemas.microsoft.com/office/powerpoint/2010/main" val="3756729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u="none" strike="noStrike" dirty="0">
                <a:solidFill>
                  <a:srgbClr val="000000"/>
                </a:solidFill>
                <a:effectLst/>
              </a:rPr>
              <a:t>“Next, let’s zoom in on this very important gene in microbiome research — the </a:t>
            </a:r>
            <a:r>
              <a:rPr lang="en-US" altLang="zh-CN" b="1" i="0" u="none" strike="noStrike" dirty="0">
                <a:solidFill>
                  <a:srgbClr val="000000"/>
                </a:solidFill>
                <a:effectLst/>
              </a:rPr>
              <a:t>16S ribosomal RNA gene</a:t>
            </a:r>
            <a:r>
              <a:rPr lang="en-US" altLang="zh-CN" b="0" i="0" u="none" strike="noStrike" dirty="0">
                <a:solidFill>
                  <a:srgbClr val="000000"/>
                </a:solidFill>
                <a:effectLst/>
              </a:rPr>
              <a:t>.</a:t>
            </a:r>
          </a:p>
          <a:p>
            <a:pPr algn="l"/>
            <a:r>
              <a:rPr lang="zh-CN" altLang="en-US" b="0" i="0" u="none" strike="noStrike" dirty="0">
                <a:solidFill>
                  <a:srgbClr val="000000"/>
                </a:solidFill>
                <a:effectLst/>
              </a:rPr>
              <a:t>🔹 </a:t>
            </a:r>
            <a:r>
              <a:rPr lang="en-US" altLang="zh-CN" b="0" i="0" u="none" strike="noStrike" dirty="0">
                <a:solidFill>
                  <a:srgbClr val="000000"/>
                </a:solidFill>
                <a:effectLst/>
              </a:rPr>
              <a:t>This gene is </a:t>
            </a:r>
            <a:r>
              <a:rPr lang="en-US" altLang="zh-CN" b="1" i="0" u="none" strike="noStrike" dirty="0">
                <a:solidFill>
                  <a:srgbClr val="000000"/>
                </a:solidFill>
                <a:effectLst/>
              </a:rPr>
              <a:t>highly conserved</a:t>
            </a:r>
            <a:r>
              <a:rPr lang="en-US" altLang="zh-CN" b="0" i="0" u="none" strike="noStrike" dirty="0">
                <a:solidFill>
                  <a:srgbClr val="000000"/>
                </a:solidFill>
                <a:effectLst/>
              </a:rPr>
              <a:t> across all bacterial species, meaning most of its sequence stays the same across different bacteria. This makes it an excellent marker for detecting bacteria in environmental or clinical samples.</a:t>
            </a:r>
          </a:p>
          <a:p>
            <a:pPr algn="l"/>
            <a:r>
              <a:rPr lang="zh-CN" altLang="en-US" b="0" i="0" u="none" strike="noStrike" dirty="0">
                <a:solidFill>
                  <a:srgbClr val="000000"/>
                </a:solidFill>
                <a:effectLst/>
              </a:rPr>
              <a:t>🔹 </a:t>
            </a:r>
            <a:r>
              <a:rPr lang="en-US" altLang="zh-CN" b="0" i="0" u="none" strike="noStrike" dirty="0">
                <a:solidFill>
                  <a:srgbClr val="000000"/>
                </a:solidFill>
                <a:effectLst/>
              </a:rPr>
              <a:t>However, within the 16S gene, there are also </a:t>
            </a:r>
            <a:r>
              <a:rPr lang="en-US" altLang="zh-CN" b="1" i="0" u="none" strike="noStrike" dirty="0">
                <a:solidFill>
                  <a:srgbClr val="000000"/>
                </a:solidFill>
                <a:effectLst/>
              </a:rPr>
              <a:t>variable regions</a:t>
            </a:r>
            <a:r>
              <a:rPr lang="en-US" altLang="zh-CN" b="0" i="0" u="none" strike="noStrike" dirty="0">
                <a:solidFill>
                  <a:srgbClr val="000000"/>
                </a:solidFill>
                <a:effectLst/>
              </a:rPr>
              <a:t> — shown here as V1 to V9. These regions differ between species, allowing us to tell different bacteria apart.</a:t>
            </a:r>
          </a:p>
          <a:p>
            <a:pPr algn="l"/>
            <a:r>
              <a:rPr lang="zh-CN" altLang="en-US" b="0" i="0" u="none" strike="noStrike" dirty="0">
                <a:solidFill>
                  <a:srgbClr val="000000"/>
                </a:solidFill>
                <a:effectLst/>
              </a:rPr>
              <a:t>🔹 </a:t>
            </a:r>
            <a:r>
              <a:rPr lang="en-US" altLang="zh-CN" b="0" i="0" u="none" strike="noStrike" dirty="0">
                <a:solidFill>
                  <a:srgbClr val="000000"/>
                </a:solidFill>
                <a:effectLst/>
              </a:rPr>
              <a:t>The entire gene is about </a:t>
            </a:r>
            <a:r>
              <a:rPr lang="en-US" altLang="zh-CN" b="1" i="0" u="none" strike="noStrike" dirty="0">
                <a:solidFill>
                  <a:srgbClr val="000000"/>
                </a:solidFill>
                <a:effectLst/>
              </a:rPr>
              <a:t>1,500 base pairs long</a:t>
            </a:r>
            <a:r>
              <a:rPr lang="en-US" altLang="zh-CN" b="0" i="0" u="none" strike="noStrike" dirty="0">
                <a:solidFill>
                  <a:srgbClr val="000000"/>
                </a:solidFill>
                <a:effectLst/>
              </a:rPr>
              <a:t>, and those </a:t>
            </a:r>
            <a:r>
              <a:rPr lang="en-US" altLang="zh-CN" b="1" i="0" u="none" strike="noStrike" dirty="0">
                <a:solidFill>
                  <a:srgbClr val="000000"/>
                </a:solidFill>
                <a:effectLst/>
              </a:rPr>
              <a:t>9 hypervariable regions</a:t>
            </a:r>
            <a:r>
              <a:rPr lang="en-US" altLang="zh-CN" b="0" i="0" u="none" strike="noStrike" dirty="0">
                <a:solidFill>
                  <a:srgbClr val="000000"/>
                </a:solidFill>
                <a:effectLst/>
              </a:rPr>
              <a:t> are where most of the species-specific differences lie. In this diagram, you can see commonly used primer pairs, such as </a:t>
            </a:r>
            <a:r>
              <a:rPr lang="en-US" altLang="zh-CN" b="1" i="0" u="none" strike="noStrike" dirty="0">
                <a:solidFill>
                  <a:srgbClr val="000000"/>
                </a:solidFill>
                <a:effectLst/>
              </a:rPr>
              <a:t>27F, 530F, 907R</a:t>
            </a:r>
            <a:r>
              <a:rPr lang="en-US" altLang="zh-CN" b="0" i="0" u="none" strike="noStrike" dirty="0">
                <a:solidFill>
                  <a:srgbClr val="000000"/>
                </a:solidFill>
                <a:effectLst/>
              </a:rPr>
              <a:t>, which are used to amplify specific variable regions for sequencing.</a:t>
            </a:r>
          </a:p>
          <a:p>
            <a:pPr algn="l"/>
            <a:r>
              <a:rPr lang="zh-CN" altLang="en-US" b="0" i="0" u="none" strike="noStrike" dirty="0">
                <a:solidFill>
                  <a:srgbClr val="000000"/>
                </a:solidFill>
                <a:effectLst/>
              </a:rPr>
              <a:t>🔹 </a:t>
            </a:r>
            <a:r>
              <a:rPr lang="en-US" altLang="zh-CN" b="0" i="0" u="none" strike="noStrike" dirty="0">
                <a:solidFill>
                  <a:srgbClr val="000000"/>
                </a:solidFill>
                <a:effectLst/>
              </a:rPr>
              <a:t>Another reason we use this gene is because it has a </a:t>
            </a:r>
            <a:r>
              <a:rPr lang="en-US" altLang="zh-CN" b="1" i="0" u="none" strike="noStrike" dirty="0">
                <a:solidFill>
                  <a:srgbClr val="000000"/>
                </a:solidFill>
                <a:effectLst/>
              </a:rPr>
              <a:t>slow evolutionary rate</a:t>
            </a:r>
            <a:r>
              <a:rPr lang="en-US" altLang="zh-CN" b="0" i="0" u="none" strike="noStrike" dirty="0">
                <a:solidFill>
                  <a:srgbClr val="000000"/>
                </a:solidFill>
                <a:effectLst/>
              </a:rPr>
              <a:t>. That makes it stable and reliable for constructing bacterial phylogenies and doing taxonomic classification.</a:t>
            </a:r>
          </a:p>
          <a:p>
            <a:pPr algn="l"/>
            <a:r>
              <a:rPr lang="en-US" altLang="zh-CN" b="0" i="0" u="none" strike="noStrike" dirty="0">
                <a:solidFill>
                  <a:srgbClr val="000000"/>
                </a:solidFill>
                <a:effectLst/>
              </a:rPr>
              <a:t>So in summary, 16S rRNA sequencing is like using a molecular ‘barcode’ to identify and classify bacteria in your samples — a cornerstone method in microbiome studies.”</a:t>
            </a:r>
          </a:p>
          <a:p>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6</a:t>
            </a:fld>
            <a:endParaRPr lang="de-DE"/>
          </a:p>
        </p:txBody>
      </p:sp>
    </p:spTree>
    <p:extLst>
      <p:ext uri="{BB962C8B-B14F-4D97-AF65-F5344CB8AC3E}">
        <p14:creationId xmlns:p14="http://schemas.microsoft.com/office/powerpoint/2010/main" val="4058097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1F1F"/>
                </a:solidFill>
                <a:effectLst/>
                <a:latin typeface="ElsevierGulliver"/>
              </a:rPr>
              <a:t>This is a overview of the 16S </a:t>
            </a:r>
            <a:r>
              <a:rPr lang="en-US" b="0" i="0" dirty="0" err="1">
                <a:solidFill>
                  <a:srgbClr val="1F1F1F"/>
                </a:solidFill>
                <a:effectLst/>
                <a:latin typeface="ElsevierGulliver"/>
              </a:rPr>
              <a:t>rNRA</a:t>
            </a:r>
            <a:r>
              <a:rPr lang="en-US" b="0" i="0" dirty="0">
                <a:solidFill>
                  <a:srgbClr val="1F1F1F"/>
                </a:solidFill>
                <a:effectLst/>
                <a:latin typeface="ElsevierGulliver"/>
              </a:rPr>
              <a:t> gene amplicon sequencing analysis strategies. DNAs from different sample types with increasing complexity (i.e., 3 mock communities and 33 human stool samples) were extracted. Amplicons were generated using different primer pairs targeting different V-regions and sequenced on an Illumina </a:t>
            </a:r>
            <a:r>
              <a:rPr lang="en-US" b="0" i="0" dirty="0" err="1">
                <a:solidFill>
                  <a:srgbClr val="1F1F1F"/>
                </a:solidFill>
                <a:effectLst/>
                <a:latin typeface="ElsevierGulliver"/>
              </a:rPr>
              <a:t>MiSeq</a:t>
            </a:r>
            <a:r>
              <a:rPr lang="en-US" b="0" i="0" dirty="0">
                <a:solidFill>
                  <a:srgbClr val="1F1F1F"/>
                </a:solidFill>
                <a:effectLst/>
                <a:latin typeface="ElsevierGulliver"/>
              </a:rPr>
              <a:t>. Afterwards, the impacts of different clustering approaches and reference databases on the microbial profiles were investigated. OTU and ASV are the most popular cluster that used in microbiome studies.  </a:t>
            </a:r>
            <a:endParaRPr lang="de-DE" dirty="0"/>
          </a:p>
        </p:txBody>
      </p:sp>
      <p:sp>
        <p:nvSpPr>
          <p:cNvPr id="4" name="Slide Number Placeholder 3"/>
          <p:cNvSpPr>
            <a:spLocks noGrp="1"/>
          </p:cNvSpPr>
          <p:nvPr>
            <p:ph type="sldNum" sz="quarter" idx="5"/>
          </p:nvPr>
        </p:nvSpPr>
        <p:spPr/>
        <p:txBody>
          <a:bodyPr/>
          <a:lstStyle/>
          <a:p>
            <a:fld id="{224B126A-EBFB-3945-B395-849A2AAB6EE9}" type="slidenum">
              <a:rPr lang="de-DE" smtClean="0"/>
              <a:pPr/>
              <a:t>7</a:t>
            </a:fld>
            <a:endParaRPr lang="de-DE"/>
          </a:p>
        </p:txBody>
      </p:sp>
    </p:spTree>
    <p:extLst>
      <p:ext uri="{BB962C8B-B14F-4D97-AF65-F5344CB8AC3E}">
        <p14:creationId xmlns:p14="http://schemas.microsoft.com/office/powerpoint/2010/main" val="2631362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404040"/>
                </a:solidFill>
                <a:effectLst/>
                <a:latin typeface="DeepSeek-CJK-patch"/>
              </a:rPr>
              <a:t>16S rRNA sequencing is a powerful tool for studying microbial communities. There are the key steps of the analysis pipeline.</a:t>
            </a:r>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8</a:t>
            </a:fld>
            <a:endParaRPr lang="de-DE"/>
          </a:p>
        </p:txBody>
      </p:sp>
    </p:spTree>
    <p:extLst>
      <p:ext uri="{BB962C8B-B14F-4D97-AF65-F5344CB8AC3E}">
        <p14:creationId xmlns:p14="http://schemas.microsoft.com/office/powerpoint/2010/main" val="2896198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https://</a:t>
            </a:r>
          </a:p>
          <a:p>
            <a:r>
              <a:rPr lang="de-DE" dirty="0"/>
              <a:t>https://download.maizegdb.org/Genomes/B73/Zm-B73-REFERENCE-NAM-5.0/Zm-B73-REFERENCE-NAM-5.0.fa.gzdownload.maizegdb.org/Genomes/B73/Zm-B73-REFERENCE-NAM-5.0/Zm-B73-REFERENCE-NAM-5.0_Zm00001eb.1.gff3.gz</a:t>
            </a:r>
          </a:p>
        </p:txBody>
      </p:sp>
      <p:sp>
        <p:nvSpPr>
          <p:cNvPr id="4" name="Slide Number Placeholder 3"/>
          <p:cNvSpPr>
            <a:spLocks noGrp="1"/>
          </p:cNvSpPr>
          <p:nvPr>
            <p:ph type="sldNum" sz="quarter" idx="5"/>
          </p:nvPr>
        </p:nvSpPr>
        <p:spPr/>
        <p:txBody>
          <a:bodyPr/>
          <a:lstStyle/>
          <a:p>
            <a:fld id="{224B126A-EBFB-3945-B395-849A2AAB6EE9}" type="slidenum">
              <a:rPr lang="de-DE" smtClean="0"/>
              <a:pPr/>
              <a:t>11</a:t>
            </a:fld>
            <a:endParaRPr lang="de-DE"/>
          </a:p>
        </p:txBody>
      </p:sp>
    </p:spTree>
    <p:extLst>
      <p:ext uri="{BB962C8B-B14F-4D97-AF65-F5344CB8AC3E}">
        <p14:creationId xmlns:p14="http://schemas.microsoft.com/office/powerpoint/2010/main" val="2327362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Hello everyone, welcome to our second class with the topic of “</a:t>
            </a:r>
            <a:r>
              <a:rPr lang="en-US" altLang="zh-CN" dirty="0">
                <a:latin typeface="Arial" charset="0"/>
                <a:ea typeface="ＭＳ Ｐゴシック" charset="0"/>
                <a:cs typeface="ＭＳ Ｐゴシック" charset="0"/>
              </a:rPr>
              <a:t>Key Statistical Metrics in Microbiome Analysis</a:t>
            </a:r>
            <a:r>
              <a:rPr kumimoji="1" lang="en-US" altLang="zh-CN" dirty="0"/>
              <a:t>”.</a:t>
            </a:r>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13</a:t>
            </a:fld>
            <a:endParaRPr lang="de-DE"/>
          </a:p>
        </p:txBody>
      </p:sp>
    </p:spTree>
    <p:extLst>
      <p:ext uri="{BB962C8B-B14F-4D97-AF65-F5344CB8AC3E}">
        <p14:creationId xmlns:p14="http://schemas.microsoft.com/office/powerpoint/2010/main" val="66360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t>Alpha diversity</a:t>
            </a:r>
            <a:r>
              <a:rPr lang="zh-CN" altLang="en-US" b="1" dirty="0"/>
              <a:t> </a:t>
            </a:r>
            <a:r>
              <a:rPr lang="en-US" altLang="zh-CN" b="1" dirty="0"/>
              <a:t>is within sample diversity. It can quantify the species diversity and evenness. There are </a:t>
            </a:r>
            <a:r>
              <a:rPr lang="en-US" altLang="zh-CN" b="1" dirty="0" err="1"/>
              <a:t>multipule</a:t>
            </a:r>
            <a:r>
              <a:rPr lang="en-US" altLang="zh-CN" b="1" dirty="0"/>
              <a:t> of index that can be used to evaluate the diversity of one sample. </a:t>
            </a:r>
            <a:r>
              <a:rPr lang="en-US" altLang="zh-CN" sz="1200" u="none" strike="noStrike" dirty="0">
                <a:effectLst/>
              </a:rPr>
              <a:t>Shannon Index</a:t>
            </a:r>
            <a:endParaRPr lang="en-US" altLang="zh-CN" sz="1200" b="0" i="0" u="none" strike="noStrike" dirty="0">
              <a:solidFill>
                <a:srgbClr val="000000"/>
              </a:solidFill>
              <a:effectLst/>
              <a:latin typeface="等线" panose="02010600030101010101" pitchFamily="2" charset="-122"/>
              <a:ea typeface="等线" panose="02010600030101010101" pitchFamily="2" charset="-122"/>
            </a:endParaRPr>
          </a:p>
          <a:p>
            <a:r>
              <a:rPr kumimoji="1" lang="en-US" altLang="zh-CN" dirty="0"/>
              <a:t>is commonly used with higher values indicate greater diversity.</a:t>
            </a:r>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15</a:t>
            </a:fld>
            <a:endParaRPr lang="de-DE"/>
          </a:p>
        </p:txBody>
      </p:sp>
    </p:spTree>
    <p:extLst>
      <p:ext uri="{BB962C8B-B14F-4D97-AF65-F5344CB8AC3E}">
        <p14:creationId xmlns:p14="http://schemas.microsoft.com/office/powerpoint/2010/main" val="716863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Rarefaction analysis is used to evaluate alpha diversity across varying sequencing depths</a:t>
            </a:r>
            <a:r>
              <a:rPr lang="zh-CN" altLang="en-US" dirty="0"/>
              <a:t> </a:t>
            </a:r>
            <a:r>
              <a:rPr lang="en-US" altLang="zh-CN" dirty="0"/>
              <a:t>/</a:t>
            </a:r>
            <a:r>
              <a:rPr lang="zh-CN" altLang="en-US" dirty="0"/>
              <a:t> </a:t>
            </a:r>
            <a:r>
              <a:rPr lang="en-US" altLang="zh-CN" dirty="0"/>
              <a:t>read counts.</a:t>
            </a:r>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16</a:t>
            </a:fld>
            <a:endParaRPr lang="de-DE"/>
          </a:p>
        </p:txBody>
      </p:sp>
    </p:spTree>
    <p:extLst>
      <p:ext uri="{BB962C8B-B14F-4D97-AF65-F5344CB8AC3E}">
        <p14:creationId xmlns:p14="http://schemas.microsoft.com/office/powerpoint/2010/main" val="2843834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Roboto" panose="02000000000000000000" pitchFamily="2" charset="0"/>
              </a:rPr>
              <a:t>Beta diversity is between sample diversity. </a:t>
            </a:r>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17</a:t>
            </a:fld>
            <a:endParaRPr lang="de-DE"/>
          </a:p>
        </p:txBody>
      </p:sp>
    </p:spTree>
    <p:extLst>
      <p:ext uri="{BB962C8B-B14F-4D97-AF65-F5344CB8AC3E}">
        <p14:creationId xmlns:p14="http://schemas.microsoft.com/office/powerpoint/2010/main" val="3661347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a:t>
            </a:r>
            <a:r>
              <a:rPr kumimoji="1" lang="zh-CN" altLang="en-US" dirty="0"/>
              <a:t> </a:t>
            </a:r>
            <a:r>
              <a:rPr kumimoji="1" lang="en-US" altLang="zh-CN" dirty="0"/>
              <a:t>silva database is a comprehensive on-line resource for quality checked and aligned ribosomal RNA sequence data.</a:t>
            </a:r>
            <a:r>
              <a:rPr kumimoji="1" lang="zh-CN" altLang="en-US" dirty="0"/>
              <a:t> </a:t>
            </a:r>
            <a:r>
              <a:rPr kumimoji="1" lang="en-US" altLang="zh-CN" dirty="0"/>
              <a:t>After reads alignment, </a:t>
            </a:r>
            <a:r>
              <a:rPr lang="en-US" altLang="zh-CN" dirty="0"/>
              <a:t>The SILVA microbial database can be used to align OTU or ASV representative sequences for taxonomic classification at different levels, such as phylum, class, </a:t>
            </a:r>
            <a:r>
              <a:rPr lang="en-US" altLang="zh-CN"/>
              <a:t>order, genus</a:t>
            </a:r>
            <a:r>
              <a:rPr lang="en-US" altLang="zh-CN" dirty="0"/>
              <a:t>, and species.</a:t>
            </a:r>
            <a:endParaRPr kumimoji="1" lang="zh-CN" altLang="en-US" dirty="0"/>
          </a:p>
        </p:txBody>
      </p:sp>
      <p:sp>
        <p:nvSpPr>
          <p:cNvPr id="4" name="灯片编号占位符 3"/>
          <p:cNvSpPr>
            <a:spLocks noGrp="1"/>
          </p:cNvSpPr>
          <p:nvPr>
            <p:ph type="sldNum" sz="quarter" idx="5"/>
          </p:nvPr>
        </p:nvSpPr>
        <p:spPr/>
        <p:txBody>
          <a:bodyPr/>
          <a:lstStyle/>
          <a:p>
            <a:fld id="{224B126A-EBFB-3945-B395-849A2AAB6EE9}" type="slidenum">
              <a:rPr lang="de-DE" smtClean="0"/>
              <a:pPr/>
              <a:t>18</a:t>
            </a:fld>
            <a:endParaRPr lang="de-DE"/>
          </a:p>
        </p:txBody>
      </p:sp>
    </p:spTree>
    <p:extLst>
      <p:ext uri="{BB962C8B-B14F-4D97-AF65-F5344CB8AC3E}">
        <p14:creationId xmlns:p14="http://schemas.microsoft.com/office/powerpoint/2010/main" val="2713220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Harding"/>
              </a:rPr>
              <a:t>Briefly, long RNAs are first converted into a library of cDNA fragments through either RNA fragmentation or DNA fragmentation (see main text). Sequencing adaptors (blue) are subsequently added to each cDNA fragment and a short sequence is obtained from each cDNA using high-throughput sequencing technology. The resulting sequence reads are aligned with the reference genome or transcriptome, and classified as three types: </a:t>
            </a:r>
            <a:r>
              <a:rPr lang="en-US" b="0" i="0" dirty="0" err="1">
                <a:solidFill>
                  <a:srgbClr val="222222"/>
                </a:solidFill>
                <a:effectLst/>
                <a:latin typeface="Harding"/>
              </a:rPr>
              <a:t>exonic</a:t>
            </a:r>
            <a:r>
              <a:rPr lang="en-US" b="0" i="0" dirty="0">
                <a:solidFill>
                  <a:srgbClr val="222222"/>
                </a:solidFill>
                <a:effectLst/>
                <a:latin typeface="Harding"/>
              </a:rPr>
              <a:t> reads, junction reads and poly(A) end-reads. These three types are used to generate a base-resolution expression profile for each gene, as illustrated at the bottom; a yeast ORF with one intron is shown.</a:t>
            </a:r>
            <a:endParaRPr lang="de-DE" dirty="0"/>
          </a:p>
        </p:txBody>
      </p:sp>
      <p:sp>
        <p:nvSpPr>
          <p:cNvPr id="4" name="Slide Number Placeholder 3"/>
          <p:cNvSpPr>
            <a:spLocks noGrp="1"/>
          </p:cNvSpPr>
          <p:nvPr>
            <p:ph type="sldNum" sz="quarter" idx="5"/>
          </p:nvPr>
        </p:nvSpPr>
        <p:spPr/>
        <p:txBody>
          <a:bodyPr/>
          <a:lstStyle/>
          <a:p>
            <a:fld id="{224B126A-EBFB-3945-B395-849A2AAB6EE9}" type="slidenum">
              <a:rPr lang="de-DE" smtClean="0"/>
              <a:pPr/>
              <a:t>25</a:t>
            </a:fld>
            <a:endParaRPr lang="de-DE"/>
          </a:p>
        </p:txBody>
      </p:sp>
    </p:spTree>
    <p:extLst>
      <p:ext uri="{BB962C8B-B14F-4D97-AF65-F5344CB8AC3E}">
        <p14:creationId xmlns:p14="http://schemas.microsoft.com/office/powerpoint/2010/main" val="28014751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11267" name="Rectangle 3"/>
          <p:cNvSpPr>
            <a:spLocks noGrp="1" noChangeArrowheads="1"/>
          </p:cNvSpPr>
          <p:nvPr>
            <p:ph type="ctrTitle"/>
          </p:nvPr>
        </p:nvSpPr>
        <p:spPr>
          <a:xfrm>
            <a:off x="532992" y="2133600"/>
            <a:ext cx="8128000" cy="1295400"/>
          </a:xfrm>
        </p:spPr>
        <p:txBody>
          <a:bodyPr/>
          <a:lstStyle>
            <a:lvl1pPr algn="ctr">
              <a:defRPr sz="3200" b="0">
                <a:solidFill>
                  <a:schemeClr val="bg2"/>
                </a:solidFill>
              </a:defRPr>
            </a:lvl1p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sp>
        <p:nvSpPr>
          <p:cNvPr id="11268" name="Rectangle 4"/>
          <p:cNvSpPr>
            <a:spLocks noGrp="1" noChangeArrowheads="1"/>
          </p:cNvSpPr>
          <p:nvPr>
            <p:ph type="subTitle" idx="1"/>
          </p:nvPr>
        </p:nvSpPr>
        <p:spPr>
          <a:xfrm>
            <a:off x="532992" y="4103585"/>
            <a:ext cx="8128000" cy="1752600"/>
          </a:xfrm>
        </p:spPr>
        <p:txBody>
          <a:bodyPr/>
          <a:lstStyle>
            <a:lvl1pPr marL="0" indent="0" algn="ctr">
              <a:buFontTx/>
              <a:buNone/>
              <a:defRPr sz="2400"/>
            </a:lvl1pPr>
          </a:lstStyle>
          <a:p>
            <a:r>
              <a:rPr lang="en-US" noProof="0" dirty="0" err="1"/>
              <a:t>Formatvorlage</a:t>
            </a:r>
            <a:r>
              <a:rPr lang="en-US" noProof="0" dirty="0"/>
              <a:t> des </a:t>
            </a:r>
            <a:r>
              <a:rPr lang="en-US" noProof="0" dirty="0" err="1"/>
              <a:t>Untertitelmasters</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pic>
        <p:nvPicPr>
          <p:cNvPr id="12" name="Picture 29" descr="U:\Logos und Grafiken\TUMLogo_oZ_Vollfl_blau_RGB.png"/>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34920" y="423276"/>
            <a:ext cx="1026072" cy="5416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1107FF8-FE93-339B-ADD3-DACB9A8E8451}"/>
              </a:ext>
            </a:extLst>
          </p:cNvPr>
          <p:cNvSpPr txBox="1"/>
          <p:nvPr userDrawn="1"/>
        </p:nvSpPr>
        <p:spPr>
          <a:xfrm>
            <a:off x="138702" y="507730"/>
            <a:ext cx="2395271" cy="523220"/>
          </a:xfrm>
          <a:prstGeom prst="rect">
            <a:avLst/>
          </a:prstGeom>
          <a:noFill/>
        </p:spPr>
        <p:txBody>
          <a:bodyPr wrap="none" rtlCol="0">
            <a:spAutoFit/>
          </a:bodyPr>
          <a:lstStyle/>
          <a:p>
            <a:r>
              <a:rPr lang="de-DE" sz="1400" dirty="0">
                <a:solidFill>
                  <a:srgbClr val="0065BD"/>
                </a:solidFill>
              </a:rPr>
              <a:t>TUM School </a:t>
            </a:r>
            <a:r>
              <a:rPr lang="de-DE" sz="1400" dirty="0" err="1">
                <a:solidFill>
                  <a:srgbClr val="0065BD"/>
                </a:solidFill>
              </a:rPr>
              <a:t>of</a:t>
            </a:r>
            <a:r>
              <a:rPr lang="de-DE" sz="1400" dirty="0">
                <a:solidFill>
                  <a:srgbClr val="0065BD"/>
                </a:solidFill>
              </a:rPr>
              <a:t> Life Science</a:t>
            </a:r>
          </a:p>
          <a:p>
            <a:r>
              <a:rPr lang="de-DE" sz="1400" dirty="0">
                <a:solidFill>
                  <a:srgbClr val="0065BD"/>
                </a:solidFill>
              </a:rPr>
              <a:t>Working </a:t>
            </a:r>
            <a:r>
              <a:rPr lang="de-DE" sz="1400" dirty="0" err="1">
                <a:solidFill>
                  <a:srgbClr val="0065BD"/>
                </a:solidFill>
              </a:rPr>
              <a:t>for</a:t>
            </a:r>
            <a:r>
              <a:rPr lang="de-DE" sz="1400" dirty="0">
                <a:solidFill>
                  <a:srgbClr val="0065BD"/>
                </a:solidFill>
              </a:rPr>
              <a:t> </a:t>
            </a:r>
            <a:r>
              <a:rPr lang="de-DE" sz="1400" dirty="0" err="1">
                <a:solidFill>
                  <a:srgbClr val="0065BD"/>
                </a:solidFill>
              </a:rPr>
              <a:t>One</a:t>
            </a:r>
            <a:r>
              <a:rPr lang="de-DE" sz="1400" dirty="0">
                <a:solidFill>
                  <a:srgbClr val="0065BD"/>
                </a:solidFill>
              </a:rPr>
              <a:t> Heath</a:t>
            </a:r>
          </a:p>
        </p:txBody>
      </p:sp>
      <p:sp>
        <p:nvSpPr>
          <p:cNvPr id="11" name="Rectangle 6">
            <a:extLst>
              <a:ext uri="{FF2B5EF4-FFF2-40B4-BE49-F238E27FC236}">
                <a16:creationId xmlns:a16="http://schemas.microsoft.com/office/drawing/2014/main" id="{45DB1F68-419F-FE10-C8E9-D80C36E5A4AE}"/>
              </a:ext>
            </a:extLst>
          </p:cNvPr>
          <p:cNvSpPr txBox="1">
            <a:spLocks noChangeArrowheads="1"/>
          </p:cNvSpPr>
          <p:nvPr userDrawn="1"/>
        </p:nvSpPr>
        <p:spPr bwMode="auto">
          <a:xfrm>
            <a:off x="508000" y="6400800"/>
            <a:ext cx="8153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de-DE"/>
            </a:defPPr>
            <a:lvl1pPr algn="ctr" rtl="0" eaLnBrk="0" fontAlgn="base" hangingPunct="0">
              <a:spcBef>
                <a:spcPct val="0"/>
              </a:spcBef>
              <a:spcAft>
                <a:spcPct val="0"/>
              </a:spcAft>
              <a:defRPr sz="1100" b="0" kern="1200">
                <a:solidFill>
                  <a:srgbClr val="0065BD"/>
                </a:solidFill>
                <a:latin typeface="Arial" charset="0"/>
                <a:ea typeface="ＭＳ Ｐゴシック" charset="0"/>
                <a:cs typeface="ＭＳ Ｐゴシック" charset="0"/>
              </a:defRPr>
            </a:lvl1pPr>
            <a:lvl2pPr marL="4572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2pPr>
            <a:lvl3pPr marL="9144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3pPr>
            <a:lvl4pPr marL="13716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4pPr>
            <a:lvl5pPr marL="18288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0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0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0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000" kern="1200">
                <a:solidFill>
                  <a:schemeClr val="tx1"/>
                </a:solidFill>
                <a:latin typeface="Arial" charset="0"/>
                <a:ea typeface="ＭＳ Ｐゴシック" charset="0"/>
                <a:cs typeface="ＭＳ Ｐゴシック" charset="0"/>
              </a:defRPr>
            </a:lvl9pPr>
          </a:lstStyle>
          <a:p>
            <a:endParaRPr lang="en-US" dirty="0"/>
          </a:p>
        </p:txBody>
      </p:sp>
      <p:sp>
        <p:nvSpPr>
          <p:cNvPr id="13" name="Date Placeholder 12">
            <a:extLst>
              <a:ext uri="{FF2B5EF4-FFF2-40B4-BE49-F238E27FC236}">
                <a16:creationId xmlns:a16="http://schemas.microsoft.com/office/drawing/2014/main" id="{E9B8E6AB-CEA7-FC1E-7B23-793574B9EA2A}"/>
              </a:ext>
            </a:extLst>
          </p:cNvPr>
          <p:cNvSpPr>
            <a:spLocks noGrp="1"/>
          </p:cNvSpPr>
          <p:nvPr>
            <p:ph type="dt" sz="half" idx="10"/>
          </p:nvPr>
        </p:nvSpPr>
        <p:spPr/>
        <p:txBody>
          <a:bodyPr/>
          <a:lstStyle/>
          <a:p>
            <a:fld id="{35369418-08C0-BE43-AA9B-AD0B2EE4ADC5}" type="datetime1">
              <a:rPr lang="en-US" smtClean="0"/>
              <a:pPr/>
              <a:t>5/28/25</a:t>
            </a:fld>
            <a:endParaRPr lang="en-US" dirty="0"/>
          </a:p>
        </p:txBody>
      </p:sp>
      <p:sp>
        <p:nvSpPr>
          <p:cNvPr id="14" name="Footer Placeholder 13">
            <a:extLst>
              <a:ext uri="{FF2B5EF4-FFF2-40B4-BE49-F238E27FC236}">
                <a16:creationId xmlns:a16="http://schemas.microsoft.com/office/drawing/2014/main" id="{35EF9A8B-A20D-6039-4C31-42238B2F099F}"/>
              </a:ext>
            </a:extLst>
          </p:cNvPr>
          <p:cNvSpPr>
            <a:spLocks noGrp="1"/>
          </p:cNvSpPr>
          <p:nvPr>
            <p:ph type="ftr" sz="quarter" idx="11"/>
          </p:nvPr>
        </p:nvSpPr>
        <p:spPr>
          <a:xfrm>
            <a:off x="1718753" y="6400800"/>
            <a:ext cx="5719622" cy="304800"/>
          </a:xfrm>
        </p:spPr>
        <p:txBody>
          <a:bodyPr/>
          <a:lstStyle>
            <a:lvl1pPr>
              <a:defRPr sz="1200">
                <a:solidFill>
                  <a:srgbClr val="0065BD"/>
                </a:solidFill>
              </a:defRPr>
            </a:lvl1pPr>
          </a:lstStyle>
          <a:p>
            <a:r>
              <a:rPr lang="en-US" dirty="0"/>
              <a:t>Plant Genetics – Department of Molecular Life Sciences – School of Life Sciences</a:t>
            </a:r>
          </a:p>
        </p:txBody>
      </p:sp>
      <p:sp>
        <p:nvSpPr>
          <p:cNvPr id="15" name="Slide Number Placeholder 14">
            <a:extLst>
              <a:ext uri="{FF2B5EF4-FFF2-40B4-BE49-F238E27FC236}">
                <a16:creationId xmlns:a16="http://schemas.microsoft.com/office/drawing/2014/main" id="{642A0F4E-C267-7A9D-2FB8-5056EA9763FD}"/>
              </a:ext>
            </a:extLst>
          </p:cNvPr>
          <p:cNvSpPr>
            <a:spLocks noGrp="1"/>
          </p:cNvSpPr>
          <p:nvPr>
            <p:ph type="sldNum" sz="quarter" idx="12"/>
          </p:nvPr>
        </p:nvSpPr>
        <p:spPr/>
        <p:txBody>
          <a:bodyPr/>
          <a:lstStyle/>
          <a:p>
            <a:fld id="{4E0006A5-54B2-7248-935D-336FE5B38FBE}" type="slidenum">
              <a:rPr lang="en-US" smtClean="0"/>
              <a:pPr/>
              <a:t>‹#›</a:t>
            </a:fld>
            <a:endParaRPr lang="en-US"/>
          </a:p>
        </p:txBody>
      </p:sp>
    </p:spTree>
    <p:extLst>
      <p:ext uri="{BB962C8B-B14F-4D97-AF65-F5344CB8AC3E}">
        <p14:creationId xmlns:p14="http://schemas.microsoft.com/office/powerpoint/2010/main" val="2094531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folie">
    <p:spTree>
      <p:nvGrpSpPr>
        <p:cNvPr id="1" name=""/>
        <p:cNvGrpSpPr/>
        <p:nvPr/>
      </p:nvGrpSpPr>
      <p:grpSpPr>
        <a:xfrm>
          <a:off x="0" y="0"/>
          <a:ext cx="0" cy="0"/>
          <a:chOff x="0" y="0"/>
          <a:chExt cx="0" cy="0"/>
        </a:xfrm>
      </p:grpSpPr>
      <p:sp>
        <p:nvSpPr>
          <p:cNvPr id="11267" name="Rectangle 3"/>
          <p:cNvSpPr>
            <a:spLocks noGrp="1" noChangeArrowheads="1"/>
          </p:cNvSpPr>
          <p:nvPr>
            <p:ph type="ctrTitle"/>
          </p:nvPr>
        </p:nvSpPr>
        <p:spPr>
          <a:xfrm>
            <a:off x="0" y="2643233"/>
            <a:ext cx="9144000" cy="937648"/>
          </a:xfrm>
          <a:solidFill>
            <a:srgbClr val="0065BD"/>
          </a:solidFill>
        </p:spPr>
        <p:txBody>
          <a:bodyPr/>
          <a:lstStyle>
            <a:lvl1pPr algn="ctr">
              <a:lnSpc>
                <a:spcPct val="150000"/>
              </a:lnSpc>
              <a:defRPr sz="3200" b="0">
                <a:solidFill>
                  <a:schemeClr val="bg1"/>
                </a:solidFill>
              </a:defRPr>
            </a:lvl1p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pic>
        <p:nvPicPr>
          <p:cNvPr id="12" name="Picture 29" descr="U:\Logos und Grafiken\TUMLogo_oZ_Vollfl_blau_RGB.png"/>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34920" y="423276"/>
            <a:ext cx="1026072" cy="5416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1107FF8-FE93-339B-ADD3-DACB9A8E8451}"/>
              </a:ext>
            </a:extLst>
          </p:cNvPr>
          <p:cNvSpPr txBox="1"/>
          <p:nvPr userDrawn="1"/>
        </p:nvSpPr>
        <p:spPr>
          <a:xfrm>
            <a:off x="138702" y="507730"/>
            <a:ext cx="2395271" cy="523220"/>
          </a:xfrm>
          <a:prstGeom prst="rect">
            <a:avLst/>
          </a:prstGeom>
          <a:noFill/>
        </p:spPr>
        <p:txBody>
          <a:bodyPr wrap="none" rtlCol="0">
            <a:spAutoFit/>
          </a:bodyPr>
          <a:lstStyle/>
          <a:p>
            <a:r>
              <a:rPr lang="de-DE" sz="1400" dirty="0">
                <a:solidFill>
                  <a:srgbClr val="0065BD"/>
                </a:solidFill>
              </a:rPr>
              <a:t>TUM School </a:t>
            </a:r>
            <a:r>
              <a:rPr lang="de-DE" sz="1400" dirty="0" err="1">
                <a:solidFill>
                  <a:srgbClr val="0065BD"/>
                </a:solidFill>
              </a:rPr>
              <a:t>of</a:t>
            </a:r>
            <a:r>
              <a:rPr lang="de-DE" sz="1400" dirty="0">
                <a:solidFill>
                  <a:srgbClr val="0065BD"/>
                </a:solidFill>
              </a:rPr>
              <a:t> Life Science</a:t>
            </a:r>
          </a:p>
          <a:p>
            <a:r>
              <a:rPr lang="de-DE" sz="1400" dirty="0">
                <a:solidFill>
                  <a:srgbClr val="0065BD"/>
                </a:solidFill>
              </a:rPr>
              <a:t>Working </a:t>
            </a:r>
            <a:r>
              <a:rPr lang="de-DE" sz="1400" dirty="0" err="1">
                <a:solidFill>
                  <a:srgbClr val="0065BD"/>
                </a:solidFill>
              </a:rPr>
              <a:t>for</a:t>
            </a:r>
            <a:r>
              <a:rPr lang="de-DE" sz="1400" dirty="0">
                <a:solidFill>
                  <a:srgbClr val="0065BD"/>
                </a:solidFill>
              </a:rPr>
              <a:t> </a:t>
            </a:r>
            <a:r>
              <a:rPr lang="de-DE" sz="1400" dirty="0" err="1">
                <a:solidFill>
                  <a:srgbClr val="0065BD"/>
                </a:solidFill>
              </a:rPr>
              <a:t>One</a:t>
            </a:r>
            <a:r>
              <a:rPr lang="de-DE" sz="1400" dirty="0">
                <a:solidFill>
                  <a:srgbClr val="0065BD"/>
                </a:solidFill>
              </a:rPr>
              <a:t> Heath</a:t>
            </a:r>
          </a:p>
        </p:txBody>
      </p:sp>
      <p:sp>
        <p:nvSpPr>
          <p:cNvPr id="9" name="Rectangle 6">
            <a:extLst>
              <a:ext uri="{FF2B5EF4-FFF2-40B4-BE49-F238E27FC236}">
                <a16:creationId xmlns:a16="http://schemas.microsoft.com/office/drawing/2014/main" id="{1DC75D43-2856-914D-C603-7C2D2D88DEFA}"/>
              </a:ext>
            </a:extLst>
          </p:cNvPr>
          <p:cNvSpPr txBox="1">
            <a:spLocks noChangeArrowheads="1"/>
          </p:cNvSpPr>
          <p:nvPr userDrawn="1"/>
        </p:nvSpPr>
        <p:spPr bwMode="auto">
          <a:xfrm>
            <a:off x="508000" y="6400800"/>
            <a:ext cx="8153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de-DE"/>
            </a:defPPr>
            <a:lvl1pPr algn="ctr" rtl="0" eaLnBrk="0" fontAlgn="base" hangingPunct="0">
              <a:spcBef>
                <a:spcPct val="0"/>
              </a:spcBef>
              <a:spcAft>
                <a:spcPct val="0"/>
              </a:spcAft>
              <a:defRPr sz="1100" b="0" kern="1200">
                <a:solidFill>
                  <a:srgbClr val="0065BD"/>
                </a:solidFill>
                <a:latin typeface="Arial" charset="0"/>
                <a:ea typeface="ＭＳ Ｐゴシック" charset="0"/>
                <a:cs typeface="ＭＳ Ｐゴシック" charset="0"/>
              </a:defRPr>
            </a:lvl1pPr>
            <a:lvl2pPr marL="4572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2pPr>
            <a:lvl3pPr marL="9144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3pPr>
            <a:lvl4pPr marL="13716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4pPr>
            <a:lvl5pPr marL="1828800" algn="r" rtl="0" eaLnBrk="0" fontAlgn="base" hangingPunct="0">
              <a:spcBef>
                <a:spcPct val="0"/>
              </a:spcBef>
              <a:spcAft>
                <a:spcPct val="0"/>
              </a:spcAft>
              <a:defRPr sz="20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0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0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0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000" kern="1200">
                <a:solidFill>
                  <a:schemeClr val="tx1"/>
                </a:solidFill>
                <a:latin typeface="Arial" charset="0"/>
                <a:ea typeface="ＭＳ Ｐゴシック" charset="0"/>
                <a:cs typeface="ＭＳ Ｐゴシック" charset="0"/>
              </a:defRPr>
            </a:lvl9pPr>
          </a:lstStyle>
          <a:p>
            <a:endParaRPr lang="en-US" dirty="0"/>
          </a:p>
        </p:txBody>
      </p:sp>
      <p:sp>
        <p:nvSpPr>
          <p:cNvPr id="17" name="Date Placeholder 16">
            <a:extLst>
              <a:ext uri="{FF2B5EF4-FFF2-40B4-BE49-F238E27FC236}">
                <a16:creationId xmlns:a16="http://schemas.microsoft.com/office/drawing/2014/main" id="{B4847FB2-B096-A7DC-C7DD-BC70821638EA}"/>
              </a:ext>
            </a:extLst>
          </p:cNvPr>
          <p:cNvSpPr>
            <a:spLocks noGrp="1"/>
          </p:cNvSpPr>
          <p:nvPr>
            <p:ph type="dt" sz="half" idx="10"/>
          </p:nvPr>
        </p:nvSpPr>
        <p:spPr/>
        <p:txBody>
          <a:bodyPr/>
          <a:lstStyle/>
          <a:p>
            <a:fld id="{35369418-08C0-BE43-AA9B-AD0B2EE4ADC5}" type="datetime1">
              <a:rPr lang="en-US" smtClean="0"/>
              <a:pPr/>
              <a:t>5/28/25</a:t>
            </a:fld>
            <a:endParaRPr lang="en-US" dirty="0"/>
          </a:p>
        </p:txBody>
      </p:sp>
      <p:sp>
        <p:nvSpPr>
          <p:cNvPr id="18" name="Footer Placeholder 17">
            <a:extLst>
              <a:ext uri="{FF2B5EF4-FFF2-40B4-BE49-F238E27FC236}">
                <a16:creationId xmlns:a16="http://schemas.microsoft.com/office/drawing/2014/main" id="{640E6164-6E31-59D3-55F8-028A94D740AF}"/>
              </a:ext>
            </a:extLst>
          </p:cNvPr>
          <p:cNvSpPr>
            <a:spLocks noGrp="1"/>
          </p:cNvSpPr>
          <p:nvPr>
            <p:ph type="ftr" sz="quarter" idx="11"/>
          </p:nvPr>
        </p:nvSpPr>
        <p:spPr/>
        <p:txBody>
          <a:bodyPr/>
          <a:lstStyle>
            <a:lvl1pPr>
              <a:defRPr>
                <a:solidFill>
                  <a:srgbClr val="0065BD"/>
                </a:solidFill>
              </a:defRPr>
            </a:lvl1pPr>
          </a:lstStyle>
          <a:p>
            <a:r>
              <a:rPr lang="en-US" dirty="0"/>
              <a:t>Plant Genetics – Department of Molecular Life Sciences – School of Life Sciences</a:t>
            </a:r>
          </a:p>
          <a:p>
            <a:endParaRPr lang="en-US" dirty="0"/>
          </a:p>
        </p:txBody>
      </p:sp>
      <p:sp>
        <p:nvSpPr>
          <p:cNvPr id="19" name="Slide Number Placeholder 18">
            <a:extLst>
              <a:ext uri="{FF2B5EF4-FFF2-40B4-BE49-F238E27FC236}">
                <a16:creationId xmlns:a16="http://schemas.microsoft.com/office/drawing/2014/main" id="{93CEC2FA-59C8-0DBD-2572-0831F5CC545C}"/>
              </a:ext>
            </a:extLst>
          </p:cNvPr>
          <p:cNvSpPr>
            <a:spLocks noGrp="1"/>
          </p:cNvSpPr>
          <p:nvPr>
            <p:ph type="sldNum" sz="quarter" idx="12"/>
          </p:nvPr>
        </p:nvSpPr>
        <p:spPr/>
        <p:txBody>
          <a:bodyPr/>
          <a:lstStyle/>
          <a:p>
            <a:fld id="{4E0006A5-54B2-7248-935D-336FE5B38FBE}" type="slidenum">
              <a:rPr lang="en-US" smtClean="0"/>
              <a:pPr/>
              <a:t>‹#›</a:t>
            </a:fld>
            <a:endParaRPr lang="en-US"/>
          </a:p>
        </p:txBody>
      </p:sp>
    </p:spTree>
    <p:extLst>
      <p:ext uri="{BB962C8B-B14F-4D97-AF65-F5344CB8AC3E}">
        <p14:creationId xmlns:p14="http://schemas.microsoft.com/office/powerpoint/2010/main" val="6367848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569994" y="928919"/>
            <a:ext cx="8128000" cy="601538"/>
          </a:xfrm>
        </p:spPr>
        <p:txBody>
          <a:bodyPr/>
          <a:lstStyle>
            <a:lvl1pPr algn="ctr">
              <a:defRPr sz="3200"/>
            </a:lvl1p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sp>
        <p:nvSpPr>
          <p:cNvPr id="3" name="Inhaltsplatzhalter 2"/>
          <p:cNvSpPr>
            <a:spLocks noGrp="1"/>
          </p:cNvSpPr>
          <p:nvPr>
            <p:ph idx="1"/>
          </p:nvPr>
        </p:nvSpPr>
        <p:spPr/>
        <p:txBody>
          <a:bodyPr/>
          <a:lstStyle>
            <a:lvl1pPr>
              <a:defRPr sz="2000"/>
            </a:lvl1pPr>
          </a:lstStyle>
          <a:p>
            <a:pPr lvl="0"/>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4" name="Rectangle 4"/>
          <p:cNvSpPr>
            <a:spLocks noGrp="1" noChangeArrowheads="1"/>
          </p:cNvSpPr>
          <p:nvPr>
            <p:ph type="dt" sz="half" idx="10"/>
          </p:nvPr>
        </p:nvSpPr>
        <p:spPr>
          <a:ln/>
        </p:spPr>
        <p:txBody>
          <a:bodyPr/>
          <a:lstStyle>
            <a:lvl1pPr>
              <a:defRPr/>
            </a:lvl1pPr>
          </a:lstStyle>
          <a:p>
            <a:fld id="{2F608F0F-3717-0942-9241-E6563A14553B}" type="datetime1">
              <a:rPr lang="en-US" noProof="0" smtClean="0"/>
              <a:pPr/>
              <a:t>5/28/25</a:t>
            </a:fld>
            <a:endParaRPr lang="en-US" noProof="0"/>
          </a:p>
        </p:txBody>
      </p:sp>
      <p:sp>
        <p:nvSpPr>
          <p:cNvPr id="5" name="Rectangle 5"/>
          <p:cNvSpPr>
            <a:spLocks noGrp="1" noChangeArrowheads="1"/>
          </p:cNvSpPr>
          <p:nvPr>
            <p:ph type="ftr" sz="quarter" idx="11"/>
          </p:nvPr>
        </p:nvSpPr>
        <p:spPr>
          <a:ln/>
        </p:spPr>
        <p:txBody>
          <a:bodyPr/>
          <a:lstStyle>
            <a:lvl1pPr>
              <a:defRPr/>
            </a:lvl1pPr>
          </a:lstStyle>
          <a:p>
            <a:endParaRPr lang="en-US" noProof="0"/>
          </a:p>
        </p:txBody>
      </p:sp>
      <p:sp>
        <p:nvSpPr>
          <p:cNvPr id="6" name="Rectangle 6"/>
          <p:cNvSpPr>
            <a:spLocks noGrp="1" noChangeArrowheads="1"/>
          </p:cNvSpPr>
          <p:nvPr>
            <p:ph type="sldNum" sz="quarter" idx="12"/>
          </p:nvPr>
        </p:nvSpPr>
        <p:spPr>
          <a:ln/>
        </p:spPr>
        <p:txBody>
          <a:bodyPr/>
          <a:lstStyle>
            <a:lvl1pPr>
              <a:defRPr/>
            </a:lvl1pPr>
          </a:lstStyle>
          <a:p>
            <a:fld id="{17CC94CD-1FE7-0C44-80F4-2964C2C99554}" type="slidenum">
              <a:rPr lang="en-US" noProof="0" smtClean="0"/>
              <a:pPr/>
              <a:t>‹#›</a:t>
            </a:fld>
            <a:endParaRPr lang="en-US" noProof="0"/>
          </a:p>
        </p:txBody>
      </p:sp>
    </p:spTree>
    <p:extLst>
      <p:ext uri="{BB962C8B-B14F-4D97-AF65-F5344CB8AC3E}">
        <p14:creationId xmlns:p14="http://schemas.microsoft.com/office/powerpoint/2010/main" val="278525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sz="2800" baseline="0"/>
            </a:lvl1p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sp>
        <p:nvSpPr>
          <p:cNvPr id="3" name="Inhaltsplatzhalter 2"/>
          <p:cNvSpPr>
            <a:spLocks noGrp="1"/>
          </p:cNvSpPr>
          <p:nvPr>
            <p:ph sz="half" idx="1"/>
          </p:nvPr>
        </p:nvSpPr>
        <p:spPr>
          <a:xfrm>
            <a:off x="508000" y="1692275"/>
            <a:ext cx="3987800" cy="4479925"/>
          </a:xfrm>
        </p:spPr>
        <p:txBody>
          <a:bodyPr/>
          <a:lstStyle>
            <a:lvl1pPr>
              <a:defRPr sz="24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4" name="Inhaltsplatzhalter 3"/>
          <p:cNvSpPr>
            <a:spLocks noGrp="1"/>
          </p:cNvSpPr>
          <p:nvPr>
            <p:ph sz="half" idx="2"/>
          </p:nvPr>
        </p:nvSpPr>
        <p:spPr>
          <a:xfrm>
            <a:off x="4648200" y="1692275"/>
            <a:ext cx="3987800" cy="4479925"/>
          </a:xfrm>
        </p:spPr>
        <p:txBody>
          <a:bodyPr/>
          <a:lstStyle>
            <a:lvl1pPr>
              <a:defRPr sz="24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5" name="Rectangle 4"/>
          <p:cNvSpPr>
            <a:spLocks noGrp="1" noChangeArrowheads="1"/>
          </p:cNvSpPr>
          <p:nvPr>
            <p:ph type="dt" sz="half" idx="10"/>
          </p:nvPr>
        </p:nvSpPr>
        <p:spPr>
          <a:ln/>
        </p:spPr>
        <p:txBody>
          <a:bodyPr/>
          <a:lstStyle>
            <a:lvl1pPr>
              <a:defRPr/>
            </a:lvl1pPr>
          </a:lstStyle>
          <a:p>
            <a:fld id="{1583E054-FA98-0D4D-A84E-988AA305B92A}" type="datetime1">
              <a:rPr lang="en-US" noProof="0" smtClean="0"/>
              <a:pPr/>
              <a:t>5/28/25</a:t>
            </a:fld>
            <a:endParaRPr lang="en-US" noProof="0"/>
          </a:p>
        </p:txBody>
      </p:sp>
      <p:sp>
        <p:nvSpPr>
          <p:cNvPr id="6" name="Rectangle 5"/>
          <p:cNvSpPr>
            <a:spLocks noGrp="1" noChangeArrowheads="1"/>
          </p:cNvSpPr>
          <p:nvPr>
            <p:ph type="ftr" sz="quarter" idx="11"/>
          </p:nvPr>
        </p:nvSpPr>
        <p:spPr>
          <a:ln/>
        </p:spPr>
        <p:txBody>
          <a:bodyPr/>
          <a:lstStyle>
            <a:lvl1pPr>
              <a:defRPr/>
            </a:lvl1pPr>
          </a:lstStyle>
          <a:p>
            <a:endParaRPr lang="en-US" noProof="0"/>
          </a:p>
        </p:txBody>
      </p:sp>
      <p:sp>
        <p:nvSpPr>
          <p:cNvPr id="7" name="Rectangle 6"/>
          <p:cNvSpPr>
            <a:spLocks noGrp="1" noChangeArrowheads="1"/>
          </p:cNvSpPr>
          <p:nvPr>
            <p:ph type="sldNum" sz="quarter" idx="12"/>
          </p:nvPr>
        </p:nvSpPr>
        <p:spPr>
          <a:ln/>
        </p:spPr>
        <p:txBody>
          <a:bodyPr/>
          <a:lstStyle>
            <a:lvl1pPr>
              <a:defRPr/>
            </a:lvl1pPr>
          </a:lstStyle>
          <a:p>
            <a:fld id="{BEEA83A0-A104-9441-ACE9-BF30B05124E9}" type="slidenum">
              <a:rPr lang="en-US" noProof="0" smtClean="0"/>
              <a:pPr/>
              <a:t>‹#›</a:t>
            </a:fld>
            <a:endParaRPr lang="en-US" noProof="0"/>
          </a:p>
        </p:txBody>
      </p:sp>
    </p:spTree>
    <p:extLst>
      <p:ext uri="{BB962C8B-B14F-4D97-AF65-F5344CB8AC3E}">
        <p14:creationId xmlns:p14="http://schemas.microsoft.com/office/powerpoint/2010/main" val="26115709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69993" y="232630"/>
            <a:ext cx="8128000" cy="60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dirty="0" err="1"/>
              <a:t>Mastertitelformat</a:t>
            </a:r>
            <a:r>
              <a:rPr lang="en-US" noProof="0" dirty="0"/>
              <a:t> </a:t>
            </a:r>
            <a:r>
              <a:rPr lang="en-US" noProof="0" dirty="0" err="1"/>
              <a:t>bearbeiten</a:t>
            </a:r>
            <a:endParaRPr lang="en-US" noProof="0" dirty="0"/>
          </a:p>
        </p:txBody>
      </p:sp>
      <p:sp>
        <p:nvSpPr>
          <p:cNvPr id="1027" name="Rectangle 3"/>
          <p:cNvSpPr>
            <a:spLocks noGrp="1" noChangeArrowheads="1"/>
          </p:cNvSpPr>
          <p:nvPr>
            <p:ph type="body" idx="1"/>
          </p:nvPr>
        </p:nvSpPr>
        <p:spPr bwMode="auto">
          <a:xfrm>
            <a:off x="632455" y="1193800"/>
            <a:ext cx="8128000"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1028" name="Rectangle 4"/>
          <p:cNvSpPr>
            <a:spLocks noGrp="1" noChangeArrowheads="1"/>
          </p:cNvSpPr>
          <p:nvPr>
            <p:ph type="dt" sz="half" idx="2"/>
          </p:nvPr>
        </p:nvSpPr>
        <p:spPr bwMode="auto">
          <a:xfrm>
            <a:off x="508001" y="6400800"/>
            <a:ext cx="1210752" cy="30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200" b="0"/>
            </a:lvl1pPr>
          </a:lstStyle>
          <a:p>
            <a:fld id="{35369418-08C0-BE43-AA9B-AD0B2EE4ADC5}" type="datetime1">
              <a:rPr lang="en-US" smtClean="0"/>
              <a:pPr/>
              <a:t>5/28/25</a:t>
            </a:fld>
            <a:endParaRPr lang="en-US" dirty="0"/>
          </a:p>
        </p:txBody>
      </p:sp>
      <p:sp>
        <p:nvSpPr>
          <p:cNvPr id="1029" name="Rectangle 5"/>
          <p:cNvSpPr>
            <a:spLocks noGrp="1" noChangeArrowheads="1"/>
          </p:cNvSpPr>
          <p:nvPr>
            <p:ph type="ftr" sz="quarter" idx="3"/>
          </p:nvPr>
        </p:nvSpPr>
        <p:spPr bwMode="auto">
          <a:xfrm>
            <a:off x="1986114" y="6400800"/>
            <a:ext cx="5165805" cy="30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200" b="0"/>
            </a:lvl1pPr>
          </a:lstStyle>
          <a:p>
            <a:endParaRPr lang="en-US" dirty="0"/>
          </a:p>
        </p:txBody>
      </p:sp>
      <p:sp>
        <p:nvSpPr>
          <p:cNvPr id="1030" name="Rectangle 6"/>
          <p:cNvSpPr>
            <a:spLocks noGrp="1" noChangeArrowheads="1"/>
          </p:cNvSpPr>
          <p:nvPr>
            <p:ph type="sldNum" sz="quarter" idx="4"/>
          </p:nvPr>
        </p:nvSpPr>
        <p:spPr bwMode="auto">
          <a:xfrm>
            <a:off x="7438376" y="6400800"/>
            <a:ext cx="1197623" cy="30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200" b="0"/>
            </a:lvl1pPr>
          </a:lstStyle>
          <a:p>
            <a:fld id="{4E0006A5-54B2-7248-935D-336FE5B38FBE}" type="slidenum">
              <a:rPr lang="en-US" smtClean="0"/>
              <a:pPr/>
              <a:t>‹#›</a:t>
            </a:fld>
            <a:endParaRPr lang="en-US"/>
          </a:p>
        </p:txBody>
      </p:sp>
      <p:sp>
        <p:nvSpPr>
          <p:cNvPr id="14" name="Line 23"/>
          <p:cNvSpPr>
            <a:spLocks noChangeShapeType="1"/>
          </p:cNvSpPr>
          <p:nvPr userDrawn="1"/>
        </p:nvSpPr>
        <p:spPr bwMode="auto">
          <a:xfrm>
            <a:off x="0" y="6324600"/>
            <a:ext cx="9144000" cy="0"/>
          </a:xfrm>
          <a:prstGeom prst="line">
            <a:avLst/>
          </a:prstGeom>
          <a:noFill/>
          <a:ln w="9525">
            <a:solidFill>
              <a:schemeClr val="bg2"/>
            </a:solidFill>
            <a:round/>
            <a:headEnd/>
            <a:tailEnd/>
          </a:ln>
          <a:effectLst/>
        </p:spPr>
        <p:txBody>
          <a:bodyPr/>
          <a:lstStyle/>
          <a:p>
            <a:pPr>
              <a:defRPr/>
            </a:pPr>
            <a:endParaRPr lang="en-US" b="0" noProof="0">
              <a:latin typeface="Arial" pitchFamily="34" charset="0"/>
              <a:ea typeface="ＭＳ Ｐゴシック" pitchFamily="18" charset="-128"/>
              <a:cs typeface="ＭＳ Ｐゴシック" pitchFamily="18" charset="-128"/>
            </a:endParaRPr>
          </a:p>
        </p:txBody>
      </p:sp>
      <p:sp>
        <p:nvSpPr>
          <p:cNvPr id="16" name="Line 22"/>
          <p:cNvSpPr>
            <a:spLocks noChangeShapeType="1"/>
          </p:cNvSpPr>
          <p:nvPr userDrawn="1"/>
        </p:nvSpPr>
        <p:spPr bwMode="auto">
          <a:xfrm>
            <a:off x="0" y="879525"/>
            <a:ext cx="9144000" cy="0"/>
          </a:xfrm>
          <a:prstGeom prst="line">
            <a:avLst/>
          </a:prstGeom>
          <a:noFill/>
          <a:ln w="12700">
            <a:solidFill>
              <a:schemeClr val="bg2"/>
            </a:solidFill>
            <a:round/>
            <a:headEnd/>
            <a:tailEnd/>
          </a:ln>
          <a:effectLst/>
        </p:spPr>
        <p:txBody>
          <a:bodyPr/>
          <a:lstStyle/>
          <a:p>
            <a:pPr>
              <a:defRPr/>
            </a:pPr>
            <a:endParaRPr lang="en-US" b="0" noProof="0" dirty="0">
              <a:latin typeface="Arial" pitchFamily="34" charset="0"/>
              <a:ea typeface="ＭＳ Ｐゴシック" pitchFamily="18" charset="-128"/>
              <a:cs typeface="ＭＳ Ｐゴシック" pitchFamily="18" charset="-128"/>
            </a:endParaRPr>
          </a:p>
        </p:txBody>
      </p:sp>
      <p:pic>
        <p:nvPicPr>
          <p:cNvPr id="42" name="Picture 29" descr="U:\Logos und Grafiken\TUMLogo_oZ_Vollfl_blau_RGB.png"/>
          <p:cNvPicPr>
            <a:picLocks noChangeAspect="1" noChangeArrowheads="1"/>
          </p:cNvPicPr>
          <p:nvPr userDrawn="1"/>
        </p:nvPicPr>
        <p:blipFill>
          <a:blip r:embed="rId6" cstate="email">
            <a:extLst>
              <a:ext uri="{28A0092B-C50C-407E-A947-70E740481C1C}">
                <a14:useLocalDpi xmlns:a14="http://schemas.microsoft.com/office/drawing/2010/main" val="0"/>
              </a:ext>
            </a:extLst>
          </a:blip>
          <a:srcRect/>
          <a:stretch>
            <a:fillRect/>
          </a:stretch>
        </p:blipFill>
        <p:spPr bwMode="auto">
          <a:xfrm>
            <a:off x="8156015" y="6400800"/>
            <a:ext cx="604440" cy="31908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71912283-B5BD-F5CD-63AC-C9BAEFABCCFC}"/>
              </a:ext>
            </a:extLst>
          </p:cNvPr>
          <p:cNvPicPr>
            <a:picLocks noChangeAspect="1"/>
          </p:cNvPicPr>
          <p:nvPr userDrawn="1"/>
        </p:nvPicPr>
        <p:blipFill>
          <a:blip r:embed="rId7"/>
          <a:stretch>
            <a:fillRect/>
          </a:stretch>
        </p:blipFill>
        <p:spPr>
          <a:xfrm>
            <a:off x="383545" y="6334900"/>
            <a:ext cx="730979" cy="580939"/>
          </a:xfrm>
          <a:prstGeom prst="rect">
            <a:avLst/>
          </a:prstGeom>
        </p:spPr>
      </p:pic>
    </p:spTree>
  </p:cSld>
  <p:clrMap bg1="lt1" tx1="dk1" bg2="lt2" tx2="dk2" accent1="accent1" accent2="accent2" accent3="accent3" accent4="accent4" accent5="accent5" accent6="accent6" hlink="hlink" folHlink="folHlink"/>
  <p:sldLayoutIdLst>
    <p:sldLayoutId id="2147483695" r:id="rId1"/>
    <p:sldLayoutId id="2147483696" r:id="rId2"/>
    <p:sldLayoutId id="2147483693" r:id="rId3"/>
    <p:sldLayoutId id="2147483694" r:id="rId4"/>
  </p:sldLayoutIdLst>
  <p:txStyles>
    <p:titleStyle>
      <a:lvl1pPr algn="l" rtl="0" eaLnBrk="0" fontAlgn="base" hangingPunct="0">
        <a:spcBef>
          <a:spcPct val="0"/>
        </a:spcBef>
        <a:spcAft>
          <a:spcPct val="0"/>
        </a:spcAft>
        <a:defRPr sz="2800" b="0">
          <a:solidFill>
            <a:schemeClr val="tx1"/>
          </a:solidFill>
          <a:latin typeface="+mj-lt"/>
          <a:ea typeface="ＭＳ Ｐゴシック" pitchFamily="-65" charset="-128"/>
          <a:cs typeface="ＭＳ Ｐゴシック" pitchFamily="18" charset="-128"/>
        </a:defRPr>
      </a:lvl1pPr>
      <a:lvl2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2pPr>
      <a:lvl3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3pPr>
      <a:lvl4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4pPr>
      <a:lvl5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5pPr>
      <a:lvl6pPr marL="457200" algn="l" rtl="0" eaLnBrk="1" fontAlgn="base" hangingPunct="1">
        <a:spcBef>
          <a:spcPct val="0"/>
        </a:spcBef>
        <a:spcAft>
          <a:spcPct val="0"/>
        </a:spcAft>
        <a:defRPr sz="2400" b="1">
          <a:solidFill>
            <a:schemeClr val="tx1"/>
          </a:solidFill>
          <a:latin typeface="Arial" pitchFamily="34" charset="0"/>
        </a:defRPr>
      </a:lvl6pPr>
      <a:lvl7pPr marL="914400" algn="l" rtl="0" eaLnBrk="1" fontAlgn="base" hangingPunct="1">
        <a:spcBef>
          <a:spcPct val="0"/>
        </a:spcBef>
        <a:spcAft>
          <a:spcPct val="0"/>
        </a:spcAft>
        <a:defRPr sz="2400" b="1">
          <a:solidFill>
            <a:schemeClr val="tx1"/>
          </a:solidFill>
          <a:latin typeface="Arial" pitchFamily="34" charset="0"/>
        </a:defRPr>
      </a:lvl7pPr>
      <a:lvl8pPr marL="1371600" algn="l" rtl="0" eaLnBrk="1" fontAlgn="base" hangingPunct="1">
        <a:spcBef>
          <a:spcPct val="0"/>
        </a:spcBef>
        <a:spcAft>
          <a:spcPct val="0"/>
        </a:spcAft>
        <a:defRPr sz="2400" b="1">
          <a:solidFill>
            <a:schemeClr val="tx1"/>
          </a:solidFill>
          <a:latin typeface="Arial" pitchFamily="34" charset="0"/>
        </a:defRPr>
      </a:lvl8pPr>
      <a:lvl9pPr marL="1828800" algn="l" rtl="0" eaLnBrk="1" fontAlgn="base" hangingPunct="1">
        <a:spcBef>
          <a:spcPct val="0"/>
        </a:spcBef>
        <a:spcAft>
          <a:spcPct val="0"/>
        </a:spcAft>
        <a:defRPr sz="2400" b="1">
          <a:solidFill>
            <a:schemeClr val="tx1"/>
          </a:solidFill>
          <a:latin typeface="Arial" pitchFamily="34" charset="0"/>
        </a:defRPr>
      </a:lvl9pPr>
    </p:titleStyle>
    <p:bodyStyle>
      <a:lvl1pPr marL="266700" indent="-266700" algn="l" rtl="0" eaLnBrk="0" fontAlgn="base" hangingPunct="0">
        <a:spcBef>
          <a:spcPct val="20000"/>
        </a:spcBef>
        <a:spcAft>
          <a:spcPct val="0"/>
        </a:spcAft>
        <a:buClr>
          <a:schemeClr val="tx2"/>
        </a:buClr>
        <a:buFont typeface="Wingdings" charset="2"/>
        <a:buChar char="§"/>
        <a:defRPr sz="2000" b="0">
          <a:solidFill>
            <a:schemeClr val="tx1"/>
          </a:solidFill>
          <a:latin typeface="+mn-lt"/>
          <a:ea typeface="ＭＳ Ｐゴシック" pitchFamily="-65" charset="-128"/>
          <a:cs typeface="ＭＳ Ｐゴシック" pitchFamily="18" charset="-128"/>
        </a:defRPr>
      </a:lvl1pPr>
      <a:lvl2pPr marL="534988" indent="-268288"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2pPr>
      <a:lvl3pPr marL="801688"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3pPr>
      <a:lvl4pPr marL="1079500" indent="-277813"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4pPr>
      <a:lvl5pPr marL="1346200"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5pPr>
      <a:lvl6pPr marL="2438400" indent="-228600" algn="l" rtl="0" eaLnBrk="1" fontAlgn="base" hangingPunct="1">
        <a:spcBef>
          <a:spcPct val="20000"/>
        </a:spcBef>
        <a:spcAft>
          <a:spcPct val="0"/>
        </a:spcAft>
        <a:buChar char="»"/>
        <a:defRPr sz="1400">
          <a:solidFill>
            <a:schemeClr val="tx1"/>
          </a:solidFill>
          <a:latin typeface="+mn-lt"/>
        </a:defRPr>
      </a:lvl6pPr>
      <a:lvl7pPr marL="2895600" indent="-228600" algn="l" rtl="0" eaLnBrk="1" fontAlgn="base" hangingPunct="1">
        <a:spcBef>
          <a:spcPct val="20000"/>
        </a:spcBef>
        <a:spcAft>
          <a:spcPct val="0"/>
        </a:spcAft>
        <a:buChar char="»"/>
        <a:defRPr sz="1400">
          <a:solidFill>
            <a:schemeClr val="tx1"/>
          </a:solidFill>
          <a:latin typeface="+mn-lt"/>
        </a:defRPr>
      </a:lvl7pPr>
      <a:lvl8pPr marL="3352800" indent="-228600" algn="l" rtl="0" eaLnBrk="1" fontAlgn="base" hangingPunct="1">
        <a:spcBef>
          <a:spcPct val="20000"/>
        </a:spcBef>
        <a:spcAft>
          <a:spcPct val="0"/>
        </a:spcAft>
        <a:buChar char="»"/>
        <a:defRPr sz="1400">
          <a:solidFill>
            <a:schemeClr val="tx1"/>
          </a:solidFill>
          <a:latin typeface="+mn-lt"/>
        </a:defRPr>
      </a:lvl8pPr>
      <a:lvl9pPr marL="3810000" indent="-228600" algn="l" rtl="0" eaLnBrk="1" fontAlgn="base" hangingPunct="1">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mage.genoscope.cns.f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8117-61E5-6F76-70ED-5B3A1CD308DE}"/>
              </a:ext>
            </a:extLst>
          </p:cNvPr>
          <p:cNvSpPr>
            <a:spLocks noGrp="1"/>
          </p:cNvSpPr>
          <p:nvPr>
            <p:ph type="ctrTitle"/>
          </p:nvPr>
        </p:nvSpPr>
        <p:spPr>
          <a:xfrm>
            <a:off x="0" y="2643233"/>
            <a:ext cx="9144000" cy="1187362"/>
          </a:xfrm>
        </p:spPr>
        <p:txBody>
          <a:bodyPr/>
          <a:lstStyle/>
          <a:p>
            <a:pPr>
              <a:lnSpc>
                <a:spcPct val="200000"/>
              </a:lnSpc>
            </a:pPr>
            <a:r>
              <a:rPr lang="en-US" sz="2800" dirty="0">
                <a:latin typeface="Arial" charset="0"/>
                <a:ea typeface="ＭＳ Ｐゴシック" charset="0"/>
                <a:cs typeface="ＭＳ Ｐゴシック" charset="0"/>
              </a:rPr>
              <a:t>Omics Data Analysis of Root-Microbe Interactions </a:t>
            </a:r>
            <a:endParaRPr lang="de-DE" sz="2800" dirty="0"/>
          </a:p>
        </p:txBody>
      </p:sp>
      <p:sp>
        <p:nvSpPr>
          <p:cNvPr id="3" name="Rectangle 3">
            <a:extLst>
              <a:ext uri="{FF2B5EF4-FFF2-40B4-BE49-F238E27FC236}">
                <a16:creationId xmlns:a16="http://schemas.microsoft.com/office/drawing/2014/main" id="{BB4DD5E2-C888-51B2-0F53-811C42CAEAD9}"/>
              </a:ext>
            </a:extLst>
          </p:cNvPr>
          <p:cNvSpPr txBox="1">
            <a:spLocks noChangeArrowheads="1"/>
          </p:cNvSpPr>
          <p:nvPr/>
        </p:nvSpPr>
        <p:spPr>
          <a:xfrm>
            <a:off x="2574679" y="3932962"/>
            <a:ext cx="3994641" cy="1752600"/>
          </a:xfrm>
          <a:prstGeom prst="rect">
            <a:avLst/>
          </a:prstGeom>
        </p:spPr>
        <p:txBody>
          <a:bodyPr/>
          <a:lstStyle>
            <a:lvl1pPr marL="266700" indent="-266700" algn="l" rtl="0" eaLnBrk="0" fontAlgn="base" hangingPunct="0">
              <a:spcBef>
                <a:spcPct val="20000"/>
              </a:spcBef>
              <a:spcAft>
                <a:spcPct val="0"/>
              </a:spcAft>
              <a:buClr>
                <a:schemeClr val="tx2"/>
              </a:buClr>
              <a:buFont typeface="Wingdings" charset="2"/>
              <a:buChar char="§"/>
              <a:defRPr sz="2000" b="0">
                <a:solidFill>
                  <a:schemeClr val="tx1"/>
                </a:solidFill>
                <a:latin typeface="+mn-lt"/>
                <a:ea typeface="ＭＳ Ｐゴシック" pitchFamily="-65" charset="-128"/>
                <a:cs typeface="ＭＳ Ｐゴシック" pitchFamily="18" charset="-128"/>
              </a:defRPr>
            </a:lvl1pPr>
            <a:lvl2pPr marL="534988" indent="-268288"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2pPr>
            <a:lvl3pPr marL="801688"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3pPr>
            <a:lvl4pPr marL="1079500" indent="-277813"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4pPr>
            <a:lvl5pPr marL="1346200"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5pPr>
            <a:lvl6pPr marL="2438400" indent="-228600" algn="l" rtl="0" eaLnBrk="1" fontAlgn="base" hangingPunct="1">
              <a:spcBef>
                <a:spcPct val="20000"/>
              </a:spcBef>
              <a:spcAft>
                <a:spcPct val="0"/>
              </a:spcAft>
              <a:buChar char="»"/>
              <a:defRPr sz="1400">
                <a:solidFill>
                  <a:schemeClr val="tx1"/>
                </a:solidFill>
                <a:latin typeface="+mn-lt"/>
              </a:defRPr>
            </a:lvl6pPr>
            <a:lvl7pPr marL="2895600" indent="-228600" algn="l" rtl="0" eaLnBrk="1" fontAlgn="base" hangingPunct="1">
              <a:spcBef>
                <a:spcPct val="20000"/>
              </a:spcBef>
              <a:spcAft>
                <a:spcPct val="0"/>
              </a:spcAft>
              <a:buChar char="»"/>
              <a:defRPr sz="1400">
                <a:solidFill>
                  <a:schemeClr val="tx1"/>
                </a:solidFill>
                <a:latin typeface="+mn-lt"/>
              </a:defRPr>
            </a:lvl7pPr>
            <a:lvl8pPr marL="3352800" indent="-228600" algn="l" rtl="0" eaLnBrk="1" fontAlgn="base" hangingPunct="1">
              <a:spcBef>
                <a:spcPct val="20000"/>
              </a:spcBef>
              <a:spcAft>
                <a:spcPct val="0"/>
              </a:spcAft>
              <a:buChar char="»"/>
              <a:defRPr sz="1400">
                <a:solidFill>
                  <a:schemeClr val="tx1"/>
                </a:solidFill>
                <a:latin typeface="+mn-lt"/>
              </a:defRPr>
            </a:lvl8pPr>
            <a:lvl9pPr marL="3810000" indent="-228600" algn="l" rtl="0" eaLnBrk="1" fontAlgn="base" hangingPunct="1">
              <a:spcBef>
                <a:spcPct val="20000"/>
              </a:spcBef>
              <a:spcAft>
                <a:spcPct val="0"/>
              </a:spcAft>
              <a:buChar char="»"/>
              <a:defRPr sz="1400">
                <a:solidFill>
                  <a:schemeClr val="tx1"/>
                </a:solidFill>
                <a:latin typeface="+mn-lt"/>
              </a:defRPr>
            </a:lvl9pPr>
          </a:lstStyle>
          <a:p>
            <a:pPr algn="ctr" eaLnBrk="1" hangingPunct="1"/>
            <a:endParaRPr lang="en-US" kern="0" dirty="0">
              <a:latin typeface="Arial" charset="0"/>
              <a:ea typeface="ＭＳ Ｐゴシック" charset="0"/>
              <a:cs typeface="ＭＳ Ｐゴシック" charset="0"/>
            </a:endParaRPr>
          </a:p>
          <a:p>
            <a:pPr marL="0" indent="0" algn="ctr" eaLnBrk="1" hangingPunct="1">
              <a:buNone/>
            </a:pPr>
            <a:r>
              <a:rPr lang="en-US" kern="0" dirty="0">
                <a:latin typeface="Arial" charset="0"/>
                <a:ea typeface="ＭＳ Ｐゴシック" charset="0"/>
                <a:cs typeface="ＭＳ Ｐゴシック" charset="0"/>
              </a:rPr>
              <a:t>Lecturer Assistant</a:t>
            </a:r>
            <a:endParaRPr lang="de-DE" kern="0" dirty="0">
              <a:latin typeface="Arial" charset="0"/>
              <a:ea typeface="ＭＳ Ｐゴシック" charset="0"/>
              <a:cs typeface="ＭＳ Ｐゴシック" charset="0"/>
            </a:endParaRPr>
          </a:p>
          <a:p>
            <a:pPr marL="0" indent="0" algn="ctr" eaLnBrk="1" hangingPunct="1">
              <a:buNone/>
            </a:pPr>
            <a:r>
              <a:rPr lang="de-DE" altLang="zh-CN" kern="0" dirty="0">
                <a:latin typeface="Arial" charset="0"/>
                <a:ea typeface="ＭＳ Ｐゴシック" charset="0"/>
                <a:cs typeface="ＭＳ Ｐゴシック" charset="0"/>
              </a:rPr>
              <a:t>Tian </a:t>
            </a:r>
            <a:r>
              <a:rPr lang="de-DE" altLang="zh-CN" kern="0" dirty="0" err="1">
                <a:latin typeface="Arial" charset="0"/>
                <a:ea typeface="ＭＳ Ｐゴシック" charset="0"/>
                <a:cs typeface="ＭＳ Ｐゴシック" charset="0"/>
              </a:rPr>
              <a:t>Tian</a:t>
            </a:r>
            <a:endParaRPr lang="en-US" kern="0" dirty="0">
              <a:latin typeface="Arial" charset="0"/>
              <a:ea typeface="ＭＳ Ｐゴシック" charset="0"/>
              <a:cs typeface="ＭＳ Ｐゴシック" charset="0"/>
            </a:endParaRPr>
          </a:p>
        </p:txBody>
      </p:sp>
      <p:pic>
        <p:nvPicPr>
          <p:cNvPr id="4" name="Picture 3">
            <a:extLst>
              <a:ext uri="{FF2B5EF4-FFF2-40B4-BE49-F238E27FC236}">
                <a16:creationId xmlns:a16="http://schemas.microsoft.com/office/drawing/2014/main" id="{235933AA-4A3C-4AD5-CC59-F4F1BCDB144D}"/>
              </a:ext>
            </a:extLst>
          </p:cNvPr>
          <p:cNvPicPr>
            <a:picLocks noChangeAspect="1"/>
          </p:cNvPicPr>
          <p:nvPr/>
        </p:nvPicPr>
        <p:blipFill>
          <a:blip r:embed="rId3"/>
          <a:stretch>
            <a:fillRect/>
          </a:stretch>
        </p:blipFill>
        <p:spPr>
          <a:xfrm>
            <a:off x="3226525" y="158329"/>
            <a:ext cx="1895255" cy="1506237"/>
          </a:xfrm>
          <a:prstGeom prst="rect">
            <a:avLst/>
          </a:prstGeom>
        </p:spPr>
      </p:pic>
      <p:sp>
        <p:nvSpPr>
          <p:cNvPr id="5" name="TextBox 4">
            <a:extLst>
              <a:ext uri="{FF2B5EF4-FFF2-40B4-BE49-F238E27FC236}">
                <a16:creationId xmlns:a16="http://schemas.microsoft.com/office/drawing/2014/main" id="{A210C343-4A2D-51F7-CE53-B4632856A50B}"/>
              </a:ext>
            </a:extLst>
          </p:cNvPr>
          <p:cNvSpPr txBox="1"/>
          <p:nvPr/>
        </p:nvSpPr>
        <p:spPr>
          <a:xfrm>
            <a:off x="1334530" y="6422672"/>
            <a:ext cx="6301945" cy="276999"/>
          </a:xfrm>
          <a:prstGeom prst="rect">
            <a:avLst/>
          </a:prstGeom>
          <a:noFill/>
        </p:spPr>
        <p:txBody>
          <a:bodyPr wrap="square">
            <a:spAutoFit/>
          </a:bodyPr>
          <a:lstStyle/>
          <a:p>
            <a:r>
              <a:rPr lang="en-US" sz="1200" dirty="0">
                <a:solidFill>
                  <a:srgbClr val="0065BD"/>
                </a:solidFill>
              </a:rPr>
              <a:t>Plant Genetics – Department of Molecular Life Sciences – School of Life Sciences</a:t>
            </a:r>
            <a:endParaRPr lang="de-DE" sz="1200" dirty="0">
              <a:solidFill>
                <a:srgbClr val="0065BD"/>
              </a:solidFill>
            </a:endParaRPr>
          </a:p>
        </p:txBody>
      </p:sp>
    </p:spTree>
    <p:extLst>
      <p:ext uri="{BB962C8B-B14F-4D97-AF65-F5344CB8AC3E}">
        <p14:creationId xmlns:p14="http://schemas.microsoft.com/office/powerpoint/2010/main" val="1427605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21502" y="224308"/>
            <a:ext cx="8128000" cy="601538"/>
          </a:xfrm>
        </p:spPr>
        <p:txBody>
          <a:bodyPr/>
          <a:lstStyle/>
          <a:p>
            <a:pPr eaLnBrk="1" hangingPunct="1"/>
            <a:r>
              <a:rPr lang="en-US" dirty="0">
                <a:latin typeface="Arial" charset="0"/>
                <a:ea typeface="ＭＳ Ｐゴシック" charset="0"/>
                <a:cs typeface="ＭＳ Ｐゴシック" charset="0"/>
              </a:rPr>
              <a:t>Main content</a:t>
            </a:r>
          </a:p>
        </p:txBody>
      </p:sp>
      <p:sp>
        <p:nvSpPr>
          <p:cNvPr id="8195" name="Rectangle 3"/>
          <p:cNvSpPr>
            <a:spLocks noGrp="1" noChangeArrowheads="1"/>
          </p:cNvSpPr>
          <p:nvPr>
            <p:ph type="body" idx="1"/>
          </p:nvPr>
        </p:nvSpPr>
        <p:spPr>
          <a:xfrm>
            <a:off x="500083" y="1360601"/>
            <a:ext cx="8242136" cy="4470400"/>
          </a:xfrm>
        </p:spPr>
        <p:txBody>
          <a:bodyPr/>
          <a:lstStyle/>
          <a:p>
            <a:pPr eaLnBrk="1" hangingPunct="1">
              <a:lnSpc>
                <a:spcPct val="200000"/>
              </a:lnSpc>
            </a:pPr>
            <a:r>
              <a:rPr lang="de-DE" altLang="zh-CN" sz="2000" dirty="0">
                <a:latin typeface="Arial" charset="0"/>
                <a:ea typeface="ＭＳ Ｐゴシック" charset="0"/>
                <a:cs typeface="ＭＳ Ｐゴシック" charset="0"/>
              </a:rPr>
              <a:t>I </a:t>
            </a:r>
            <a:r>
              <a:rPr lang="en-US" sz="2000" dirty="0">
                <a:latin typeface="Arial" charset="0"/>
                <a:ea typeface="ＭＳ Ｐゴシック" charset="0"/>
                <a:cs typeface="ＭＳ Ｐゴシック" charset="0"/>
              </a:rPr>
              <a:t>Omics Data </a:t>
            </a:r>
            <a:r>
              <a:rPr lang="en-US" dirty="0">
                <a:latin typeface="Arial" charset="0"/>
                <a:ea typeface="ＭＳ Ｐゴシック" charset="0"/>
                <a:cs typeface="ＭＳ Ｐゴシック" charset="0"/>
              </a:rPr>
              <a:t>in Root </a:t>
            </a:r>
            <a:r>
              <a:rPr lang="en-US" dirty="0">
                <a:latin typeface="Arial" charset="0"/>
                <a:ea typeface="ＭＳ Ｐゴシック" charset="0"/>
                <a:cs typeface="Times New Roman" panose="02020603050405020304" pitchFamily="18" charset="0"/>
              </a:rPr>
              <a:t>– </a:t>
            </a:r>
            <a:r>
              <a:rPr lang="en-US" dirty="0">
                <a:latin typeface="Arial" charset="0"/>
                <a:ea typeface="ＭＳ Ｐゴシック" charset="0"/>
                <a:cs typeface="ＭＳ Ｐゴシック" charset="0"/>
              </a:rPr>
              <a:t>Microbe Studies (May</a:t>
            </a:r>
            <a:r>
              <a:rPr lang="zh-CN" altLang="en-US" dirty="0">
                <a:latin typeface="Arial" charset="0"/>
                <a:ea typeface="ＭＳ Ｐゴシック" charset="0"/>
                <a:cs typeface="ＭＳ Ｐゴシック" charset="0"/>
              </a:rPr>
              <a:t> </a:t>
            </a:r>
            <a:r>
              <a:rPr lang="en-US" dirty="0">
                <a:latin typeface="Arial" charset="0"/>
                <a:ea typeface="ＭＳ Ｐゴシック" charset="0"/>
                <a:cs typeface="ＭＳ Ｐゴシック" charset="0"/>
              </a:rPr>
              <a:t>21)</a:t>
            </a:r>
          </a:p>
          <a:p>
            <a:pPr eaLnBrk="1" hangingPunct="1">
              <a:lnSpc>
                <a:spcPct val="200000"/>
              </a:lnSpc>
            </a:pPr>
            <a:r>
              <a:rPr lang="de-DE" altLang="zh-CN" dirty="0">
                <a:latin typeface="Arial" charset="0"/>
                <a:ea typeface="ＭＳ Ｐゴシック" charset="0"/>
                <a:cs typeface="ＭＳ Ｐゴシック" charset="0"/>
              </a:rPr>
              <a:t>II </a:t>
            </a:r>
            <a:r>
              <a:rPr lang="en-US" dirty="0">
                <a:latin typeface="Arial" charset="0"/>
                <a:ea typeface="ＭＳ Ｐゴシック" charset="0"/>
                <a:cs typeface="ＭＳ Ｐゴシック" charset="0"/>
              </a:rPr>
              <a:t>Key Statistical Metrics in Microbiome Analysis (May</a:t>
            </a:r>
            <a:r>
              <a:rPr lang="zh-CN" altLang="en-US" dirty="0">
                <a:latin typeface="Arial" charset="0"/>
                <a:ea typeface="ＭＳ Ｐゴシック" charset="0"/>
                <a:cs typeface="ＭＳ Ｐゴシック" charset="0"/>
              </a:rPr>
              <a:t> </a:t>
            </a:r>
            <a:r>
              <a:rPr lang="en-US" dirty="0">
                <a:latin typeface="Arial" charset="0"/>
                <a:ea typeface="ＭＳ Ｐゴシック" charset="0"/>
                <a:cs typeface="ＭＳ Ｐゴシック" charset="0"/>
              </a:rPr>
              <a:t>28)</a:t>
            </a:r>
          </a:p>
          <a:p>
            <a:pPr eaLnBrk="1" hangingPunct="1">
              <a:lnSpc>
                <a:spcPct val="200000"/>
              </a:lnSpc>
            </a:pPr>
            <a:r>
              <a:rPr lang="de-DE" altLang="zh-CN" dirty="0">
                <a:latin typeface="Arial" charset="0"/>
                <a:ea typeface="ＭＳ Ｐゴシック" charset="0"/>
                <a:cs typeface="ＭＳ Ｐゴシック" charset="0"/>
              </a:rPr>
              <a:t>III Root </a:t>
            </a:r>
            <a:r>
              <a:rPr lang="de-DE" altLang="zh-CN" dirty="0" err="1">
                <a:latin typeface="Arial" charset="0"/>
                <a:ea typeface="ＭＳ Ｐゴシック" charset="0"/>
                <a:cs typeface="ＭＳ Ｐゴシック" charset="0"/>
              </a:rPr>
              <a:t>transcriptome</a:t>
            </a:r>
            <a:r>
              <a:rPr lang="de-DE" altLang="zh-CN" dirty="0">
                <a:latin typeface="Arial" charset="0"/>
                <a:ea typeface="ＭＳ Ｐゴシック" charset="0"/>
                <a:cs typeface="ＭＳ Ｐゴシック" charset="0"/>
              </a:rPr>
              <a:t> </a:t>
            </a:r>
            <a:r>
              <a:rPr lang="de-DE" altLang="zh-CN" dirty="0" err="1">
                <a:latin typeface="Arial" charset="0"/>
                <a:ea typeface="ＭＳ Ｐゴシック" charset="0"/>
                <a:cs typeface="ＭＳ Ｐゴシック" charset="0"/>
              </a:rPr>
              <a:t>data</a:t>
            </a:r>
            <a:r>
              <a:rPr lang="de-DE" altLang="zh-CN" dirty="0">
                <a:latin typeface="Arial" charset="0"/>
                <a:ea typeface="ＭＳ Ｐゴシック" charset="0"/>
                <a:cs typeface="ＭＳ Ｐゴシック" charset="0"/>
              </a:rPr>
              <a:t> </a:t>
            </a:r>
            <a:r>
              <a:rPr lang="de-DE" altLang="zh-CN" dirty="0" err="1">
                <a:latin typeface="Arial" charset="0"/>
                <a:ea typeface="ＭＳ Ｐゴシック" charset="0"/>
                <a:cs typeface="ＭＳ Ｐゴシック" charset="0"/>
              </a:rPr>
              <a:t>analysis</a:t>
            </a:r>
            <a:r>
              <a:rPr lang="de-DE" altLang="zh-CN" dirty="0">
                <a:latin typeface="Arial" charset="0"/>
                <a:ea typeface="ＭＳ Ｐゴシック" charset="0"/>
                <a:cs typeface="ＭＳ Ｐゴシック" charset="0"/>
              </a:rPr>
              <a:t> </a:t>
            </a:r>
            <a:r>
              <a:rPr lang="en-US" dirty="0">
                <a:latin typeface="Arial" charset="0"/>
                <a:ea typeface="ＭＳ Ｐゴシック" charset="0"/>
                <a:cs typeface="ＭＳ Ｐゴシック" charset="0"/>
              </a:rPr>
              <a:t>(June</a:t>
            </a:r>
            <a:r>
              <a:rPr lang="zh-CN" altLang="en-US" dirty="0">
                <a:latin typeface="Arial" charset="0"/>
                <a:ea typeface="ＭＳ Ｐゴシック" charset="0"/>
                <a:cs typeface="ＭＳ Ｐゴシック" charset="0"/>
              </a:rPr>
              <a:t> </a:t>
            </a:r>
            <a:r>
              <a:rPr lang="en-US" altLang="zh-CN" dirty="0">
                <a:latin typeface="Arial" charset="0"/>
                <a:ea typeface="ＭＳ Ｐゴシック" charset="0"/>
                <a:cs typeface="ＭＳ Ｐゴシック" charset="0"/>
              </a:rPr>
              <a:t>4</a:t>
            </a:r>
            <a:r>
              <a:rPr lang="en-US" dirty="0">
                <a:latin typeface="Arial" charset="0"/>
                <a:ea typeface="ＭＳ Ｐゴシック" charset="0"/>
                <a:cs typeface="ＭＳ Ｐゴシック" charset="0"/>
              </a:rPr>
              <a:t>)</a:t>
            </a:r>
          </a:p>
          <a:p>
            <a:pPr eaLnBrk="1" hangingPunct="1">
              <a:lnSpc>
                <a:spcPct val="200000"/>
              </a:lnSpc>
            </a:pPr>
            <a:r>
              <a:rPr lang="de-DE" altLang="zh-CN" dirty="0">
                <a:latin typeface="Arial" charset="0"/>
                <a:ea typeface="ＭＳ Ｐゴシック" charset="0"/>
                <a:cs typeface="ＭＳ Ｐゴシック" charset="0"/>
              </a:rPr>
              <a:t>IV </a:t>
            </a:r>
            <a:r>
              <a:rPr lang="en-US" dirty="0">
                <a:latin typeface="Arial" charset="0"/>
                <a:ea typeface="ＭＳ Ｐゴシック" charset="0"/>
                <a:cs typeface="ＭＳ Ｐゴシック" charset="0"/>
              </a:rPr>
              <a:t>Gene Expression – Microbiome Co-regulation Networks (June</a:t>
            </a:r>
            <a:r>
              <a:rPr lang="zh-CN" altLang="en-US" dirty="0">
                <a:latin typeface="Arial" charset="0"/>
                <a:ea typeface="ＭＳ Ｐゴシック" charset="0"/>
                <a:cs typeface="ＭＳ Ｐゴシック" charset="0"/>
              </a:rPr>
              <a:t> </a:t>
            </a:r>
            <a:r>
              <a:rPr lang="en-US" altLang="zh-CN" dirty="0">
                <a:latin typeface="Arial" charset="0"/>
                <a:ea typeface="ＭＳ Ｐゴシック" charset="0"/>
                <a:cs typeface="ＭＳ Ｐゴシック" charset="0"/>
              </a:rPr>
              <a:t>11</a:t>
            </a:r>
            <a:r>
              <a:rPr lang="en-US" dirty="0">
                <a:latin typeface="Arial" charset="0"/>
                <a:ea typeface="ＭＳ Ｐゴシック" charset="0"/>
                <a:cs typeface="ＭＳ Ｐゴシック" charset="0"/>
              </a:rPr>
              <a:t>)</a:t>
            </a:r>
          </a:p>
        </p:txBody>
      </p:sp>
      <p:sp>
        <p:nvSpPr>
          <p:cNvPr id="4" name="TextBox 3">
            <a:extLst>
              <a:ext uri="{FF2B5EF4-FFF2-40B4-BE49-F238E27FC236}">
                <a16:creationId xmlns:a16="http://schemas.microsoft.com/office/drawing/2014/main" id="{7A8C0C8D-0F5C-7C2F-D8AC-60927EFA0958}"/>
              </a:ext>
            </a:extLst>
          </p:cNvPr>
          <p:cNvSpPr txBox="1"/>
          <p:nvPr/>
        </p:nvSpPr>
        <p:spPr>
          <a:xfrm>
            <a:off x="1243914" y="6495192"/>
            <a:ext cx="6301945" cy="276999"/>
          </a:xfrm>
          <a:prstGeom prst="rect">
            <a:avLst/>
          </a:prstGeom>
          <a:noFill/>
        </p:spPr>
        <p:txBody>
          <a:bodyPr wrap="square">
            <a:spAutoFit/>
          </a:bodyPr>
          <a:lstStyle/>
          <a:p>
            <a:r>
              <a:rPr lang="en-US" sz="1200" dirty="0">
                <a:solidFill>
                  <a:srgbClr val="0065BD"/>
                </a:solidFill>
              </a:rPr>
              <a:t>Plant Genetics – Department of Molecular Life Sciences – School of Life Sciences</a:t>
            </a:r>
            <a:endParaRPr lang="de-DE" sz="1200" dirty="0">
              <a:solidFill>
                <a:srgbClr val="0065B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87DC9-785C-38F7-20D2-C36EAFF11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16192-5DBC-BF9E-186F-50FE6E3CBEF2}"/>
              </a:ext>
            </a:extLst>
          </p:cNvPr>
          <p:cNvSpPr>
            <a:spLocks noGrp="1"/>
          </p:cNvSpPr>
          <p:nvPr>
            <p:ph type="ctrTitle"/>
          </p:nvPr>
        </p:nvSpPr>
        <p:spPr/>
        <p:txBody>
          <a:bodyPr/>
          <a:lstStyle/>
          <a:p>
            <a:r>
              <a:rPr lang="de-DE" dirty="0"/>
              <a:t>I </a:t>
            </a:r>
            <a:r>
              <a:rPr lang="de-DE" dirty="0" err="1"/>
              <a:t>Omics</a:t>
            </a:r>
            <a:r>
              <a:rPr lang="de-DE" dirty="0"/>
              <a:t> Data in Root – </a:t>
            </a:r>
            <a:r>
              <a:rPr lang="de-DE" dirty="0" err="1"/>
              <a:t>Microbe</a:t>
            </a:r>
            <a:r>
              <a:rPr lang="de-DE" dirty="0"/>
              <a:t> Studies (21.5)</a:t>
            </a:r>
          </a:p>
        </p:txBody>
      </p:sp>
      <p:pic>
        <p:nvPicPr>
          <p:cNvPr id="3" name="Picture 2">
            <a:extLst>
              <a:ext uri="{FF2B5EF4-FFF2-40B4-BE49-F238E27FC236}">
                <a16:creationId xmlns:a16="http://schemas.microsoft.com/office/drawing/2014/main" id="{C3CEAF84-8DC8-31D6-7EBA-6EB1F322A5E4}"/>
              </a:ext>
            </a:extLst>
          </p:cNvPr>
          <p:cNvPicPr>
            <a:picLocks noChangeAspect="1"/>
          </p:cNvPicPr>
          <p:nvPr/>
        </p:nvPicPr>
        <p:blipFill>
          <a:blip r:embed="rId2"/>
          <a:stretch>
            <a:fillRect/>
          </a:stretch>
        </p:blipFill>
        <p:spPr>
          <a:xfrm>
            <a:off x="3143849" y="130269"/>
            <a:ext cx="1804044" cy="1434396"/>
          </a:xfrm>
          <a:prstGeom prst="rect">
            <a:avLst/>
          </a:prstGeom>
        </p:spPr>
      </p:pic>
    </p:spTree>
    <p:extLst>
      <p:ext uri="{BB962C8B-B14F-4D97-AF65-F5344CB8AC3E}">
        <p14:creationId xmlns:p14="http://schemas.microsoft.com/office/powerpoint/2010/main" val="2849397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D0AFC-3F95-0051-E3DC-1BF98F526872}"/>
              </a:ext>
            </a:extLst>
          </p:cNvPr>
          <p:cNvSpPr>
            <a:spLocks noGrp="1"/>
          </p:cNvSpPr>
          <p:nvPr>
            <p:ph type="title"/>
          </p:nvPr>
        </p:nvSpPr>
        <p:spPr>
          <a:xfrm>
            <a:off x="0" y="281550"/>
            <a:ext cx="9144000" cy="601538"/>
          </a:xfrm>
        </p:spPr>
        <p:txBody>
          <a:bodyPr/>
          <a:lstStyle/>
          <a:p>
            <a:r>
              <a:rPr lang="de-DE" sz="3200" dirty="0" err="1"/>
              <a:t>Omics</a:t>
            </a:r>
            <a:r>
              <a:rPr lang="de-DE" sz="3200" dirty="0"/>
              <a:t> Data in Root–</a:t>
            </a:r>
            <a:r>
              <a:rPr lang="de-DE" sz="3200" dirty="0" err="1"/>
              <a:t>Microbe</a:t>
            </a:r>
            <a:r>
              <a:rPr lang="de-DE" sz="3200" dirty="0"/>
              <a:t> Studies</a:t>
            </a:r>
            <a:endParaRPr lang="de-DE" dirty="0"/>
          </a:p>
        </p:txBody>
      </p:sp>
      <p:pic>
        <p:nvPicPr>
          <p:cNvPr id="6" name="Content Placeholder 5">
            <a:extLst>
              <a:ext uri="{FF2B5EF4-FFF2-40B4-BE49-F238E27FC236}">
                <a16:creationId xmlns:a16="http://schemas.microsoft.com/office/drawing/2014/main" id="{62CBF177-D565-92C9-C9C9-F0D7243C487A}"/>
              </a:ext>
            </a:extLst>
          </p:cNvPr>
          <p:cNvPicPr>
            <a:picLocks noGrp="1" noChangeAspect="1"/>
          </p:cNvPicPr>
          <p:nvPr>
            <p:ph idx="1"/>
          </p:nvPr>
        </p:nvPicPr>
        <p:blipFill>
          <a:blip r:embed="rId3"/>
          <a:srcRect t="25531"/>
          <a:stretch/>
        </p:blipFill>
        <p:spPr>
          <a:xfrm>
            <a:off x="508000" y="2011956"/>
            <a:ext cx="8128000" cy="4035226"/>
          </a:xfrm>
          <a:prstGeom prst="rect">
            <a:avLst/>
          </a:prstGeom>
        </p:spPr>
      </p:pic>
      <p:sp>
        <p:nvSpPr>
          <p:cNvPr id="4" name="文本框 3">
            <a:extLst>
              <a:ext uri="{FF2B5EF4-FFF2-40B4-BE49-F238E27FC236}">
                <a16:creationId xmlns:a16="http://schemas.microsoft.com/office/drawing/2014/main" id="{6972EBE9-0A63-9FF0-28B0-FC15EEF77644}"/>
              </a:ext>
            </a:extLst>
          </p:cNvPr>
          <p:cNvSpPr txBox="1"/>
          <p:nvPr/>
        </p:nvSpPr>
        <p:spPr>
          <a:xfrm>
            <a:off x="1075133" y="1210880"/>
            <a:ext cx="6840141" cy="707886"/>
          </a:xfrm>
          <a:prstGeom prst="rect">
            <a:avLst/>
          </a:prstGeom>
          <a:noFill/>
        </p:spPr>
        <p:txBody>
          <a:bodyPr wrap="square">
            <a:spAutoFit/>
          </a:bodyPr>
          <a:lstStyle/>
          <a:p>
            <a:pPr marL="342900" indent="-342900" algn="l">
              <a:buFont typeface="Wingdings" pitchFamily="2" charset="2"/>
              <a:buChar char="Ø"/>
            </a:pPr>
            <a:r>
              <a:rPr lang="en-US" altLang="zh-CN" b="1" dirty="0"/>
              <a:t>Research objective:</a:t>
            </a:r>
            <a:r>
              <a:rPr lang="en-US" altLang="zh-CN" dirty="0"/>
              <a:t> To understand the main types of omics data relevant to microbiome research.</a:t>
            </a:r>
            <a:endParaRPr lang="zh-CN" altLang="en-US" dirty="0"/>
          </a:p>
        </p:txBody>
      </p:sp>
      <p:sp>
        <p:nvSpPr>
          <p:cNvPr id="3" name="三角形 2">
            <a:extLst>
              <a:ext uri="{FF2B5EF4-FFF2-40B4-BE49-F238E27FC236}">
                <a16:creationId xmlns:a16="http://schemas.microsoft.com/office/drawing/2014/main" id="{672D8FCF-B102-6B78-E6E9-ACC5A4397E26}"/>
              </a:ext>
            </a:extLst>
          </p:cNvPr>
          <p:cNvSpPr/>
          <p:nvPr/>
        </p:nvSpPr>
        <p:spPr bwMode="auto">
          <a:xfrm>
            <a:off x="1413164" y="5209308"/>
            <a:ext cx="678873" cy="609600"/>
          </a:xfrm>
          <a:prstGeom prst="triangle">
            <a:avLst/>
          </a:prstGeom>
          <a:solidFill>
            <a:schemeClr val="accent3"/>
          </a:solidFill>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pitchFamily="34" charset="0"/>
            </a:endParaRPr>
          </a:p>
        </p:txBody>
      </p:sp>
    </p:spTree>
    <p:extLst>
      <p:ext uri="{BB962C8B-B14F-4D97-AF65-F5344CB8AC3E}">
        <p14:creationId xmlns:p14="http://schemas.microsoft.com/office/powerpoint/2010/main" val="3108426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15902-86A2-CB5B-6D47-511E8E027BE4}"/>
              </a:ext>
            </a:extLst>
          </p:cNvPr>
          <p:cNvSpPr>
            <a:spLocks noGrp="1"/>
          </p:cNvSpPr>
          <p:nvPr>
            <p:ph type="title"/>
          </p:nvPr>
        </p:nvSpPr>
        <p:spPr>
          <a:xfrm>
            <a:off x="508000" y="261654"/>
            <a:ext cx="8128000" cy="601538"/>
          </a:xfrm>
        </p:spPr>
        <p:txBody>
          <a:bodyPr/>
          <a:lstStyle/>
          <a:p>
            <a:r>
              <a:rPr lang="de-DE" dirty="0" err="1"/>
              <a:t>Bacterial</a:t>
            </a:r>
            <a:r>
              <a:rPr lang="de-DE" dirty="0"/>
              <a:t> </a:t>
            </a:r>
            <a:r>
              <a:rPr lang="de-DE" dirty="0" err="1"/>
              <a:t>genome</a:t>
            </a:r>
            <a:endParaRPr lang="de-DE" dirty="0"/>
          </a:p>
        </p:txBody>
      </p:sp>
      <p:pic>
        <p:nvPicPr>
          <p:cNvPr id="1026" name="Picture 2" descr="Fig. 3">
            <a:extLst>
              <a:ext uri="{FF2B5EF4-FFF2-40B4-BE49-F238E27FC236}">
                <a16:creationId xmlns:a16="http://schemas.microsoft.com/office/drawing/2014/main" id="{2765E4AF-6EF5-C602-F158-987551018C32}"/>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47722" y="1099962"/>
            <a:ext cx="3588819" cy="41755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0C13935-C405-48B0-28B1-B551BB6FA997}"/>
              </a:ext>
            </a:extLst>
          </p:cNvPr>
          <p:cNvSpPr txBox="1"/>
          <p:nvPr/>
        </p:nvSpPr>
        <p:spPr>
          <a:xfrm>
            <a:off x="0" y="5507323"/>
            <a:ext cx="4576118" cy="307777"/>
          </a:xfrm>
          <a:prstGeom prst="rect">
            <a:avLst/>
          </a:prstGeom>
          <a:noFill/>
        </p:spPr>
        <p:txBody>
          <a:bodyPr wrap="square">
            <a:spAutoFit/>
          </a:bodyPr>
          <a:lstStyle/>
          <a:p>
            <a:r>
              <a:rPr lang="en-US" sz="1400" dirty="0"/>
              <a:t>The chromosome and five plasmids of </a:t>
            </a:r>
            <a:r>
              <a:rPr lang="en-US" sz="1400" dirty="0" err="1"/>
              <a:t>Rl</a:t>
            </a:r>
            <a:r>
              <a:rPr lang="en-US" sz="1400" dirty="0"/>
              <a:t> Norway.</a:t>
            </a:r>
            <a:endParaRPr lang="de-DE" sz="1400" dirty="0"/>
          </a:p>
        </p:txBody>
      </p:sp>
      <p:sp>
        <p:nvSpPr>
          <p:cNvPr id="5" name="TextBox 4">
            <a:extLst>
              <a:ext uri="{FF2B5EF4-FFF2-40B4-BE49-F238E27FC236}">
                <a16:creationId xmlns:a16="http://schemas.microsoft.com/office/drawing/2014/main" id="{4EE4381E-BA7A-64B4-36B5-55FF69933B1F}"/>
              </a:ext>
            </a:extLst>
          </p:cNvPr>
          <p:cNvSpPr txBox="1"/>
          <p:nvPr/>
        </p:nvSpPr>
        <p:spPr>
          <a:xfrm>
            <a:off x="280086" y="5877666"/>
            <a:ext cx="5469923" cy="338554"/>
          </a:xfrm>
          <a:prstGeom prst="rect">
            <a:avLst/>
          </a:prstGeom>
          <a:noFill/>
        </p:spPr>
        <p:txBody>
          <a:bodyPr wrap="square" rtlCol="0">
            <a:spAutoFit/>
          </a:bodyPr>
          <a:lstStyle/>
          <a:p>
            <a:pPr algn="l"/>
            <a:r>
              <a:rPr lang="de-DE" sz="1600" dirty="0"/>
              <a:t>(Liang et al., 2018,  Environmental Microbiome)</a:t>
            </a:r>
          </a:p>
        </p:txBody>
      </p:sp>
      <p:sp>
        <p:nvSpPr>
          <p:cNvPr id="7" name="Content Placeholder 2">
            <a:extLst>
              <a:ext uri="{FF2B5EF4-FFF2-40B4-BE49-F238E27FC236}">
                <a16:creationId xmlns:a16="http://schemas.microsoft.com/office/drawing/2014/main" id="{028C3630-E777-A776-4E3A-16708BD79CEB}"/>
              </a:ext>
            </a:extLst>
          </p:cNvPr>
          <p:cNvSpPr>
            <a:spLocks noGrp="1"/>
          </p:cNvSpPr>
          <p:nvPr>
            <p:ph idx="1"/>
          </p:nvPr>
        </p:nvSpPr>
        <p:spPr>
          <a:xfrm>
            <a:off x="4489623" y="1340792"/>
            <a:ext cx="4335848" cy="2844030"/>
          </a:xfrm>
        </p:spPr>
        <p:txBody>
          <a:bodyPr/>
          <a:lstStyle/>
          <a:p>
            <a:pPr algn="l">
              <a:buFont typeface="Wingdings" panose="05000000000000000000" pitchFamily="2" charset="2"/>
              <a:buChar char="Ø"/>
            </a:pPr>
            <a:r>
              <a:rPr lang="en-US" sz="1600" dirty="0"/>
              <a:t>Key Features of a Bacterial Genome:</a:t>
            </a:r>
          </a:p>
          <a:p>
            <a:pPr algn="l"/>
            <a:endParaRPr lang="en-US" sz="1600" dirty="0"/>
          </a:p>
          <a:p>
            <a:pPr>
              <a:buFont typeface="Wingdings" panose="05000000000000000000" pitchFamily="2" charset="2"/>
              <a:buChar char="§"/>
            </a:pPr>
            <a:r>
              <a:rPr lang="en-US" sz="1400" dirty="0"/>
              <a:t>Structure: Single circular chromosome (0.5–10 Mb) + multiple small plasmids.</a:t>
            </a:r>
          </a:p>
          <a:p>
            <a:pPr>
              <a:buFont typeface="Wingdings" panose="05000000000000000000" pitchFamily="2" charset="2"/>
              <a:buChar char="v"/>
            </a:pPr>
            <a:endParaRPr lang="en-US" sz="1400" dirty="0"/>
          </a:p>
          <a:p>
            <a:r>
              <a:rPr lang="en-US" sz="1400" dirty="0"/>
              <a:t>Size: Highly variable (0.5–10 Mb).</a:t>
            </a:r>
          </a:p>
          <a:p>
            <a:endParaRPr lang="en-US" sz="1400" dirty="0"/>
          </a:p>
          <a:p>
            <a:r>
              <a:rPr lang="en-US" sz="1400" dirty="0"/>
              <a:t>Assembly: Requires strain-level sequencing.</a:t>
            </a:r>
          </a:p>
          <a:p>
            <a:endParaRPr lang="en-US" sz="1400" dirty="0"/>
          </a:p>
          <a:p>
            <a:r>
              <a:rPr lang="en-US" sz="1400" dirty="0"/>
              <a:t>Classification: 16S rRNA gene as key marker.</a:t>
            </a:r>
            <a:endParaRPr lang="de-DE" sz="1400" dirty="0"/>
          </a:p>
        </p:txBody>
      </p:sp>
      <p:sp>
        <p:nvSpPr>
          <p:cNvPr id="11" name="TextBox 10">
            <a:extLst>
              <a:ext uri="{FF2B5EF4-FFF2-40B4-BE49-F238E27FC236}">
                <a16:creationId xmlns:a16="http://schemas.microsoft.com/office/drawing/2014/main" id="{99AD578E-A4FC-21CE-CEB5-64E64FF29595}"/>
              </a:ext>
            </a:extLst>
          </p:cNvPr>
          <p:cNvSpPr txBox="1"/>
          <p:nvPr/>
        </p:nvSpPr>
        <p:spPr>
          <a:xfrm>
            <a:off x="4489623" y="4446468"/>
            <a:ext cx="4466969" cy="523220"/>
          </a:xfrm>
          <a:prstGeom prst="rect">
            <a:avLst/>
          </a:prstGeom>
          <a:noFill/>
        </p:spPr>
        <p:txBody>
          <a:bodyPr wrap="square">
            <a:spAutoFit/>
          </a:bodyPr>
          <a:lstStyle/>
          <a:p>
            <a:pPr algn="l"/>
            <a:r>
              <a:rPr lang="de-DE" sz="1400" i="0" dirty="0" err="1">
                <a:solidFill>
                  <a:srgbClr val="0065BD"/>
                </a:solidFill>
                <a:effectLst/>
                <a:latin typeface="+mj-lt"/>
              </a:rPr>
              <a:t>Explore</a:t>
            </a:r>
            <a:r>
              <a:rPr lang="de-DE" sz="1400" i="0" dirty="0">
                <a:solidFill>
                  <a:srgbClr val="0065BD"/>
                </a:solidFill>
                <a:effectLst/>
                <a:latin typeface="+mj-lt"/>
              </a:rPr>
              <a:t> </a:t>
            </a:r>
            <a:r>
              <a:rPr lang="de-DE" sz="1400" i="0" dirty="0" err="1">
                <a:solidFill>
                  <a:srgbClr val="0065BD"/>
                </a:solidFill>
                <a:effectLst/>
                <a:latin typeface="+mj-lt"/>
              </a:rPr>
              <a:t>bacterial</a:t>
            </a:r>
            <a:r>
              <a:rPr lang="de-DE" sz="1400" i="0" dirty="0">
                <a:solidFill>
                  <a:srgbClr val="0065BD"/>
                </a:solidFill>
                <a:effectLst/>
                <a:latin typeface="+mj-lt"/>
              </a:rPr>
              <a:t> </a:t>
            </a:r>
            <a:r>
              <a:rPr lang="de-DE" sz="1400" i="0" dirty="0" err="1">
                <a:solidFill>
                  <a:srgbClr val="0065BD"/>
                </a:solidFill>
                <a:effectLst/>
                <a:latin typeface="+mj-lt"/>
              </a:rPr>
              <a:t>genomes</a:t>
            </a:r>
            <a:r>
              <a:rPr lang="de-DE" sz="1400" i="0" dirty="0">
                <a:solidFill>
                  <a:srgbClr val="0065BD"/>
                </a:solidFill>
                <a:effectLst/>
                <a:latin typeface="+mj-lt"/>
              </a:rPr>
              <a:t>:</a:t>
            </a:r>
            <a:br>
              <a:rPr lang="de-DE" sz="1400" dirty="0">
                <a:solidFill>
                  <a:srgbClr val="0065BD"/>
                </a:solidFill>
                <a:latin typeface="+mj-lt"/>
              </a:rPr>
            </a:br>
            <a:r>
              <a:rPr lang="de-DE" sz="1400" i="0" dirty="0">
                <a:solidFill>
                  <a:srgbClr val="0065BD"/>
                </a:solidFill>
                <a:effectLst/>
                <a:latin typeface="+mj-lt"/>
              </a:rPr>
              <a:t>🔗 </a:t>
            </a:r>
            <a:r>
              <a:rPr lang="de-DE" sz="1400" i="0" dirty="0" err="1">
                <a:solidFill>
                  <a:srgbClr val="0065BD"/>
                </a:solidFill>
                <a:effectLst/>
                <a:latin typeface="+mj-lt"/>
              </a:rPr>
              <a:t>MaGe</a:t>
            </a:r>
            <a:r>
              <a:rPr lang="de-DE" sz="1400" i="0" dirty="0">
                <a:solidFill>
                  <a:srgbClr val="0065BD"/>
                </a:solidFill>
                <a:effectLst/>
                <a:latin typeface="+mj-lt"/>
              </a:rPr>
              <a:t> </a:t>
            </a:r>
            <a:r>
              <a:rPr lang="de-DE" sz="1400" i="0" dirty="0" err="1">
                <a:solidFill>
                  <a:srgbClr val="0065BD"/>
                </a:solidFill>
                <a:effectLst/>
                <a:latin typeface="+mj-lt"/>
              </a:rPr>
              <a:t>platform</a:t>
            </a:r>
            <a:r>
              <a:rPr lang="de-DE" sz="1400" i="0" dirty="0">
                <a:solidFill>
                  <a:srgbClr val="0065BD"/>
                </a:solidFill>
                <a:effectLst/>
                <a:latin typeface="+mj-lt"/>
              </a:rPr>
              <a:t>: </a:t>
            </a:r>
            <a:r>
              <a:rPr lang="de-DE" sz="1400" i="0" u="none" strike="noStrike" dirty="0">
                <a:solidFill>
                  <a:srgbClr val="0065BD"/>
                </a:solidFill>
                <a:effectLst/>
                <a:latin typeface="+mj-lt"/>
                <a:hlinkClick r:id="rId4">
                  <a:extLst>
                    <a:ext uri="{A12FA001-AC4F-418D-AE19-62706E023703}">
                      <ahyp:hlinkClr xmlns:ahyp="http://schemas.microsoft.com/office/drawing/2018/hyperlinkcolor" val="tx"/>
                    </a:ext>
                  </a:extLst>
                </a:hlinkClick>
              </a:rPr>
              <a:t>https://mage.genoscope.cns.fr</a:t>
            </a:r>
            <a:endParaRPr lang="de-DE" sz="1400" dirty="0">
              <a:solidFill>
                <a:srgbClr val="0065BD"/>
              </a:solidFill>
              <a:latin typeface="+mj-lt"/>
            </a:endParaRPr>
          </a:p>
        </p:txBody>
      </p:sp>
    </p:spTree>
    <p:extLst>
      <p:ext uri="{BB962C8B-B14F-4D97-AF65-F5344CB8AC3E}">
        <p14:creationId xmlns:p14="http://schemas.microsoft.com/office/powerpoint/2010/main" val="2089087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F6FDD-98E5-D06B-27A2-0457FFCC7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E43C2-31A5-84FC-6D88-1821B4935771}"/>
              </a:ext>
            </a:extLst>
          </p:cNvPr>
          <p:cNvSpPr>
            <a:spLocks noGrp="1"/>
          </p:cNvSpPr>
          <p:nvPr>
            <p:ph type="title"/>
          </p:nvPr>
        </p:nvSpPr>
        <p:spPr>
          <a:xfrm>
            <a:off x="508000" y="253416"/>
            <a:ext cx="8128000" cy="601538"/>
          </a:xfrm>
        </p:spPr>
        <p:txBody>
          <a:bodyPr/>
          <a:lstStyle/>
          <a:p>
            <a:r>
              <a:rPr lang="de-DE" dirty="0"/>
              <a:t>16S rRNA </a:t>
            </a:r>
            <a:r>
              <a:rPr lang="de-DE" dirty="0" err="1"/>
              <a:t>gene</a:t>
            </a:r>
            <a:endParaRPr lang="de-DE" dirty="0"/>
          </a:p>
        </p:txBody>
      </p:sp>
      <p:sp>
        <p:nvSpPr>
          <p:cNvPr id="3" name="Content Placeholder 2">
            <a:extLst>
              <a:ext uri="{FF2B5EF4-FFF2-40B4-BE49-F238E27FC236}">
                <a16:creationId xmlns:a16="http://schemas.microsoft.com/office/drawing/2014/main" id="{A4FBF6DB-A2A4-51F1-CFF5-58FCD6ABE9C3}"/>
              </a:ext>
            </a:extLst>
          </p:cNvPr>
          <p:cNvSpPr>
            <a:spLocks noGrp="1"/>
          </p:cNvSpPr>
          <p:nvPr>
            <p:ph idx="1"/>
          </p:nvPr>
        </p:nvSpPr>
        <p:spPr>
          <a:xfrm>
            <a:off x="5022336" y="1193800"/>
            <a:ext cx="4003589" cy="4470400"/>
          </a:xfrm>
        </p:spPr>
        <p:txBody>
          <a:bodyPr/>
          <a:lstStyle/>
          <a:p>
            <a:pPr>
              <a:buFont typeface="Wingdings" panose="05000000000000000000" pitchFamily="2" charset="2"/>
              <a:buChar char="Ø"/>
            </a:pPr>
            <a:r>
              <a:rPr lang="de-DE" sz="1600" dirty="0"/>
              <a:t>Key Features:</a:t>
            </a:r>
          </a:p>
          <a:p>
            <a:endParaRPr lang="de-DE" b="1" i="0" dirty="0">
              <a:solidFill>
                <a:srgbClr val="404040"/>
              </a:solidFill>
              <a:effectLst/>
              <a:latin typeface="DeepSeek-CJK-patch"/>
            </a:endParaRPr>
          </a:p>
          <a:p>
            <a:pPr>
              <a:lnSpc>
                <a:spcPts val="2143"/>
              </a:lnSpc>
              <a:buFont typeface="Wingdings" panose="05000000000000000000" pitchFamily="2" charset="2"/>
              <a:buChar char="§"/>
            </a:pPr>
            <a:r>
              <a:rPr lang="en-US" sz="1400" dirty="0"/>
              <a:t>Highly conserved across all bacteria</a:t>
            </a:r>
          </a:p>
          <a:p>
            <a:pPr>
              <a:lnSpc>
                <a:spcPts val="2143"/>
              </a:lnSpc>
              <a:buFont typeface="Wingdings" panose="05000000000000000000" pitchFamily="2" charset="2"/>
              <a:buChar char="§"/>
            </a:pPr>
            <a:endParaRPr lang="en-US" sz="1400" dirty="0"/>
          </a:p>
          <a:p>
            <a:pPr>
              <a:lnSpc>
                <a:spcPts val="2143"/>
              </a:lnSpc>
              <a:buFont typeface="Wingdings" panose="05000000000000000000" pitchFamily="2" charset="2"/>
              <a:buChar char="§"/>
            </a:pPr>
            <a:r>
              <a:rPr lang="en-US" sz="1400" dirty="0"/>
              <a:t>Contains variable regions for species discrimination</a:t>
            </a:r>
          </a:p>
          <a:p>
            <a:pPr>
              <a:buFont typeface="Wingdings" panose="05000000000000000000" pitchFamily="2" charset="2"/>
              <a:buChar char="§"/>
            </a:pPr>
            <a:endParaRPr lang="de-DE" sz="1400" dirty="0"/>
          </a:p>
          <a:p>
            <a:pPr>
              <a:buFont typeface="Wingdings" panose="05000000000000000000" pitchFamily="2" charset="2"/>
              <a:buChar char="§"/>
            </a:pPr>
            <a:r>
              <a:rPr lang="en-US" sz="1400" dirty="0"/>
              <a:t>~1,500 bp length (9 hypervariable regions)</a:t>
            </a:r>
          </a:p>
          <a:p>
            <a:pPr>
              <a:buFont typeface="Wingdings" panose="05000000000000000000" pitchFamily="2" charset="2"/>
              <a:buChar char="§"/>
            </a:pPr>
            <a:endParaRPr lang="en-US" sz="1400" dirty="0"/>
          </a:p>
          <a:p>
            <a:pPr>
              <a:buFont typeface="Wingdings" panose="05000000000000000000" pitchFamily="2" charset="2"/>
              <a:buChar char="§"/>
            </a:pPr>
            <a:r>
              <a:rPr lang="en-US" sz="1400" dirty="0"/>
              <a:t>Slow evolutionary rate → stable for taxonomy</a:t>
            </a:r>
          </a:p>
          <a:p>
            <a:endParaRPr lang="de-DE" b="1" dirty="0">
              <a:solidFill>
                <a:srgbClr val="404040"/>
              </a:solidFill>
              <a:latin typeface="DeepSeek-CJK-patch"/>
            </a:endParaRPr>
          </a:p>
          <a:p>
            <a:endParaRPr lang="de-DE" b="1" dirty="0">
              <a:solidFill>
                <a:srgbClr val="404040"/>
              </a:solidFill>
              <a:latin typeface="DeepSeek-CJK-patch"/>
            </a:endParaRPr>
          </a:p>
        </p:txBody>
      </p:sp>
      <p:pic>
        <p:nvPicPr>
          <p:cNvPr id="6" name="Picture 5">
            <a:extLst>
              <a:ext uri="{FF2B5EF4-FFF2-40B4-BE49-F238E27FC236}">
                <a16:creationId xmlns:a16="http://schemas.microsoft.com/office/drawing/2014/main" id="{9C2DE4E8-18EF-E924-4AD3-68FC6368B856}"/>
              </a:ext>
            </a:extLst>
          </p:cNvPr>
          <p:cNvPicPr>
            <a:picLocks noChangeAspect="1"/>
          </p:cNvPicPr>
          <p:nvPr/>
        </p:nvPicPr>
        <p:blipFill>
          <a:blip r:embed="rId3"/>
          <a:stretch>
            <a:fillRect/>
          </a:stretch>
        </p:blipFill>
        <p:spPr>
          <a:xfrm>
            <a:off x="-8313" y="1828800"/>
            <a:ext cx="5148724" cy="2486098"/>
          </a:xfrm>
          <a:prstGeom prst="rect">
            <a:avLst/>
          </a:prstGeom>
        </p:spPr>
      </p:pic>
      <p:sp>
        <p:nvSpPr>
          <p:cNvPr id="8" name="TextBox 7">
            <a:extLst>
              <a:ext uri="{FF2B5EF4-FFF2-40B4-BE49-F238E27FC236}">
                <a16:creationId xmlns:a16="http://schemas.microsoft.com/office/drawing/2014/main" id="{B2902D9B-279A-F377-62FF-4CCB6CFE87FF}"/>
              </a:ext>
            </a:extLst>
          </p:cNvPr>
          <p:cNvSpPr txBox="1"/>
          <p:nvPr/>
        </p:nvSpPr>
        <p:spPr>
          <a:xfrm>
            <a:off x="1018746" y="4610842"/>
            <a:ext cx="4003590" cy="369332"/>
          </a:xfrm>
          <a:prstGeom prst="rect">
            <a:avLst/>
          </a:prstGeom>
          <a:noFill/>
        </p:spPr>
        <p:txBody>
          <a:bodyPr wrap="square">
            <a:spAutoFit/>
          </a:bodyPr>
          <a:lstStyle/>
          <a:p>
            <a:pPr algn="l"/>
            <a:r>
              <a:rPr lang="de-DE" sz="1800" dirty="0"/>
              <a:t> (Fukuda et al., 2016, J UOEH)</a:t>
            </a:r>
          </a:p>
        </p:txBody>
      </p:sp>
      <p:sp>
        <p:nvSpPr>
          <p:cNvPr id="9" name="Rectangle 8">
            <a:extLst>
              <a:ext uri="{FF2B5EF4-FFF2-40B4-BE49-F238E27FC236}">
                <a16:creationId xmlns:a16="http://schemas.microsoft.com/office/drawing/2014/main" id="{9AA6893F-AE57-DEA6-9337-4572E7485611}"/>
              </a:ext>
            </a:extLst>
          </p:cNvPr>
          <p:cNvSpPr/>
          <p:nvPr/>
        </p:nvSpPr>
        <p:spPr bwMode="auto">
          <a:xfrm>
            <a:off x="1738184" y="3319849"/>
            <a:ext cx="601363" cy="1087394"/>
          </a:xfrm>
          <a:prstGeom prst="rect">
            <a:avLst/>
          </a:prstGeom>
          <a:noFill/>
          <a:ln>
            <a:solidFill>
              <a:srgbClr val="0065BD"/>
            </a:solidFill>
            <a:prstDash val="sys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Tree>
    <p:extLst>
      <p:ext uri="{BB962C8B-B14F-4D97-AF65-F5344CB8AC3E}">
        <p14:creationId xmlns:p14="http://schemas.microsoft.com/office/powerpoint/2010/main" val="584785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8C9A-7E7A-40BB-C8EC-0196EA2A4855}"/>
              </a:ext>
            </a:extLst>
          </p:cNvPr>
          <p:cNvSpPr>
            <a:spLocks noGrp="1"/>
          </p:cNvSpPr>
          <p:nvPr>
            <p:ph type="title"/>
          </p:nvPr>
        </p:nvSpPr>
        <p:spPr>
          <a:xfrm>
            <a:off x="632455" y="261656"/>
            <a:ext cx="8128000" cy="601538"/>
          </a:xfrm>
        </p:spPr>
        <p:txBody>
          <a:bodyPr/>
          <a:lstStyle/>
          <a:p>
            <a:r>
              <a:rPr lang="de-DE" dirty="0"/>
              <a:t>16S rRNA </a:t>
            </a:r>
            <a:r>
              <a:rPr lang="de-DE" dirty="0" err="1"/>
              <a:t>gene</a:t>
            </a:r>
            <a:r>
              <a:rPr lang="de-DE" dirty="0"/>
              <a:t> </a:t>
            </a:r>
            <a:r>
              <a:rPr lang="de-DE" dirty="0" err="1"/>
              <a:t>amplicon</a:t>
            </a:r>
            <a:r>
              <a:rPr lang="de-DE" dirty="0"/>
              <a:t> </a:t>
            </a:r>
            <a:r>
              <a:rPr lang="de-DE" dirty="0" err="1"/>
              <a:t>sequencing</a:t>
            </a:r>
            <a:endParaRPr lang="de-DE" dirty="0"/>
          </a:p>
        </p:txBody>
      </p:sp>
      <p:pic>
        <p:nvPicPr>
          <p:cNvPr id="3076" name="Picture 4">
            <a:extLst>
              <a:ext uri="{FF2B5EF4-FFF2-40B4-BE49-F238E27FC236}">
                <a16:creationId xmlns:a16="http://schemas.microsoft.com/office/drawing/2014/main" id="{8CDA0C11-C1B1-21F1-B793-22BA1AEAD83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02508" y="1193800"/>
            <a:ext cx="4690117" cy="37786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93E5E7F-2459-2C58-3403-D92CB350C825}"/>
              </a:ext>
            </a:extLst>
          </p:cNvPr>
          <p:cNvSpPr txBox="1"/>
          <p:nvPr/>
        </p:nvSpPr>
        <p:spPr>
          <a:xfrm>
            <a:off x="610993" y="5294868"/>
            <a:ext cx="4473146" cy="369332"/>
          </a:xfrm>
          <a:prstGeom prst="rect">
            <a:avLst/>
          </a:prstGeom>
          <a:noFill/>
        </p:spPr>
        <p:txBody>
          <a:bodyPr wrap="square" rtlCol="0">
            <a:spAutoFit/>
          </a:bodyPr>
          <a:lstStyle/>
          <a:p>
            <a:r>
              <a:rPr lang="da-DK" sz="1800" dirty="0"/>
              <a:t>(Abellan-Schneyder et al., 2021,mSphere)</a:t>
            </a:r>
            <a:endParaRPr lang="de-DE" sz="1800" dirty="0"/>
          </a:p>
        </p:txBody>
      </p:sp>
      <p:sp>
        <p:nvSpPr>
          <p:cNvPr id="6" name="Content Placeholder 2">
            <a:extLst>
              <a:ext uri="{FF2B5EF4-FFF2-40B4-BE49-F238E27FC236}">
                <a16:creationId xmlns:a16="http://schemas.microsoft.com/office/drawing/2014/main" id="{7F37BF20-5FE1-6839-83B8-D6B4083882A0}"/>
              </a:ext>
            </a:extLst>
          </p:cNvPr>
          <p:cNvSpPr>
            <a:spLocks noGrp="1"/>
          </p:cNvSpPr>
          <p:nvPr>
            <p:ph idx="1"/>
          </p:nvPr>
        </p:nvSpPr>
        <p:spPr>
          <a:xfrm>
            <a:off x="5395784" y="1357185"/>
            <a:ext cx="3517558" cy="4470400"/>
          </a:xfrm>
        </p:spPr>
        <p:txBody>
          <a:bodyPr/>
          <a:lstStyle/>
          <a:p>
            <a:r>
              <a:rPr lang="en-US" sz="1800" dirty="0"/>
              <a:t>Typical Primers in Plant Root Microbiome Research</a:t>
            </a:r>
          </a:p>
          <a:p>
            <a:endParaRPr lang="en-US" sz="1800" dirty="0"/>
          </a:p>
          <a:p>
            <a:r>
              <a:rPr lang="en-US" dirty="0"/>
              <a:t>515F-806R</a:t>
            </a:r>
          </a:p>
          <a:p>
            <a:r>
              <a:rPr lang="de-DE" sz="1600" b="0" i="0" u="none" strike="noStrike" baseline="0" dirty="0">
                <a:latin typeface="HardingText-Regular"/>
              </a:rPr>
              <a:t>5′ GTGCCAGCMGCCGCGGTAA 3′</a:t>
            </a:r>
            <a:endParaRPr lang="en-US" sz="1600" b="0" i="0" u="none" strike="noStrike" baseline="0" dirty="0">
              <a:latin typeface="HardingText-Regular"/>
            </a:endParaRPr>
          </a:p>
          <a:p>
            <a:r>
              <a:rPr lang="de-DE" sz="1600" b="0" i="0" u="none" strike="noStrike" baseline="0" dirty="0">
                <a:latin typeface="HardingText-Regular"/>
              </a:rPr>
              <a:t>5′ GGACTACHVGGGTWTCTAAT 3′</a:t>
            </a:r>
            <a:endParaRPr lang="en-US" sz="1600" b="0" i="0" u="none" strike="noStrike" baseline="0" dirty="0">
              <a:latin typeface="HardingText-Regular"/>
            </a:endParaRPr>
          </a:p>
          <a:p>
            <a:pPr algn="l"/>
            <a:r>
              <a:rPr lang="de-DE" sz="1600" b="0" i="0" u="none" strike="noStrike" baseline="0" dirty="0" err="1">
                <a:latin typeface="HardingText-Regular"/>
              </a:rPr>
              <a:t>Amplification</a:t>
            </a:r>
            <a:r>
              <a:rPr lang="de-DE" sz="1600" b="0" i="0" u="none" strike="noStrike" baseline="0" dirty="0">
                <a:latin typeface="HardingText-Regular"/>
              </a:rPr>
              <a:t> </a:t>
            </a:r>
            <a:r>
              <a:rPr lang="de-DE" sz="1600" b="0" i="0" u="none" strike="noStrike" baseline="0" dirty="0" err="1">
                <a:latin typeface="HardingText-Regular"/>
              </a:rPr>
              <a:t>length</a:t>
            </a:r>
            <a:r>
              <a:rPr lang="de-DE" sz="1600" b="0" i="0" u="none" strike="noStrike" baseline="0" dirty="0">
                <a:latin typeface="HardingText-Regular"/>
              </a:rPr>
              <a:t> ~250bp</a:t>
            </a:r>
          </a:p>
          <a:p>
            <a:pPr marL="0" indent="0">
              <a:buNone/>
            </a:pPr>
            <a:endParaRPr lang="en-US" dirty="0"/>
          </a:p>
          <a:p>
            <a:r>
              <a:rPr lang="en-US" sz="1400" dirty="0"/>
              <a:t>OTU (Operational Taxonomic Unit)</a:t>
            </a:r>
          </a:p>
          <a:p>
            <a:endParaRPr lang="en-US" sz="1400" dirty="0"/>
          </a:p>
          <a:p>
            <a:r>
              <a:rPr lang="en-US" sz="1400" dirty="0">
                <a:solidFill>
                  <a:srgbClr val="0065BD"/>
                </a:solidFill>
              </a:rPr>
              <a:t>ASV (Amplicon Sequence Variant)</a:t>
            </a:r>
          </a:p>
          <a:p>
            <a:r>
              <a:rPr lang="en-US" sz="1050" dirty="0">
                <a:solidFill>
                  <a:srgbClr val="0065BD"/>
                </a:solidFill>
              </a:rPr>
              <a:t>A Higher-Resolution Alternative to OTU Clustering</a:t>
            </a:r>
            <a:endParaRPr lang="de-DE" sz="1050" dirty="0">
              <a:solidFill>
                <a:srgbClr val="0065BD"/>
              </a:solidFill>
            </a:endParaRPr>
          </a:p>
        </p:txBody>
      </p:sp>
    </p:spTree>
    <p:extLst>
      <p:ext uri="{BB962C8B-B14F-4D97-AF65-F5344CB8AC3E}">
        <p14:creationId xmlns:p14="http://schemas.microsoft.com/office/powerpoint/2010/main" val="29513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5CA55-B1ED-82DE-E609-14126F540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54C25-E597-8807-403F-BCE12186A9FF}"/>
              </a:ext>
            </a:extLst>
          </p:cNvPr>
          <p:cNvSpPr>
            <a:spLocks noGrp="1"/>
          </p:cNvSpPr>
          <p:nvPr>
            <p:ph type="title"/>
          </p:nvPr>
        </p:nvSpPr>
        <p:spPr>
          <a:xfrm>
            <a:off x="302941" y="261656"/>
            <a:ext cx="8128000" cy="601538"/>
          </a:xfrm>
        </p:spPr>
        <p:txBody>
          <a:bodyPr/>
          <a:lstStyle/>
          <a:p>
            <a:r>
              <a:rPr lang="de-DE" dirty="0"/>
              <a:t>16S rRNA </a:t>
            </a:r>
            <a:r>
              <a:rPr lang="de-DE" dirty="0" err="1"/>
              <a:t>gene</a:t>
            </a:r>
            <a:r>
              <a:rPr lang="de-DE" dirty="0"/>
              <a:t> </a:t>
            </a:r>
            <a:r>
              <a:rPr lang="de-DE" dirty="0" err="1"/>
              <a:t>amplicon</a:t>
            </a:r>
            <a:r>
              <a:rPr lang="de-DE" dirty="0"/>
              <a:t> </a:t>
            </a:r>
            <a:r>
              <a:rPr lang="de-DE" dirty="0" err="1"/>
              <a:t>sequencing</a:t>
            </a:r>
            <a:endParaRPr lang="de-DE" dirty="0"/>
          </a:p>
        </p:txBody>
      </p:sp>
      <p:sp>
        <p:nvSpPr>
          <p:cNvPr id="7" name="Content Placeholder 2">
            <a:extLst>
              <a:ext uri="{FF2B5EF4-FFF2-40B4-BE49-F238E27FC236}">
                <a16:creationId xmlns:a16="http://schemas.microsoft.com/office/drawing/2014/main" id="{E7692C93-D99B-BC02-7538-347B1B49C866}"/>
              </a:ext>
            </a:extLst>
          </p:cNvPr>
          <p:cNvSpPr>
            <a:spLocks noGrp="1"/>
          </p:cNvSpPr>
          <p:nvPr>
            <p:ph idx="1"/>
          </p:nvPr>
        </p:nvSpPr>
        <p:spPr>
          <a:xfrm>
            <a:off x="508000" y="1377995"/>
            <a:ext cx="8128000" cy="4236998"/>
          </a:xfrm>
        </p:spPr>
        <p:txBody>
          <a:bodyPr/>
          <a:lstStyle/>
          <a:p>
            <a:pPr marL="0" indent="0">
              <a:buNone/>
            </a:pPr>
            <a:r>
              <a:rPr lang="de-DE" dirty="0"/>
              <a:t>1. Understanding Raw </a:t>
            </a:r>
            <a:r>
              <a:rPr lang="de-DE" dirty="0" err="1"/>
              <a:t>Sequencing</a:t>
            </a:r>
            <a:r>
              <a:rPr lang="de-DE" dirty="0"/>
              <a:t> Data</a:t>
            </a:r>
          </a:p>
          <a:p>
            <a:pPr marL="0" indent="0">
              <a:lnSpc>
                <a:spcPct val="150000"/>
              </a:lnSpc>
              <a:buNone/>
            </a:pPr>
            <a:r>
              <a:rPr lang="de-DE" sz="1600" dirty="0" err="1">
                <a:solidFill>
                  <a:schemeClr val="bg1">
                    <a:lumMod val="50000"/>
                  </a:schemeClr>
                </a:solidFill>
              </a:rPr>
              <a:t>Assess</a:t>
            </a:r>
            <a:r>
              <a:rPr lang="de-DE" sz="1600" dirty="0">
                <a:solidFill>
                  <a:schemeClr val="bg1">
                    <a:lumMod val="50000"/>
                  </a:schemeClr>
                </a:solidFill>
              </a:rPr>
              <a:t> </a:t>
            </a:r>
            <a:r>
              <a:rPr lang="de-DE" sz="1600" dirty="0" err="1">
                <a:solidFill>
                  <a:schemeClr val="bg1">
                    <a:lumMod val="50000"/>
                  </a:schemeClr>
                </a:solidFill>
              </a:rPr>
              <a:t>sequencing</a:t>
            </a:r>
            <a:r>
              <a:rPr lang="de-DE" sz="1600" dirty="0">
                <a:solidFill>
                  <a:schemeClr val="bg1">
                    <a:lumMod val="50000"/>
                  </a:schemeClr>
                </a:solidFill>
              </a:rPr>
              <a:t> </a:t>
            </a:r>
            <a:r>
              <a:rPr lang="de-DE" sz="1600" dirty="0" err="1">
                <a:solidFill>
                  <a:schemeClr val="bg1">
                    <a:lumMod val="50000"/>
                  </a:schemeClr>
                </a:solidFill>
              </a:rPr>
              <a:t>quality</a:t>
            </a:r>
            <a:r>
              <a:rPr lang="de-DE" sz="1600" dirty="0">
                <a:solidFill>
                  <a:schemeClr val="bg1">
                    <a:lumMod val="50000"/>
                  </a:schemeClr>
                </a:solidFill>
              </a:rPr>
              <a:t> </a:t>
            </a:r>
            <a:r>
              <a:rPr lang="de-DE" sz="1600" dirty="0" err="1">
                <a:solidFill>
                  <a:schemeClr val="bg1">
                    <a:lumMod val="50000"/>
                  </a:schemeClr>
                </a:solidFill>
              </a:rPr>
              <a:t>using</a:t>
            </a:r>
            <a:r>
              <a:rPr lang="de-DE" sz="1600" dirty="0">
                <a:solidFill>
                  <a:schemeClr val="bg1">
                    <a:lumMod val="50000"/>
                  </a:schemeClr>
                </a:solidFill>
              </a:rPr>
              <a:t> </a:t>
            </a:r>
            <a:r>
              <a:rPr lang="de-DE" sz="1600" dirty="0" err="1">
                <a:solidFill>
                  <a:schemeClr val="bg1">
                    <a:lumMod val="50000"/>
                  </a:schemeClr>
                </a:solidFill>
              </a:rPr>
              <a:t>tools</a:t>
            </a:r>
            <a:r>
              <a:rPr lang="de-DE" sz="1600" dirty="0">
                <a:solidFill>
                  <a:schemeClr val="bg1">
                    <a:lumMod val="50000"/>
                  </a:schemeClr>
                </a:solidFill>
              </a:rPr>
              <a:t> like </a:t>
            </a:r>
            <a:r>
              <a:rPr lang="de-DE" sz="1600" dirty="0" err="1">
                <a:solidFill>
                  <a:schemeClr val="bg1">
                    <a:lumMod val="50000"/>
                  </a:schemeClr>
                </a:solidFill>
              </a:rPr>
              <a:t>FastQC</a:t>
            </a:r>
            <a:r>
              <a:rPr lang="de-DE" sz="1600" dirty="0">
                <a:solidFill>
                  <a:schemeClr val="bg1">
                    <a:lumMod val="50000"/>
                  </a:schemeClr>
                </a:solidFill>
              </a:rPr>
              <a:t> </a:t>
            </a:r>
            <a:r>
              <a:rPr lang="de-DE" sz="1600" dirty="0" err="1">
                <a:solidFill>
                  <a:schemeClr val="bg1">
                    <a:lumMod val="50000"/>
                  </a:schemeClr>
                </a:solidFill>
              </a:rPr>
              <a:t>or</a:t>
            </a:r>
            <a:r>
              <a:rPr lang="de-DE" sz="1600" dirty="0">
                <a:solidFill>
                  <a:schemeClr val="bg1">
                    <a:lumMod val="50000"/>
                  </a:schemeClr>
                </a:solidFill>
              </a:rPr>
              <a:t> </a:t>
            </a:r>
            <a:r>
              <a:rPr lang="de-DE" sz="1600" dirty="0" err="1">
                <a:solidFill>
                  <a:schemeClr val="bg1">
                    <a:lumMod val="50000"/>
                  </a:schemeClr>
                </a:solidFill>
              </a:rPr>
              <a:t>MultiQC</a:t>
            </a:r>
            <a:r>
              <a:rPr lang="de-DE" sz="1600" dirty="0">
                <a:solidFill>
                  <a:schemeClr val="bg1">
                    <a:lumMod val="50000"/>
                  </a:schemeClr>
                </a:solidFill>
              </a:rPr>
              <a:t>.</a:t>
            </a:r>
          </a:p>
          <a:p>
            <a:pPr marL="0" indent="0">
              <a:lnSpc>
                <a:spcPct val="150000"/>
              </a:lnSpc>
              <a:buNone/>
            </a:pPr>
            <a:endParaRPr lang="de-DE" sz="1000" dirty="0">
              <a:solidFill>
                <a:schemeClr val="bg1">
                  <a:lumMod val="50000"/>
                </a:schemeClr>
              </a:solidFill>
            </a:endParaRPr>
          </a:p>
          <a:p>
            <a:pPr marL="0" indent="0">
              <a:buNone/>
            </a:pPr>
            <a:r>
              <a:rPr lang="de-DE" dirty="0"/>
              <a:t>2. Reads Alignment / </a:t>
            </a:r>
            <a:r>
              <a:rPr lang="de-DE" dirty="0" err="1"/>
              <a:t>Denoising</a:t>
            </a:r>
            <a:endParaRPr lang="de-DE" dirty="0"/>
          </a:p>
          <a:p>
            <a:pPr marL="0" indent="0">
              <a:lnSpc>
                <a:spcPct val="150000"/>
              </a:lnSpc>
              <a:buNone/>
            </a:pPr>
            <a:r>
              <a:rPr lang="de-DE" sz="1600" dirty="0">
                <a:solidFill>
                  <a:schemeClr val="bg1">
                    <a:lumMod val="50000"/>
                  </a:schemeClr>
                </a:solidFill>
              </a:rPr>
              <a:t>Clean and </a:t>
            </a:r>
            <a:r>
              <a:rPr lang="de-DE" sz="1600" dirty="0" err="1">
                <a:solidFill>
                  <a:schemeClr val="bg1">
                    <a:lumMod val="50000"/>
                  </a:schemeClr>
                </a:solidFill>
              </a:rPr>
              <a:t>denoise</a:t>
            </a:r>
            <a:r>
              <a:rPr lang="de-DE" sz="1600" dirty="0">
                <a:solidFill>
                  <a:schemeClr val="bg1">
                    <a:lumMod val="50000"/>
                  </a:schemeClr>
                </a:solidFill>
              </a:rPr>
              <a:t> </a:t>
            </a:r>
            <a:r>
              <a:rPr lang="de-DE" sz="1600" dirty="0" err="1">
                <a:solidFill>
                  <a:schemeClr val="bg1">
                    <a:lumMod val="50000"/>
                  </a:schemeClr>
                </a:solidFill>
              </a:rPr>
              <a:t>reads</a:t>
            </a:r>
            <a:r>
              <a:rPr lang="de-DE" sz="1600" dirty="0">
                <a:solidFill>
                  <a:schemeClr val="bg1">
                    <a:lumMod val="50000"/>
                  </a:schemeClr>
                </a:solidFill>
              </a:rPr>
              <a:t> (e.g., via DADA2, </a:t>
            </a:r>
            <a:r>
              <a:rPr lang="de-DE" sz="1600" dirty="0" err="1">
                <a:solidFill>
                  <a:schemeClr val="bg1">
                    <a:lumMod val="50000"/>
                  </a:schemeClr>
                </a:solidFill>
              </a:rPr>
              <a:t>Deblur</a:t>
            </a:r>
            <a:r>
              <a:rPr lang="de-DE" sz="1600" dirty="0">
                <a:solidFill>
                  <a:schemeClr val="bg1">
                    <a:lumMod val="50000"/>
                  </a:schemeClr>
                </a:solidFill>
              </a:rPr>
              <a:t>) </a:t>
            </a:r>
            <a:r>
              <a:rPr lang="de-DE" sz="1600" dirty="0" err="1">
                <a:solidFill>
                  <a:schemeClr val="bg1">
                    <a:lumMod val="50000"/>
                  </a:schemeClr>
                </a:solidFill>
              </a:rPr>
              <a:t>or</a:t>
            </a:r>
            <a:r>
              <a:rPr lang="de-DE" sz="1600" dirty="0">
                <a:solidFill>
                  <a:schemeClr val="bg1">
                    <a:lumMod val="50000"/>
                  </a:schemeClr>
                </a:solidFill>
              </a:rPr>
              <a:t> </a:t>
            </a:r>
            <a:r>
              <a:rPr lang="de-DE" sz="1600" dirty="0" err="1">
                <a:solidFill>
                  <a:schemeClr val="bg1">
                    <a:lumMod val="50000"/>
                  </a:schemeClr>
                </a:solidFill>
              </a:rPr>
              <a:t>align</a:t>
            </a:r>
            <a:r>
              <a:rPr lang="de-DE" sz="1600" dirty="0">
                <a:solidFill>
                  <a:schemeClr val="bg1">
                    <a:lumMod val="50000"/>
                  </a:schemeClr>
                </a:solidFill>
              </a:rPr>
              <a:t> </a:t>
            </a:r>
            <a:r>
              <a:rPr lang="de-DE" sz="1600" dirty="0" err="1">
                <a:solidFill>
                  <a:schemeClr val="bg1">
                    <a:lumMod val="50000"/>
                  </a:schemeClr>
                </a:solidFill>
              </a:rPr>
              <a:t>to</a:t>
            </a:r>
            <a:r>
              <a:rPr lang="de-DE" sz="1600" dirty="0">
                <a:solidFill>
                  <a:schemeClr val="bg1">
                    <a:lumMod val="50000"/>
                  </a:schemeClr>
                </a:solidFill>
              </a:rPr>
              <a:t> </a:t>
            </a:r>
            <a:r>
              <a:rPr lang="de-DE" sz="1600" dirty="0" err="1">
                <a:solidFill>
                  <a:schemeClr val="bg1">
                    <a:lumMod val="50000"/>
                  </a:schemeClr>
                </a:solidFill>
              </a:rPr>
              <a:t>reference</a:t>
            </a:r>
            <a:r>
              <a:rPr lang="de-DE" sz="1600" dirty="0">
                <a:solidFill>
                  <a:schemeClr val="bg1">
                    <a:lumMod val="50000"/>
                  </a:schemeClr>
                </a:solidFill>
              </a:rPr>
              <a:t> </a:t>
            </a:r>
            <a:r>
              <a:rPr lang="de-DE" sz="1600" dirty="0" err="1">
                <a:solidFill>
                  <a:schemeClr val="bg1">
                    <a:lumMod val="50000"/>
                  </a:schemeClr>
                </a:solidFill>
              </a:rPr>
              <a:t>genomes</a:t>
            </a:r>
            <a:r>
              <a:rPr lang="de-DE" sz="1600" dirty="0">
                <a:solidFill>
                  <a:schemeClr val="bg1">
                    <a:lumMod val="50000"/>
                  </a:schemeClr>
                </a:solidFill>
              </a:rPr>
              <a:t>.</a:t>
            </a:r>
          </a:p>
          <a:p>
            <a:pPr marL="0" indent="0">
              <a:buNone/>
            </a:pPr>
            <a:endParaRPr lang="de-DE" sz="1000" dirty="0">
              <a:solidFill>
                <a:schemeClr val="bg1">
                  <a:lumMod val="50000"/>
                </a:schemeClr>
              </a:solidFill>
            </a:endParaRPr>
          </a:p>
          <a:p>
            <a:pPr marL="0" indent="0">
              <a:buNone/>
            </a:pPr>
            <a:r>
              <a:rPr lang="de-DE" dirty="0"/>
              <a:t>3. </a:t>
            </a:r>
            <a:r>
              <a:rPr lang="de-DE" dirty="0" err="1"/>
              <a:t>Taxonomic</a:t>
            </a:r>
            <a:r>
              <a:rPr lang="de-DE" dirty="0"/>
              <a:t> Classification</a:t>
            </a:r>
          </a:p>
          <a:p>
            <a:pPr marL="0" indent="0">
              <a:lnSpc>
                <a:spcPct val="150000"/>
              </a:lnSpc>
              <a:buNone/>
            </a:pPr>
            <a:r>
              <a:rPr lang="de-DE" sz="1600" dirty="0" err="1">
                <a:solidFill>
                  <a:schemeClr val="bg1">
                    <a:lumMod val="50000"/>
                  </a:schemeClr>
                </a:solidFill>
              </a:rPr>
              <a:t>Assign</a:t>
            </a:r>
            <a:r>
              <a:rPr lang="de-DE" sz="1600" dirty="0">
                <a:solidFill>
                  <a:schemeClr val="bg1">
                    <a:lumMod val="50000"/>
                  </a:schemeClr>
                </a:solidFill>
              </a:rPr>
              <a:t> </a:t>
            </a:r>
            <a:r>
              <a:rPr lang="de-DE" sz="1600" dirty="0" err="1">
                <a:solidFill>
                  <a:schemeClr val="bg1">
                    <a:lumMod val="50000"/>
                  </a:schemeClr>
                </a:solidFill>
              </a:rPr>
              <a:t>taxonomy</a:t>
            </a:r>
            <a:r>
              <a:rPr lang="de-DE" sz="1600" dirty="0">
                <a:solidFill>
                  <a:schemeClr val="bg1">
                    <a:lumMod val="50000"/>
                  </a:schemeClr>
                </a:solidFill>
              </a:rPr>
              <a:t> </a:t>
            </a:r>
            <a:r>
              <a:rPr lang="de-DE" sz="1600" dirty="0" err="1">
                <a:solidFill>
                  <a:schemeClr val="bg1">
                    <a:lumMod val="50000"/>
                  </a:schemeClr>
                </a:solidFill>
              </a:rPr>
              <a:t>using</a:t>
            </a:r>
            <a:r>
              <a:rPr lang="de-DE" sz="1600" dirty="0">
                <a:solidFill>
                  <a:schemeClr val="bg1">
                    <a:lumMod val="50000"/>
                  </a:schemeClr>
                </a:solidFill>
              </a:rPr>
              <a:t> </a:t>
            </a:r>
            <a:r>
              <a:rPr lang="de-DE" sz="1600" dirty="0" err="1">
                <a:solidFill>
                  <a:schemeClr val="bg1">
                    <a:lumMod val="50000"/>
                  </a:schemeClr>
                </a:solidFill>
              </a:rPr>
              <a:t>reference</a:t>
            </a:r>
            <a:r>
              <a:rPr lang="de-DE" sz="1600" dirty="0">
                <a:solidFill>
                  <a:schemeClr val="bg1">
                    <a:lumMod val="50000"/>
                  </a:schemeClr>
                </a:solidFill>
              </a:rPr>
              <a:t> </a:t>
            </a:r>
            <a:r>
              <a:rPr lang="de-DE" sz="1600" dirty="0" err="1">
                <a:solidFill>
                  <a:schemeClr val="bg1">
                    <a:lumMod val="50000"/>
                  </a:schemeClr>
                </a:solidFill>
              </a:rPr>
              <a:t>databases</a:t>
            </a:r>
            <a:r>
              <a:rPr lang="de-DE" sz="1600" dirty="0">
                <a:solidFill>
                  <a:schemeClr val="bg1">
                    <a:lumMod val="50000"/>
                  </a:schemeClr>
                </a:solidFill>
              </a:rPr>
              <a:t> (e.g., SILVA, </a:t>
            </a:r>
            <a:r>
              <a:rPr lang="de-DE" sz="1600" dirty="0" err="1">
                <a:solidFill>
                  <a:schemeClr val="bg1">
                    <a:lumMod val="50000"/>
                  </a:schemeClr>
                </a:solidFill>
              </a:rPr>
              <a:t>Greengenes</a:t>
            </a:r>
            <a:r>
              <a:rPr lang="de-DE" sz="1600" dirty="0">
                <a:solidFill>
                  <a:schemeClr val="bg1">
                    <a:lumMod val="50000"/>
                  </a:schemeClr>
                </a:solidFill>
              </a:rPr>
              <a:t>).</a:t>
            </a:r>
          </a:p>
          <a:p>
            <a:pPr marL="0" indent="0">
              <a:lnSpc>
                <a:spcPct val="150000"/>
              </a:lnSpc>
              <a:buNone/>
            </a:pPr>
            <a:endParaRPr lang="de-DE" sz="1000" dirty="0">
              <a:solidFill>
                <a:schemeClr val="bg1">
                  <a:lumMod val="50000"/>
                </a:schemeClr>
              </a:solidFill>
            </a:endParaRPr>
          </a:p>
          <a:p>
            <a:pPr marL="0" indent="0">
              <a:lnSpc>
                <a:spcPct val="150000"/>
              </a:lnSpc>
              <a:buNone/>
            </a:pPr>
            <a:r>
              <a:rPr lang="de-DE" dirty="0"/>
              <a:t>4. </a:t>
            </a:r>
            <a:r>
              <a:rPr lang="de-DE" dirty="0" err="1"/>
              <a:t>Quantification</a:t>
            </a:r>
            <a:r>
              <a:rPr lang="de-DE" dirty="0"/>
              <a:t> </a:t>
            </a:r>
          </a:p>
          <a:p>
            <a:pPr marL="0" indent="0">
              <a:lnSpc>
                <a:spcPct val="150000"/>
              </a:lnSpc>
              <a:buNone/>
            </a:pPr>
            <a:r>
              <a:rPr lang="de-DE" sz="1600" dirty="0">
                <a:solidFill>
                  <a:schemeClr val="bg1">
                    <a:lumMod val="50000"/>
                  </a:schemeClr>
                </a:solidFill>
              </a:rPr>
              <a:t>Generate </a:t>
            </a:r>
            <a:r>
              <a:rPr lang="de-DE" sz="1600" dirty="0" err="1">
                <a:solidFill>
                  <a:schemeClr val="bg1">
                    <a:lumMod val="50000"/>
                  </a:schemeClr>
                </a:solidFill>
              </a:rPr>
              <a:t>abundance</a:t>
            </a:r>
            <a:r>
              <a:rPr lang="de-DE" sz="1600" dirty="0">
                <a:solidFill>
                  <a:schemeClr val="bg1">
                    <a:lumMod val="50000"/>
                  </a:schemeClr>
                </a:solidFill>
              </a:rPr>
              <a:t> </a:t>
            </a:r>
            <a:r>
              <a:rPr lang="de-DE" sz="1600" dirty="0" err="1">
                <a:solidFill>
                  <a:schemeClr val="bg1">
                    <a:lumMod val="50000"/>
                  </a:schemeClr>
                </a:solidFill>
              </a:rPr>
              <a:t>tables</a:t>
            </a:r>
            <a:r>
              <a:rPr lang="de-DE" sz="1600" dirty="0">
                <a:solidFill>
                  <a:schemeClr val="bg1">
                    <a:lumMod val="50000"/>
                  </a:schemeClr>
                </a:solidFill>
              </a:rPr>
              <a:t> </a:t>
            </a:r>
            <a:r>
              <a:rPr lang="de-DE" sz="1600" dirty="0" err="1">
                <a:solidFill>
                  <a:schemeClr val="bg1">
                    <a:lumMod val="50000"/>
                  </a:schemeClr>
                </a:solidFill>
              </a:rPr>
              <a:t>for</a:t>
            </a:r>
            <a:r>
              <a:rPr lang="de-DE" sz="1600" dirty="0">
                <a:solidFill>
                  <a:schemeClr val="bg1">
                    <a:lumMod val="50000"/>
                  </a:schemeClr>
                </a:solidFill>
              </a:rPr>
              <a:t> </a:t>
            </a:r>
            <a:r>
              <a:rPr lang="de-DE" sz="1600" dirty="0" err="1">
                <a:solidFill>
                  <a:schemeClr val="bg1">
                    <a:lumMod val="50000"/>
                  </a:schemeClr>
                </a:solidFill>
              </a:rPr>
              <a:t>taxa</a:t>
            </a:r>
            <a:r>
              <a:rPr lang="de-DE" sz="1600" dirty="0">
                <a:solidFill>
                  <a:schemeClr val="bg1">
                    <a:lumMod val="50000"/>
                  </a:schemeClr>
                </a:solidFill>
              </a:rPr>
              <a:t> </a:t>
            </a:r>
            <a:r>
              <a:rPr lang="de-DE" sz="1600" dirty="0" err="1">
                <a:solidFill>
                  <a:schemeClr val="bg1">
                    <a:lumMod val="50000"/>
                  </a:schemeClr>
                </a:solidFill>
              </a:rPr>
              <a:t>or</a:t>
            </a:r>
            <a:r>
              <a:rPr lang="de-DE" sz="1600" dirty="0">
                <a:solidFill>
                  <a:schemeClr val="bg1">
                    <a:lumMod val="50000"/>
                  </a:schemeClr>
                </a:solidFill>
              </a:rPr>
              <a:t> </a:t>
            </a:r>
            <a:r>
              <a:rPr lang="de-DE" sz="1600" dirty="0" err="1">
                <a:solidFill>
                  <a:schemeClr val="bg1">
                    <a:lumMod val="50000"/>
                  </a:schemeClr>
                </a:solidFill>
              </a:rPr>
              <a:t>functional</a:t>
            </a:r>
            <a:r>
              <a:rPr lang="de-DE" sz="1600" dirty="0">
                <a:solidFill>
                  <a:schemeClr val="bg1">
                    <a:lumMod val="50000"/>
                  </a:schemeClr>
                </a:solidFill>
              </a:rPr>
              <a:t> genes.</a:t>
            </a:r>
          </a:p>
        </p:txBody>
      </p:sp>
    </p:spTree>
    <p:extLst>
      <p:ext uri="{BB962C8B-B14F-4D97-AF65-F5344CB8AC3E}">
        <p14:creationId xmlns:p14="http://schemas.microsoft.com/office/powerpoint/2010/main" val="511193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DF61-5253-6F5F-C016-D705E4BFF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5041A-C030-8216-0828-5E38F45D431E}"/>
              </a:ext>
            </a:extLst>
          </p:cNvPr>
          <p:cNvSpPr>
            <a:spLocks noGrp="1"/>
          </p:cNvSpPr>
          <p:nvPr>
            <p:ph type="title"/>
          </p:nvPr>
        </p:nvSpPr>
        <p:spPr>
          <a:xfrm>
            <a:off x="632455" y="236940"/>
            <a:ext cx="8128000" cy="601538"/>
          </a:xfrm>
        </p:spPr>
        <p:txBody>
          <a:bodyPr/>
          <a:lstStyle/>
          <a:p>
            <a:r>
              <a:rPr lang="en-US" dirty="0"/>
              <a:t>Preparation for the upcoming exercises</a:t>
            </a:r>
            <a:endParaRPr lang="de-DE" dirty="0"/>
          </a:p>
        </p:txBody>
      </p:sp>
      <p:sp>
        <p:nvSpPr>
          <p:cNvPr id="6" name="Rectangle 3">
            <a:extLst>
              <a:ext uri="{FF2B5EF4-FFF2-40B4-BE49-F238E27FC236}">
                <a16:creationId xmlns:a16="http://schemas.microsoft.com/office/drawing/2014/main" id="{A32B6654-EA44-90BD-C805-DD3D83525032}"/>
              </a:ext>
            </a:extLst>
          </p:cNvPr>
          <p:cNvSpPr txBox="1">
            <a:spLocks noChangeArrowheads="1"/>
          </p:cNvSpPr>
          <p:nvPr/>
        </p:nvSpPr>
        <p:spPr>
          <a:xfrm>
            <a:off x="2931519" y="1836342"/>
            <a:ext cx="3994641" cy="1752600"/>
          </a:xfrm>
          <a:prstGeom prst="rect">
            <a:avLst/>
          </a:prstGeom>
        </p:spPr>
        <p:txBody>
          <a:bodyPr/>
          <a:lstStyle>
            <a:lvl1pPr marL="266700" indent="-266700" algn="l" rtl="0" eaLnBrk="0" fontAlgn="base" hangingPunct="0">
              <a:spcBef>
                <a:spcPct val="20000"/>
              </a:spcBef>
              <a:spcAft>
                <a:spcPct val="0"/>
              </a:spcAft>
              <a:buClr>
                <a:schemeClr val="tx2"/>
              </a:buClr>
              <a:buFont typeface="Wingdings" charset="2"/>
              <a:buChar char="§"/>
              <a:defRPr sz="2000" b="0">
                <a:solidFill>
                  <a:schemeClr val="tx1"/>
                </a:solidFill>
                <a:latin typeface="+mn-lt"/>
                <a:ea typeface="ＭＳ Ｐゴシック" pitchFamily="-65" charset="-128"/>
                <a:cs typeface="ＭＳ Ｐゴシック" pitchFamily="18" charset="-128"/>
              </a:defRPr>
            </a:lvl1pPr>
            <a:lvl2pPr marL="534988" indent="-268288"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2pPr>
            <a:lvl3pPr marL="801688"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3pPr>
            <a:lvl4pPr marL="1079500" indent="-277813"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4pPr>
            <a:lvl5pPr marL="1346200"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5pPr>
            <a:lvl6pPr marL="2438400" indent="-228600" algn="l" rtl="0" eaLnBrk="1" fontAlgn="base" hangingPunct="1">
              <a:spcBef>
                <a:spcPct val="20000"/>
              </a:spcBef>
              <a:spcAft>
                <a:spcPct val="0"/>
              </a:spcAft>
              <a:buChar char="»"/>
              <a:defRPr sz="1400">
                <a:solidFill>
                  <a:schemeClr val="tx1"/>
                </a:solidFill>
                <a:latin typeface="+mn-lt"/>
              </a:defRPr>
            </a:lvl6pPr>
            <a:lvl7pPr marL="2895600" indent="-228600" algn="l" rtl="0" eaLnBrk="1" fontAlgn="base" hangingPunct="1">
              <a:spcBef>
                <a:spcPct val="20000"/>
              </a:spcBef>
              <a:spcAft>
                <a:spcPct val="0"/>
              </a:spcAft>
              <a:buChar char="»"/>
              <a:defRPr sz="1400">
                <a:solidFill>
                  <a:schemeClr val="tx1"/>
                </a:solidFill>
                <a:latin typeface="+mn-lt"/>
              </a:defRPr>
            </a:lvl7pPr>
            <a:lvl8pPr marL="3352800" indent="-228600" algn="l" rtl="0" eaLnBrk="1" fontAlgn="base" hangingPunct="1">
              <a:spcBef>
                <a:spcPct val="20000"/>
              </a:spcBef>
              <a:spcAft>
                <a:spcPct val="0"/>
              </a:spcAft>
              <a:buChar char="»"/>
              <a:defRPr sz="1400">
                <a:solidFill>
                  <a:schemeClr val="tx1"/>
                </a:solidFill>
                <a:latin typeface="+mn-lt"/>
              </a:defRPr>
            </a:lvl8pPr>
            <a:lvl9pPr marL="3810000" indent="-228600" algn="l" rtl="0" eaLnBrk="1" fontAlgn="base" hangingPunct="1">
              <a:spcBef>
                <a:spcPct val="20000"/>
              </a:spcBef>
              <a:spcAft>
                <a:spcPct val="0"/>
              </a:spcAft>
              <a:buChar char="»"/>
              <a:defRPr sz="1400">
                <a:solidFill>
                  <a:schemeClr val="tx1"/>
                </a:solidFill>
                <a:latin typeface="+mn-lt"/>
              </a:defRPr>
            </a:lvl9pPr>
          </a:lstStyle>
          <a:p>
            <a:pPr eaLnBrk="1" hangingPunct="1"/>
            <a:r>
              <a:rPr lang="de-DE" sz="2800" kern="0" dirty="0">
                <a:latin typeface="Arial" charset="0"/>
                <a:ea typeface="ＭＳ Ｐゴシック" charset="0"/>
                <a:cs typeface="ＭＳ Ｐゴシック" charset="0"/>
              </a:rPr>
              <a:t>References</a:t>
            </a:r>
          </a:p>
          <a:p>
            <a:pPr eaLnBrk="1" hangingPunct="1"/>
            <a:r>
              <a:rPr lang="de-DE" sz="2800" kern="0" dirty="0">
                <a:latin typeface="Arial" charset="0"/>
                <a:ea typeface="ＭＳ Ｐゴシック" charset="0"/>
                <a:cs typeface="ＭＳ Ｐゴシック" charset="0"/>
              </a:rPr>
              <a:t>Test </a:t>
            </a:r>
            <a:r>
              <a:rPr lang="de-DE" sz="2800" kern="0" dirty="0" err="1">
                <a:latin typeface="Arial" charset="0"/>
                <a:ea typeface="ＭＳ Ｐゴシック" charset="0"/>
                <a:cs typeface="ＭＳ Ｐゴシック" charset="0"/>
              </a:rPr>
              <a:t>datasets</a:t>
            </a:r>
            <a:endParaRPr lang="de-DE" sz="2800" kern="0" dirty="0">
              <a:latin typeface="Arial" charset="0"/>
              <a:ea typeface="ＭＳ Ｐゴシック" charset="0"/>
              <a:cs typeface="ＭＳ Ｐゴシック" charset="0"/>
            </a:endParaRPr>
          </a:p>
          <a:p>
            <a:pPr eaLnBrk="1" hangingPunct="1"/>
            <a:r>
              <a:rPr lang="de-DE" sz="2800" kern="0" dirty="0">
                <a:latin typeface="Arial" charset="0"/>
                <a:ea typeface="ＭＳ Ｐゴシック" charset="0"/>
                <a:cs typeface="ＭＳ Ｐゴシック" charset="0"/>
              </a:rPr>
              <a:t>Softwares</a:t>
            </a:r>
            <a:endParaRPr lang="en-US" sz="2800" kern="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2119510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ABF3F-8659-2360-417E-FF22506B0C5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5355A93-3721-157E-F59D-15AA9EF562F8}"/>
              </a:ext>
            </a:extLst>
          </p:cNvPr>
          <p:cNvSpPr txBox="1"/>
          <p:nvPr/>
        </p:nvSpPr>
        <p:spPr>
          <a:xfrm>
            <a:off x="589315" y="4716160"/>
            <a:ext cx="1326292" cy="400110"/>
          </a:xfrm>
          <a:prstGeom prst="rect">
            <a:avLst/>
          </a:prstGeom>
          <a:noFill/>
        </p:spPr>
        <p:txBody>
          <a:bodyPr wrap="square" rtlCol="0">
            <a:spAutoFit/>
          </a:bodyPr>
          <a:lstStyle/>
          <a:p>
            <a:pPr marL="342900" indent="-342900">
              <a:buFont typeface="Wingdings" panose="05000000000000000000" pitchFamily="2" charset="2"/>
              <a:buChar char="Ø"/>
            </a:pPr>
            <a:r>
              <a:rPr lang="de-DE" dirty="0"/>
              <a:t>1</a:t>
            </a:r>
          </a:p>
        </p:txBody>
      </p:sp>
      <p:pic>
        <p:nvPicPr>
          <p:cNvPr id="7" name="Picture 6">
            <a:extLst>
              <a:ext uri="{FF2B5EF4-FFF2-40B4-BE49-F238E27FC236}">
                <a16:creationId xmlns:a16="http://schemas.microsoft.com/office/drawing/2014/main" id="{51938AE2-64F5-F9B0-11F7-DD3D43BF9914}"/>
              </a:ext>
            </a:extLst>
          </p:cNvPr>
          <p:cNvPicPr>
            <a:picLocks noChangeAspect="1"/>
          </p:cNvPicPr>
          <p:nvPr/>
        </p:nvPicPr>
        <p:blipFill>
          <a:blip r:embed="rId2"/>
          <a:stretch>
            <a:fillRect/>
          </a:stretch>
        </p:blipFill>
        <p:spPr>
          <a:xfrm>
            <a:off x="1692876" y="3477960"/>
            <a:ext cx="5791199" cy="2702169"/>
          </a:xfrm>
          <a:prstGeom prst="rect">
            <a:avLst/>
          </a:prstGeom>
        </p:spPr>
      </p:pic>
      <p:sp>
        <p:nvSpPr>
          <p:cNvPr id="8" name="TextBox 7">
            <a:extLst>
              <a:ext uri="{FF2B5EF4-FFF2-40B4-BE49-F238E27FC236}">
                <a16:creationId xmlns:a16="http://schemas.microsoft.com/office/drawing/2014/main" id="{62A13EE5-D6DA-879D-A98D-899BB4F94B1F}"/>
              </a:ext>
            </a:extLst>
          </p:cNvPr>
          <p:cNvSpPr txBox="1"/>
          <p:nvPr/>
        </p:nvSpPr>
        <p:spPr>
          <a:xfrm>
            <a:off x="535769" y="2001794"/>
            <a:ext cx="1326292" cy="400110"/>
          </a:xfrm>
          <a:prstGeom prst="rect">
            <a:avLst/>
          </a:prstGeom>
          <a:noFill/>
        </p:spPr>
        <p:txBody>
          <a:bodyPr wrap="square" rtlCol="0">
            <a:spAutoFit/>
          </a:bodyPr>
          <a:lstStyle/>
          <a:p>
            <a:pPr marL="342900" indent="-342900">
              <a:buFont typeface="Wingdings" panose="05000000000000000000" pitchFamily="2" charset="2"/>
              <a:buChar char="Ø"/>
            </a:pPr>
            <a:r>
              <a:rPr lang="de-DE" dirty="0"/>
              <a:t>1</a:t>
            </a:r>
          </a:p>
        </p:txBody>
      </p:sp>
      <p:sp>
        <p:nvSpPr>
          <p:cNvPr id="2" name="Title 1">
            <a:extLst>
              <a:ext uri="{FF2B5EF4-FFF2-40B4-BE49-F238E27FC236}">
                <a16:creationId xmlns:a16="http://schemas.microsoft.com/office/drawing/2014/main" id="{AB4E26B9-7E20-3476-813D-B8A60A4F6808}"/>
              </a:ext>
            </a:extLst>
          </p:cNvPr>
          <p:cNvSpPr>
            <a:spLocks noGrp="1"/>
          </p:cNvSpPr>
          <p:nvPr>
            <p:ph type="title"/>
          </p:nvPr>
        </p:nvSpPr>
        <p:spPr>
          <a:xfrm>
            <a:off x="632455" y="236940"/>
            <a:ext cx="8128000" cy="601538"/>
          </a:xfrm>
        </p:spPr>
        <p:txBody>
          <a:bodyPr/>
          <a:lstStyle/>
          <a:p>
            <a:r>
              <a:rPr lang="de-DE" dirty="0"/>
              <a:t>References</a:t>
            </a:r>
          </a:p>
        </p:txBody>
      </p:sp>
      <p:pic>
        <p:nvPicPr>
          <p:cNvPr id="5" name="Picture 4">
            <a:extLst>
              <a:ext uri="{FF2B5EF4-FFF2-40B4-BE49-F238E27FC236}">
                <a16:creationId xmlns:a16="http://schemas.microsoft.com/office/drawing/2014/main" id="{2DFCD1F9-7A7C-76AC-07E8-E2A412F3DCC8}"/>
              </a:ext>
            </a:extLst>
          </p:cNvPr>
          <p:cNvPicPr>
            <a:picLocks noChangeAspect="1"/>
          </p:cNvPicPr>
          <p:nvPr/>
        </p:nvPicPr>
        <p:blipFill>
          <a:blip r:embed="rId3"/>
          <a:stretch>
            <a:fillRect/>
          </a:stretch>
        </p:blipFill>
        <p:spPr>
          <a:xfrm>
            <a:off x="1676400" y="982656"/>
            <a:ext cx="5791199" cy="2302897"/>
          </a:xfrm>
          <a:prstGeom prst="rect">
            <a:avLst/>
          </a:prstGeom>
        </p:spPr>
      </p:pic>
    </p:spTree>
    <p:extLst>
      <p:ext uri="{BB962C8B-B14F-4D97-AF65-F5344CB8AC3E}">
        <p14:creationId xmlns:p14="http://schemas.microsoft.com/office/powerpoint/2010/main" val="43412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F63F7-19F9-12A2-BBFC-1158FF904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AC27A-87DB-C17A-480D-A6307159F5E8}"/>
              </a:ext>
            </a:extLst>
          </p:cNvPr>
          <p:cNvSpPr>
            <a:spLocks noGrp="1"/>
          </p:cNvSpPr>
          <p:nvPr>
            <p:ph type="title"/>
          </p:nvPr>
        </p:nvSpPr>
        <p:spPr>
          <a:xfrm>
            <a:off x="632455" y="236940"/>
            <a:ext cx="8128000" cy="601538"/>
          </a:xfrm>
        </p:spPr>
        <p:txBody>
          <a:bodyPr/>
          <a:lstStyle/>
          <a:p>
            <a:r>
              <a:rPr lang="de-DE" dirty="0"/>
              <a:t>Test </a:t>
            </a:r>
            <a:r>
              <a:rPr lang="de-DE" dirty="0" err="1"/>
              <a:t>datasets</a:t>
            </a:r>
            <a:endParaRPr lang="de-DE" dirty="0"/>
          </a:p>
        </p:txBody>
      </p:sp>
      <p:graphicFrame>
        <p:nvGraphicFramePr>
          <p:cNvPr id="5" name="Table 4">
            <a:extLst>
              <a:ext uri="{FF2B5EF4-FFF2-40B4-BE49-F238E27FC236}">
                <a16:creationId xmlns:a16="http://schemas.microsoft.com/office/drawing/2014/main" id="{8C97CB23-7427-F10D-69C2-6E4273E9C1FC}"/>
              </a:ext>
            </a:extLst>
          </p:cNvPr>
          <p:cNvGraphicFramePr>
            <a:graphicFrameLocks noGrp="1"/>
          </p:cNvGraphicFramePr>
          <p:nvPr>
            <p:extLst>
              <p:ext uri="{D42A27DB-BD31-4B8C-83A1-F6EECF244321}">
                <p14:modId xmlns:p14="http://schemas.microsoft.com/office/powerpoint/2010/main" val="1000925470"/>
              </p:ext>
            </p:extLst>
          </p:nvPr>
        </p:nvGraphicFramePr>
        <p:xfrm>
          <a:off x="632455" y="1010973"/>
          <a:ext cx="7912962" cy="5075419"/>
        </p:xfrm>
        <a:graphic>
          <a:graphicData uri="http://schemas.openxmlformats.org/drawingml/2006/table">
            <a:tbl>
              <a:tblPr firstRow="1" bandRow="1">
                <a:tableStyleId>{F5AB1C69-6EDB-4FF4-983F-18BD219EF322}</a:tableStyleId>
              </a:tblPr>
              <a:tblGrid>
                <a:gridCol w="3589378">
                  <a:extLst>
                    <a:ext uri="{9D8B030D-6E8A-4147-A177-3AD203B41FA5}">
                      <a16:colId xmlns:a16="http://schemas.microsoft.com/office/drawing/2014/main" val="3413571007"/>
                    </a:ext>
                  </a:extLst>
                </a:gridCol>
                <a:gridCol w="4323584">
                  <a:extLst>
                    <a:ext uri="{9D8B030D-6E8A-4147-A177-3AD203B41FA5}">
                      <a16:colId xmlns:a16="http://schemas.microsoft.com/office/drawing/2014/main" val="1491882844"/>
                    </a:ext>
                  </a:extLst>
                </a:gridCol>
              </a:tblGrid>
              <a:tr h="338831">
                <a:tc>
                  <a:txBody>
                    <a:bodyPr/>
                    <a:lstStyle/>
                    <a:p>
                      <a:r>
                        <a:rPr lang="de-DE" dirty="0"/>
                        <a:t>Data type</a:t>
                      </a:r>
                    </a:p>
                  </a:txBody>
                  <a:tcPr/>
                </a:tc>
                <a:tc>
                  <a:txBody>
                    <a:bodyPr/>
                    <a:lstStyle/>
                    <a:p>
                      <a:r>
                        <a:rPr lang="de-DE" dirty="0"/>
                        <a:t>Download link</a:t>
                      </a:r>
                    </a:p>
                  </a:txBody>
                  <a:tcPr/>
                </a:tc>
                <a:extLst>
                  <a:ext uri="{0D108BD9-81ED-4DB2-BD59-A6C34878D82A}">
                    <a16:rowId xmlns:a16="http://schemas.microsoft.com/office/drawing/2014/main" val="195658539"/>
                  </a:ext>
                </a:extLst>
              </a:tr>
              <a:tr h="13553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16S </a:t>
                      </a:r>
                      <a:r>
                        <a:rPr lang="de-DE" dirty="0" err="1"/>
                        <a:t>sequencing</a:t>
                      </a:r>
                      <a:r>
                        <a:rPr lang="de-DE" dirty="0"/>
                        <a:t> </a:t>
                      </a:r>
                      <a:r>
                        <a:rPr lang="de-DE" dirty="0" err="1"/>
                        <a:t>raw</a:t>
                      </a:r>
                      <a:r>
                        <a:rPr lang="de-DE" dirty="0"/>
                        <a:t> </a:t>
                      </a:r>
                      <a:r>
                        <a:rPr lang="de-DE" dirty="0" err="1"/>
                        <a:t>data</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SRR11839631 SRR11839632</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SRR11839633 SRR11839634</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SRR11839635 SRR11839636</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SRR11839637 SRR11839639</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SRR11839640</a:t>
                      </a:r>
                    </a:p>
                  </a:txBody>
                  <a:tcPr/>
                </a:tc>
                <a:extLst>
                  <a:ext uri="{0D108BD9-81ED-4DB2-BD59-A6C34878D82A}">
                    <a16:rowId xmlns:a16="http://schemas.microsoft.com/office/drawing/2014/main" val="3413219224"/>
                  </a:ext>
                </a:extLst>
              </a:tr>
              <a:tr h="596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OTU </a:t>
                      </a:r>
                      <a:r>
                        <a:rPr lang="de-DE" dirty="0" err="1"/>
                        <a:t>matrix</a:t>
                      </a:r>
                      <a:endParaRPr lang="de-DE" dirty="0"/>
                    </a:p>
                  </a:txBody>
                  <a:tcPr/>
                </a:tc>
                <a:tc>
                  <a:txBody>
                    <a:bodyPr/>
                    <a:lstStyle/>
                    <a:p>
                      <a:r>
                        <a:rPr lang="de-DE" sz="1600" dirty="0"/>
                        <a:t>https://github.com/colemanderr-lab/Deng-2020/blob/master/fig1_24line.rds</a:t>
                      </a:r>
                    </a:p>
                  </a:txBody>
                  <a:tcPr/>
                </a:tc>
                <a:extLst>
                  <a:ext uri="{0D108BD9-81ED-4DB2-BD59-A6C34878D82A}">
                    <a16:rowId xmlns:a16="http://schemas.microsoft.com/office/drawing/2014/main" val="1879408809"/>
                  </a:ext>
                </a:extLst>
              </a:tr>
              <a:tr h="13553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RNA-</a:t>
                      </a:r>
                      <a:r>
                        <a:rPr lang="de-DE" dirty="0" err="1"/>
                        <a:t>seq</a:t>
                      </a:r>
                      <a:r>
                        <a:rPr lang="de-DE" dirty="0"/>
                        <a:t> </a:t>
                      </a:r>
                      <a:r>
                        <a:rPr lang="de-DE" dirty="0" err="1"/>
                        <a:t>raw</a:t>
                      </a:r>
                      <a:r>
                        <a:rPr lang="de-DE" dirty="0"/>
                        <a:t> </a:t>
                      </a:r>
                      <a:r>
                        <a:rPr lang="de-DE" dirty="0" err="1"/>
                        <a:t>data</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SRR11839278 SRR11839289</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SRR11839301 SRR11839312</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SRR11839497 SRR11839508</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SRR11839619 SRR11839630</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SRR11839780</a:t>
                      </a:r>
                    </a:p>
                  </a:txBody>
                  <a:tcPr/>
                </a:tc>
                <a:extLst>
                  <a:ext uri="{0D108BD9-81ED-4DB2-BD59-A6C34878D82A}">
                    <a16:rowId xmlns:a16="http://schemas.microsoft.com/office/drawing/2014/main" val="2781413382"/>
                  </a:ext>
                </a:extLst>
              </a:tr>
              <a:tr h="4235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Gene </a:t>
                      </a:r>
                      <a:r>
                        <a:rPr lang="de-DE" dirty="0" err="1"/>
                        <a:t>expression</a:t>
                      </a:r>
                      <a:r>
                        <a:rPr lang="de-DE" dirty="0"/>
                        <a:t> </a:t>
                      </a:r>
                      <a:r>
                        <a:rPr lang="de-DE" dirty="0" err="1"/>
                        <a:t>matrix</a:t>
                      </a:r>
                      <a:endParaRPr lang="de-DE" dirty="0"/>
                    </a:p>
                  </a:txBody>
                  <a:tcPr/>
                </a:tc>
                <a:tc>
                  <a:txBody>
                    <a:bodyPr/>
                    <a:lstStyle/>
                    <a:p>
                      <a:r>
                        <a:rPr lang="de-DE" sz="1600" dirty="0"/>
                        <a:t>https://github.com/PengYuMaize/Yu2021NaturePlants/blob/master/gene_counts_table_WGCNA.txt</a:t>
                      </a:r>
                    </a:p>
                  </a:txBody>
                  <a:tcPr/>
                </a:tc>
                <a:extLst>
                  <a:ext uri="{0D108BD9-81ED-4DB2-BD59-A6C34878D82A}">
                    <a16:rowId xmlns:a16="http://schemas.microsoft.com/office/drawing/2014/main" val="187168551"/>
                  </a:ext>
                </a:extLst>
              </a:tr>
              <a:tr h="4235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dirty="0"/>
                        <a:t>Reference </a:t>
                      </a:r>
                      <a:r>
                        <a:rPr lang="de-DE" altLang="zh-CN" dirty="0" err="1"/>
                        <a:t>genome</a:t>
                      </a:r>
                      <a:endParaRPr lang="de-DE" dirty="0"/>
                    </a:p>
                  </a:txBody>
                  <a:tcPr/>
                </a:tc>
                <a:tc>
                  <a:txBody>
                    <a:bodyPr/>
                    <a:lstStyle/>
                    <a:p>
                      <a:r>
                        <a:rPr lang="de-DE" sz="1600" dirty="0"/>
                        <a:t>https://download.maizegdb.org/Genomes/B73/Zm-B73-REFERENCE-NAM-5.0/</a:t>
                      </a:r>
                    </a:p>
                  </a:txBody>
                  <a:tcPr/>
                </a:tc>
                <a:extLst>
                  <a:ext uri="{0D108BD9-81ED-4DB2-BD59-A6C34878D82A}">
                    <a16:rowId xmlns:a16="http://schemas.microsoft.com/office/drawing/2014/main" val="3009736804"/>
                  </a:ext>
                </a:extLst>
              </a:tr>
            </a:tbl>
          </a:graphicData>
        </a:graphic>
      </p:graphicFrame>
    </p:spTree>
    <p:extLst>
      <p:ext uri="{BB962C8B-B14F-4D97-AF65-F5344CB8AC3E}">
        <p14:creationId xmlns:p14="http://schemas.microsoft.com/office/powerpoint/2010/main" val="689157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C193-36FB-BE11-C9FA-24A0FA2C505D}"/>
              </a:ext>
            </a:extLst>
          </p:cNvPr>
          <p:cNvSpPr>
            <a:spLocks noGrp="1"/>
          </p:cNvSpPr>
          <p:nvPr>
            <p:ph type="title"/>
          </p:nvPr>
        </p:nvSpPr>
        <p:spPr>
          <a:xfrm>
            <a:off x="632455" y="236940"/>
            <a:ext cx="8128000" cy="601538"/>
          </a:xfrm>
        </p:spPr>
        <p:txBody>
          <a:bodyPr/>
          <a:lstStyle/>
          <a:p>
            <a:r>
              <a:rPr lang="de-DE" dirty="0"/>
              <a:t>Softwares</a:t>
            </a:r>
          </a:p>
        </p:txBody>
      </p:sp>
      <p:sp>
        <p:nvSpPr>
          <p:cNvPr id="3" name="Content Placeholder 2">
            <a:extLst>
              <a:ext uri="{FF2B5EF4-FFF2-40B4-BE49-F238E27FC236}">
                <a16:creationId xmlns:a16="http://schemas.microsoft.com/office/drawing/2014/main" id="{7B4147E1-D69A-5EFF-D98D-89588F1E00F5}"/>
              </a:ext>
            </a:extLst>
          </p:cNvPr>
          <p:cNvSpPr>
            <a:spLocks noGrp="1"/>
          </p:cNvSpPr>
          <p:nvPr>
            <p:ph idx="1"/>
          </p:nvPr>
        </p:nvSpPr>
        <p:spPr>
          <a:xfrm>
            <a:off x="632455" y="1006308"/>
            <a:ext cx="8128000" cy="4845384"/>
          </a:xfrm>
        </p:spPr>
        <p:txBody>
          <a:bodyPr/>
          <a:lstStyle/>
          <a:p>
            <a:pPr marL="0" indent="0">
              <a:buNone/>
            </a:pPr>
            <a:endParaRPr lang="de-DE" altLang="zh-CN" dirty="0"/>
          </a:p>
          <a:p>
            <a:r>
              <a:rPr lang="en-US" altLang="zh-CN" dirty="0" err="1"/>
              <a:t>Rstudio</a:t>
            </a:r>
            <a:r>
              <a:rPr lang="en-US" altLang="zh-CN" dirty="0"/>
              <a:t>/</a:t>
            </a:r>
            <a:r>
              <a:rPr lang="de-DE" altLang="zh-CN" dirty="0"/>
              <a:t>R</a:t>
            </a:r>
          </a:p>
          <a:p>
            <a:endParaRPr lang="de-DE" altLang="zh-CN" dirty="0"/>
          </a:p>
          <a:p>
            <a:r>
              <a:rPr lang="de-DE" altLang="zh-CN" dirty="0" err="1"/>
              <a:t>Conda</a:t>
            </a:r>
            <a:endParaRPr lang="de-DE" altLang="zh-CN" dirty="0"/>
          </a:p>
          <a:p>
            <a:r>
              <a:rPr lang="de-DE" altLang="zh-CN" dirty="0" err="1">
                <a:solidFill>
                  <a:srgbClr val="FF0000"/>
                </a:solidFill>
              </a:rPr>
              <a:t>sratoolkit</a:t>
            </a:r>
            <a:r>
              <a:rPr lang="de-DE" altLang="zh-CN" dirty="0">
                <a:solidFill>
                  <a:srgbClr val="FF0000"/>
                </a:solidFill>
              </a:rPr>
              <a:t> (</a:t>
            </a:r>
            <a:r>
              <a:rPr lang="de-DE" altLang="zh-CN" dirty="0" err="1">
                <a:solidFill>
                  <a:srgbClr val="FF0000"/>
                </a:solidFill>
              </a:rPr>
              <a:t>conda</a:t>
            </a:r>
            <a:r>
              <a:rPr lang="de-DE" altLang="zh-CN" dirty="0">
                <a:solidFill>
                  <a:srgbClr val="FF0000"/>
                </a:solidFill>
              </a:rPr>
              <a:t> </a:t>
            </a:r>
            <a:r>
              <a:rPr lang="de-DE" altLang="zh-CN" dirty="0" err="1">
                <a:solidFill>
                  <a:srgbClr val="FF0000"/>
                </a:solidFill>
              </a:rPr>
              <a:t>install</a:t>
            </a:r>
            <a:r>
              <a:rPr lang="de-DE" altLang="zh-CN" dirty="0">
                <a:solidFill>
                  <a:srgbClr val="FF0000"/>
                </a:solidFill>
              </a:rPr>
              <a:t> -c </a:t>
            </a:r>
            <a:r>
              <a:rPr lang="de-DE" altLang="zh-CN" dirty="0" err="1">
                <a:solidFill>
                  <a:srgbClr val="FF0000"/>
                </a:solidFill>
              </a:rPr>
              <a:t>bioconda</a:t>
            </a:r>
            <a:r>
              <a:rPr lang="de-DE" altLang="zh-CN" dirty="0">
                <a:solidFill>
                  <a:srgbClr val="FF0000"/>
                </a:solidFill>
              </a:rPr>
              <a:t> </a:t>
            </a:r>
            <a:r>
              <a:rPr lang="de-DE" altLang="zh-CN" dirty="0" err="1">
                <a:solidFill>
                  <a:srgbClr val="FF0000"/>
                </a:solidFill>
              </a:rPr>
              <a:t>sra</a:t>
            </a:r>
            <a:r>
              <a:rPr lang="de-DE" altLang="zh-CN" dirty="0">
                <a:solidFill>
                  <a:srgbClr val="FF0000"/>
                </a:solidFill>
              </a:rPr>
              <a:t>-tools)</a:t>
            </a:r>
          </a:p>
          <a:p>
            <a:r>
              <a:rPr lang="de-DE" altLang="zh-CN" dirty="0"/>
              <a:t>Hisat2</a:t>
            </a:r>
          </a:p>
          <a:p>
            <a:r>
              <a:rPr lang="de-DE" altLang="zh-CN" dirty="0" err="1"/>
              <a:t>stringtie</a:t>
            </a:r>
            <a:endParaRPr lang="de-DE" altLang="zh-CN" dirty="0"/>
          </a:p>
          <a:p>
            <a:r>
              <a:rPr lang="de-DE" altLang="zh-CN" dirty="0" err="1"/>
              <a:t>samtools</a:t>
            </a:r>
            <a:endParaRPr lang="de-DE" altLang="zh-CN" dirty="0"/>
          </a:p>
          <a:p>
            <a:endParaRPr lang="de-DE" dirty="0"/>
          </a:p>
          <a:p>
            <a:endParaRPr lang="de-DE" dirty="0"/>
          </a:p>
          <a:p>
            <a:r>
              <a:rPr lang="en-US" dirty="0"/>
              <a:t>Install the appropriate version based on your system (Windows, macOS, or Linux).</a:t>
            </a:r>
          </a:p>
          <a:p>
            <a:endParaRPr lang="en-US" dirty="0"/>
          </a:p>
          <a:p>
            <a:r>
              <a:rPr lang="en-US" dirty="0"/>
              <a:t>https://</a:t>
            </a:r>
            <a:r>
              <a:rPr lang="en-US" dirty="0" err="1"/>
              <a:t>github.com</a:t>
            </a:r>
            <a:r>
              <a:rPr lang="en-US" dirty="0"/>
              <a:t>/ttian627/Omics-Data-Analysis-of-Root-Microbe-Interactions</a:t>
            </a:r>
          </a:p>
          <a:p>
            <a:endParaRPr lang="en-US" dirty="0"/>
          </a:p>
          <a:p>
            <a:endParaRPr lang="en-US" dirty="0"/>
          </a:p>
          <a:p>
            <a:endParaRPr lang="de-DE" dirty="0"/>
          </a:p>
          <a:p>
            <a:endParaRPr lang="de-DE" dirty="0"/>
          </a:p>
        </p:txBody>
      </p:sp>
    </p:spTree>
    <p:extLst>
      <p:ext uri="{BB962C8B-B14F-4D97-AF65-F5344CB8AC3E}">
        <p14:creationId xmlns:p14="http://schemas.microsoft.com/office/powerpoint/2010/main" val="2306888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31B78-71F8-83B7-78EA-8D10B1993E9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C37D40-5D02-706C-6D54-7C3D9BF3EF86}"/>
              </a:ext>
            </a:extLst>
          </p:cNvPr>
          <p:cNvPicPr>
            <a:picLocks noChangeAspect="1"/>
          </p:cNvPicPr>
          <p:nvPr/>
        </p:nvPicPr>
        <p:blipFill>
          <a:blip r:embed="rId3"/>
          <a:stretch>
            <a:fillRect/>
          </a:stretch>
        </p:blipFill>
        <p:spPr>
          <a:xfrm>
            <a:off x="3143849" y="130269"/>
            <a:ext cx="1804044" cy="1434396"/>
          </a:xfrm>
          <a:prstGeom prst="rect">
            <a:avLst/>
          </a:prstGeom>
        </p:spPr>
      </p:pic>
      <p:sp>
        <p:nvSpPr>
          <p:cNvPr id="4" name="Title 1">
            <a:extLst>
              <a:ext uri="{FF2B5EF4-FFF2-40B4-BE49-F238E27FC236}">
                <a16:creationId xmlns:a16="http://schemas.microsoft.com/office/drawing/2014/main" id="{B02660DD-2DA9-824A-4D3F-F0CBBF73E3C3}"/>
              </a:ext>
            </a:extLst>
          </p:cNvPr>
          <p:cNvSpPr txBox="1">
            <a:spLocks/>
          </p:cNvSpPr>
          <p:nvPr/>
        </p:nvSpPr>
        <p:spPr bwMode="auto">
          <a:xfrm>
            <a:off x="0" y="2643233"/>
            <a:ext cx="9144000" cy="937648"/>
          </a:xfrm>
          <a:prstGeom prst="rect">
            <a:avLst/>
          </a:prstGeom>
          <a:solidFill>
            <a:srgbClr val="0065BD"/>
          </a:solidFill>
          <a:ln>
            <a:noFill/>
          </a:ln>
          <a:extLs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rtl="0" eaLnBrk="0" fontAlgn="base" hangingPunct="0">
              <a:lnSpc>
                <a:spcPct val="150000"/>
              </a:lnSpc>
              <a:spcBef>
                <a:spcPct val="0"/>
              </a:spcBef>
              <a:spcAft>
                <a:spcPct val="0"/>
              </a:spcAft>
              <a:defRPr sz="3200" b="0">
                <a:solidFill>
                  <a:schemeClr val="bg1"/>
                </a:solidFill>
                <a:latin typeface="+mj-lt"/>
                <a:ea typeface="ＭＳ Ｐゴシック" pitchFamily="-65" charset="-128"/>
                <a:cs typeface="ＭＳ Ｐゴシック" pitchFamily="18" charset="-128"/>
              </a:defRPr>
            </a:lvl1pPr>
            <a:lvl2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2pPr>
            <a:lvl3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3pPr>
            <a:lvl4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4pPr>
            <a:lvl5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5pPr>
            <a:lvl6pPr marL="457200" algn="l" rtl="0" eaLnBrk="1" fontAlgn="base" hangingPunct="1">
              <a:spcBef>
                <a:spcPct val="0"/>
              </a:spcBef>
              <a:spcAft>
                <a:spcPct val="0"/>
              </a:spcAft>
              <a:defRPr sz="2400" b="1">
                <a:solidFill>
                  <a:schemeClr val="tx1"/>
                </a:solidFill>
                <a:latin typeface="Arial" pitchFamily="34" charset="0"/>
              </a:defRPr>
            </a:lvl6pPr>
            <a:lvl7pPr marL="914400" algn="l" rtl="0" eaLnBrk="1" fontAlgn="base" hangingPunct="1">
              <a:spcBef>
                <a:spcPct val="0"/>
              </a:spcBef>
              <a:spcAft>
                <a:spcPct val="0"/>
              </a:spcAft>
              <a:defRPr sz="2400" b="1">
                <a:solidFill>
                  <a:schemeClr val="tx1"/>
                </a:solidFill>
                <a:latin typeface="Arial" pitchFamily="34" charset="0"/>
              </a:defRPr>
            </a:lvl7pPr>
            <a:lvl8pPr marL="1371600" algn="l" rtl="0" eaLnBrk="1" fontAlgn="base" hangingPunct="1">
              <a:spcBef>
                <a:spcPct val="0"/>
              </a:spcBef>
              <a:spcAft>
                <a:spcPct val="0"/>
              </a:spcAft>
              <a:defRPr sz="2400" b="1">
                <a:solidFill>
                  <a:schemeClr val="tx1"/>
                </a:solidFill>
                <a:latin typeface="Arial" pitchFamily="34" charset="0"/>
              </a:defRPr>
            </a:lvl8pPr>
            <a:lvl9pPr marL="1828800" algn="l" rtl="0" eaLnBrk="1" fontAlgn="base" hangingPunct="1">
              <a:spcBef>
                <a:spcPct val="0"/>
              </a:spcBef>
              <a:spcAft>
                <a:spcPct val="0"/>
              </a:spcAft>
              <a:defRPr sz="2400" b="1">
                <a:solidFill>
                  <a:schemeClr val="tx1"/>
                </a:solidFill>
                <a:latin typeface="Arial" pitchFamily="34" charset="0"/>
              </a:defRPr>
            </a:lvl9pPr>
          </a:lstStyle>
          <a:p>
            <a:r>
              <a:rPr lang="en-US" kern="0"/>
              <a:t>Preparation for the upcoming exercises</a:t>
            </a:r>
            <a:endParaRPr lang="de-DE" kern="0" dirty="0"/>
          </a:p>
        </p:txBody>
      </p:sp>
      <p:sp>
        <p:nvSpPr>
          <p:cNvPr id="5" name="Title 4">
            <a:extLst>
              <a:ext uri="{FF2B5EF4-FFF2-40B4-BE49-F238E27FC236}">
                <a16:creationId xmlns:a16="http://schemas.microsoft.com/office/drawing/2014/main" id="{C596D286-C4AD-F0B9-E66E-4C33B9439EE1}"/>
              </a:ext>
            </a:extLst>
          </p:cNvPr>
          <p:cNvSpPr>
            <a:spLocks noGrp="1"/>
          </p:cNvSpPr>
          <p:nvPr>
            <p:ph type="ctrTitle"/>
          </p:nvPr>
        </p:nvSpPr>
        <p:spPr>
          <a:xfrm>
            <a:off x="0" y="2643232"/>
            <a:ext cx="9144000" cy="1536881"/>
          </a:xfrm>
        </p:spPr>
        <p:txBody>
          <a:bodyPr/>
          <a:lstStyle/>
          <a:p>
            <a:r>
              <a:rPr lang="de-DE" altLang="zh-CN" dirty="0">
                <a:latin typeface="Arial" charset="0"/>
                <a:ea typeface="ＭＳ Ｐゴシック" charset="0"/>
                <a:cs typeface="ＭＳ Ｐゴシック" charset="0"/>
              </a:rPr>
              <a:t>II </a:t>
            </a:r>
            <a:r>
              <a:rPr lang="en-US" dirty="0">
                <a:latin typeface="Arial" charset="0"/>
                <a:ea typeface="ＭＳ Ｐゴシック" charset="0"/>
                <a:cs typeface="ＭＳ Ｐゴシック" charset="0"/>
              </a:rPr>
              <a:t>Key Statistical Metrics in Microbiome Analysis (28.5)</a:t>
            </a:r>
            <a:endParaRPr lang="de-DE" dirty="0"/>
          </a:p>
        </p:txBody>
      </p:sp>
    </p:spTree>
    <p:extLst>
      <p:ext uri="{BB962C8B-B14F-4D97-AF65-F5344CB8AC3E}">
        <p14:creationId xmlns:p14="http://schemas.microsoft.com/office/powerpoint/2010/main" val="1338094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B85C20-36AA-70AC-1F01-0269811D284E}"/>
              </a:ext>
            </a:extLst>
          </p:cNvPr>
          <p:cNvSpPr>
            <a:spLocks noGrp="1"/>
          </p:cNvSpPr>
          <p:nvPr>
            <p:ph type="title"/>
          </p:nvPr>
        </p:nvSpPr>
        <p:spPr>
          <a:xfrm>
            <a:off x="569994" y="225868"/>
            <a:ext cx="8128000" cy="601538"/>
          </a:xfrm>
        </p:spPr>
        <p:txBody>
          <a:bodyPr/>
          <a:lstStyle/>
          <a:p>
            <a:r>
              <a:rPr lang="en-US" altLang="zh-CN" sz="2800" dirty="0">
                <a:latin typeface="Arial" charset="0"/>
                <a:ea typeface="ＭＳ Ｐゴシック" charset="0"/>
                <a:cs typeface="ＭＳ Ｐゴシック" charset="0"/>
              </a:rPr>
              <a:t>Key Statistical Metrics in Microbiome Analysis</a:t>
            </a:r>
            <a:endParaRPr kumimoji="1" lang="zh-CN" altLang="en-US" sz="2800" dirty="0"/>
          </a:p>
        </p:txBody>
      </p:sp>
      <p:sp>
        <p:nvSpPr>
          <p:cNvPr id="3" name="内容占位符 2">
            <a:extLst>
              <a:ext uri="{FF2B5EF4-FFF2-40B4-BE49-F238E27FC236}">
                <a16:creationId xmlns:a16="http://schemas.microsoft.com/office/drawing/2014/main" id="{3E72E181-1B62-21EF-1E83-1F82D57869DF}"/>
              </a:ext>
            </a:extLst>
          </p:cNvPr>
          <p:cNvSpPr>
            <a:spLocks noGrp="1"/>
          </p:cNvSpPr>
          <p:nvPr>
            <p:ph idx="1"/>
          </p:nvPr>
        </p:nvSpPr>
        <p:spPr>
          <a:xfrm>
            <a:off x="632455" y="1193800"/>
            <a:ext cx="8128000" cy="2921000"/>
          </a:xfrm>
        </p:spPr>
        <p:txBody>
          <a:bodyPr/>
          <a:lstStyle/>
          <a:p>
            <a:pPr>
              <a:buFont typeface="Wingdings" pitchFamily="2" charset="2"/>
              <a:buChar char="Ø"/>
            </a:pPr>
            <a:r>
              <a:rPr lang="en-US" altLang="zh-CN" b="1" dirty="0"/>
              <a:t>Research objective:</a:t>
            </a:r>
            <a:r>
              <a:rPr lang="en-US" altLang="zh-CN" dirty="0"/>
              <a:t> To understand </a:t>
            </a:r>
            <a:r>
              <a:rPr lang="en-US" altLang="zh-CN" dirty="0">
                <a:solidFill>
                  <a:srgbClr val="3C4043"/>
                </a:solidFill>
                <a:latin typeface="Roboto" panose="02000000000000000000" pitchFamily="2" charset="0"/>
              </a:rPr>
              <a:t>e</a:t>
            </a:r>
            <a:r>
              <a:rPr lang="en-US" altLang="zh-CN" b="0" i="0" dirty="0">
                <a:solidFill>
                  <a:srgbClr val="3C4043"/>
                </a:solidFill>
                <a:effectLst/>
                <a:latin typeface="Roboto" panose="02000000000000000000" pitchFamily="2" charset="0"/>
              </a:rPr>
              <a:t>ffective</a:t>
            </a:r>
            <a:r>
              <a:rPr lang="en-US" altLang="zh-CN" dirty="0"/>
              <a:t> traits through the analysis of microbiome data.</a:t>
            </a:r>
          </a:p>
          <a:p>
            <a:pPr>
              <a:buFont typeface="Wingdings" pitchFamily="2" charset="2"/>
              <a:buChar char="Ø"/>
            </a:pPr>
            <a:endParaRPr lang="en-US" altLang="zh-CN" dirty="0"/>
          </a:p>
          <a:p>
            <a:pPr lvl="1">
              <a:buFont typeface="Arial" panose="020B0604020202020204" pitchFamily="34" charset="0"/>
              <a:buChar char="•"/>
            </a:pPr>
            <a:r>
              <a:rPr lang="en-US" altLang="zh-CN" b="1" dirty="0"/>
              <a:t>Alpha diversity</a:t>
            </a:r>
          </a:p>
          <a:p>
            <a:pPr lvl="1">
              <a:buFont typeface="Arial" panose="020B0604020202020204" pitchFamily="34" charset="0"/>
              <a:buChar char="•"/>
            </a:pPr>
            <a:r>
              <a:rPr lang="en-US" altLang="zh-CN" b="1" dirty="0"/>
              <a:t>Rarefaction analysis</a:t>
            </a:r>
            <a:endParaRPr lang="en-US" altLang="zh-CN" dirty="0"/>
          </a:p>
          <a:p>
            <a:pPr lvl="1">
              <a:buFont typeface="Arial" panose="020B0604020202020204" pitchFamily="34" charset="0"/>
              <a:buChar char="•"/>
            </a:pPr>
            <a:r>
              <a:rPr lang="en-US" altLang="zh-CN" b="1" dirty="0"/>
              <a:t>Beta diversity</a:t>
            </a:r>
          </a:p>
          <a:p>
            <a:pPr lvl="1">
              <a:buFont typeface="Arial" panose="020B0604020202020204" pitchFamily="34" charset="0"/>
              <a:buChar char="•"/>
            </a:pPr>
            <a:r>
              <a:rPr lang="en-US" altLang="zh-CN" b="1" dirty="0"/>
              <a:t>Taxonomy distribution</a:t>
            </a:r>
          </a:p>
          <a:p>
            <a:pPr lvl="1">
              <a:buFont typeface="Arial" panose="020B0604020202020204" pitchFamily="34" charset="0"/>
              <a:buChar char="•"/>
            </a:pPr>
            <a:endParaRPr lang="en-US" altLang="zh-CN" b="1" dirty="0"/>
          </a:p>
          <a:p>
            <a:pPr lvl="1">
              <a:buFont typeface="Arial" panose="020B0604020202020204" pitchFamily="34" charset="0"/>
              <a:buChar char="•"/>
            </a:pPr>
            <a:endParaRPr lang="en-US" altLang="zh-CN" b="1" dirty="0"/>
          </a:p>
          <a:p>
            <a:pPr lvl="1">
              <a:buFont typeface="Arial" panose="020B0604020202020204" pitchFamily="34" charset="0"/>
              <a:buChar char="•"/>
            </a:pPr>
            <a:r>
              <a:rPr lang="en-US" altLang="zh-CN" b="1" dirty="0"/>
              <a:t>Code: </a:t>
            </a:r>
            <a:r>
              <a:rPr lang="en-US" altLang="zh-CN" sz="2000" dirty="0"/>
              <a:t>https://</a:t>
            </a:r>
            <a:r>
              <a:rPr lang="en-US" altLang="zh-CN" sz="2000" dirty="0" err="1"/>
              <a:t>github.com</a:t>
            </a:r>
            <a:r>
              <a:rPr lang="en-US" altLang="zh-CN" sz="2000" dirty="0"/>
              <a:t>/ttian627/Omics-Data-Analysis-of-Root-Microbe-Interactions/tree/main/01_16S</a:t>
            </a:r>
            <a:endParaRPr lang="en-US" altLang="zh-CN" dirty="0"/>
          </a:p>
          <a:p>
            <a:endParaRPr kumimoji="1" lang="zh-CN" altLang="en-US" dirty="0"/>
          </a:p>
        </p:txBody>
      </p:sp>
    </p:spTree>
    <p:extLst>
      <p:ext uri="{BB962C8B-B14F-4D97-AF65-F5344CB8AC3E}">
        <p14:creationId xmlns:p14="http://schemas.microsoft.com/office/powerpoint/2010/main" val="1560503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748E7-9203-0A3D-BA95-F490A59EA314}"/>
              </a:ext>
            </a:extLst>
          </p:cNvPr>
          <p:cNvSpPr>
            <a:spLocks noGrp="1"/>
          </p:cNvSpPr>
          <p:nvPr>
            <p:ph type="title"/>
          </p:nvPr>
        </p:nvSpPr>
        <p:spPr>
          <a:xfrm>
            <a:off x="632455" y="203705"/>
            <a:ext cx="8128000" cy="601538"/>
          </a:xfrm>
        </p:spPr>
        <p:txBody>
          <a:bodyPr/>
          <a:lstStyle/>
          <a:p>
            <a:r>
              <a:rPr lang="en-US" altLang="zh-CN" b="1" dirty="0"/>
              <a:t>Alpha diversity</a:t>
            </a:r>
            <a:endParaRPr kumimoji="1" lang="zh-CN" altLang="en-US" dirty="0"/>
          </a:p>
        </p:txBody>
      </p:sp>
      <p:sp>
        <p:nvSpPr>
          <p:cNvPr id="3" name="内容占位符 2">
            <a:extLst>
              <a:ext uri="{FF2B5EF4-FFF2-40B4-BE49-F238E27FC236}">
                <a16:creationId xmlns:a16="http://schemas.microsoft.com/office/drawing/2014/main" id="{205CE67A-4773-7E6D-9F4E-134243E565AE}"/>
              </a:ext>
            </a:extLst>
          </p:cNvPr>
          <p:cNvSpPr>
            <a:spLocks noGrp="1"/>
          </p:cNvSpPr>
          <p:nvPr>
            <p:ph idx="1"/>
          </p:nvPr>
        </p:nvSpPr>
        <p:spPr>
          <a:xfrm>
            <a:off x="632455" y="1193800"/>
            <a:ext cx="8128000" cy="1559910"/>
          </a:xfrm>
        </p:spPr>
        <p:txBody>
          <a:bodyPr/>
          <a:lstStyle/>
          <a:p>
            <a:r>
              <a:rPr lang="en-US" altLang="zh-CN" b="0" i="0" dirty="0">
                <a:effectLst/>
                <a:latin typeface="Roboto" panose="02000000000000000000" pitchFamily="2" charset="0"/>
              </a:rPr>
              <a:t>Alpha diversity is within sample diversity.</a:t>
            </a:r>
          </a:p>
          <a:p>
            <a:endParaRPr lang="en-US" altLang="zh-CN" b="1" dirty="0"/>
          </a:p>
          <a:p>
            <a:r>
              <a:rPr lang="en-US" altLang="zh-CN" dirty="0">
                <a:latin typeface="Roboto" panose="02000000000000000000" pitchFamily="2" charset="0"/>
              </a:rPr>
              <a:t>species diversity</a:t>
            </a:r>
          </a:p>
          <a:p>
            <a:r>
              <a:rPr lang="en-US" altLang="zh-CN" dirty="0">
                <a:latin typeface="Roboto" panose="02000000000000000000" pitchFamily="2" charset="0"/>
              </a:rPr>
              <a:t>species evenness</a:t>
            </a:r>
          </a:p>
          <a:p>
            <a:endParaRPr lang="en-US" altLang="zh-CN" b="1" dirty="0"/>
          </a:p>
        </p:txBody>
      </p:sp>
      <p:graphicFrame>
        <p:nvGraphicFramePr>
          <p:cNvPr id="7" name="表格 6">
            <a:extLst>
              <a:ext uri="{FF2B5EF4-FFF2-40B4-BE49-F238E27FC236}">
                <a16:creationId xmlns:a16="http://schemas.microsoft.com/office/drawing/2014/main" id="{F8FDA2C8-23B9-EAB9-AA45-358D0EE511E1}"/>
              </a:ext>
            </a:extLst>
          </p:cNvPr>
          <p:cNvGraphicFramePr>
            <a:graphicFrameLocks noGrp="1"/>
          </p:cNvGraphicFramePr>
          <p:nvPr>
            <p:extLst>
              <p:ext uri="{D42A27DB-BD31-4B8C-83A1-F6EECF244321}">
                <p14:modId xmlns:p14="http://schemas.microsoft.com/office/powerpoint/2010/main" val="3094647522"/>
              </p:ext>
            </p:extLst>
          </p:nvPr>
        </p:nvGraphicFramePr>
        <p:xfrm>
          <a:off x="829361" y="3306380"/>
          <a:ext cx="6955465" cy="2068095"/>
        </p:xfrm>
        <a:graphic>
          <a:graphicData uri="http://schemas.openxmlformats.org/drawingml/2006/table">
            <a:tbl>
              <a:tblPr firstRow="1">
                <a:tableStyleId>{F5AB1C69-6EDB-4FF4-983F-18BD219EF322}</a:tableStyleId>
              </a:tblPr>
              <a:tblGrid>
                <a:gridCol w="1390247">
                  <a:extLst>
                    <a:ext uri="{9D8B030D-6E8A-4147-A177-3AD203B41FA5}">
                      <a16:colId xmlns:a16="http://schemas.microsoft.com/office/drawing/2014/main" val="1427883314"/>
                    </a:ext>
                  </a:extLst>
                </a:gridCol>
                <a:gridCol w="5565218">
                  <a:extLst>
                    <a:ext uri="{9D8B030D-6E8A-4147-A177-3AD203B41FA5}">
                      <a16:colId xmlns:a16="http://schemas.microsoft.com/office/drawing/2014/main" val="4245518561"/>
                    </a:ext>
                  </a:extLst>
                </a:gridCol>
              </a:tblGrid>
              <a:tr h="423288">
                <a:tc>
                  <a:txBody>
                    <a:bodyPr/>
                    <a:lstStyle/>
                    <a:p>
                      <a:pPr algn="l" fontAlgn="ctr"/>
                      <a:r>
                        <a:rPr lang="en-US" sz="1200" u="none" strike="noStrike" dirty="0">
                          <a:effectLst/>
                        </a:rPr>
                        <a:t>Diversity Index</a:t>
                      </a:r>
                      <a:endParaRPr lang="en-US" sz="1200" b="0" i="0" u="none" strike="noStrike" dirty="0">
                        <a:solidFill>
                          <a:srgbClr val="000000"/>
                        </a:solidFill>
                        <a:effectLst/>
                        <a:latin typeface="等线" panose="02010600030101010101" pitchFamily="2" charset="-122"/>
                        <a:ea typeface="等线" panose="02010600030101010101" pitchFamily="2" charset="-122"/>
                      </a:endParaRPr>
                    </a:p>
                  </a:txBody>
                  <a:tcPr marL="6133" marR="6133" marT="6133" marB="0" anchor="ctr"/>
                </a:tc>
                <a:tc>
                  <a:txBody>
                    <a:bodyPr/>
                    <a:lstStyle/>
                    <a:p>
                      <a:pPr algn="l" fontAlgn="ctr"/>
                      <a:r>
                        <a:rPr lang="en-US" sz="1200" u="none" strike="noStrike" dirty="0">
                          <a:effectLst/>
                        </a:rPr>
                        <a:t>Description</a:t>
                      </a:r>
                      <a:endParaRPr lang="en-US" sz="1200" b="0" i="0" u="none" strike="noStrike" dirty="0">
                        <a:solidFill>
                          <a:srgbClr val="000000"/>
                        </a:solidFill>
                        <a:effectLst/>
                        <a:latin typeface="等线" panose="02010600030101010101" pitchFamily="2" charset="-122"/>
                        <a:ea typeface="等线" panose="02010600030101010101" pitchFamily="2" charset="-122"/>
                      </a:endParaRPr>
                    </a:p>
                  </a:txBody>
                  <a:tcPr marL="6133" marR="6133" marT="6133" marB="0" anchor="ctr"/>
                </a:tc>
                <a:extLst>
                  <a:ext uri="{0D108BD9-81ED-4DB2-BD59-A6C34878D82A}">
                    <a16:rowId xmlns:a16="http://schemas.microsoft.com/office/drawing/2014/main" val="2715324571"/>
                  </a:ext>
                </a:extLst>
              </a:tr>
              <a:tr h="504341">
                <a:tc>
                  <a:txBody>
                    <a:bodyPr/>
                    <a:lstStyle/>
                    <a:p>
                      <a:pPr algn="l" fontAlgn="ctr"/>
                      <a:r>
                        <a:rPr lang="en-US" sz="1200" u="none" strike="noStrike" dirty="0">
                          <a:solidFill>
                            <a:srgbClr val="FF0000"/>
                          </a:solidFill>
                          <a:effectLst/>
                        </a:rPr>
                        <a:t>Shannon Index</a:t>
                      </a:r>
                      <a:endParaRPr lang="en-US" sz="1200" b="0" i="0" u="none" strike="noStrike" dirty="0">
                        <a:solidFill>
                          <a:srgbClr val="FF0000"/>
                        </a:solidFill>
                        <a:effectLst/>
                        <a:latin typeface="等线" panose="02010600030101010101" pitchFamily="2" charset="-122"/>
                        <a:ea typeface="等线" panose="02010600030101010101" pitchFamily="2" charset="-122"/>
                      </a:endParaRPr>
                    </a:p>
                  </a:txBody>
                  <a:tcPr marL="6133" marR="6133" marT="6133" marB="0" anchor="ctr"/>
                </a:tc>
                <a:tc>
                  <a:txBody>
                    <a:bodyPr/>
                    <a:lstStyle/>
                    <a:p>
                      <a:pPr algn="l" fontAlgn="ctr"/>
                      <a:r>
                        <a:rPr lang="en-US" sz="1200" u="none" strike="noStrike" dirty="0">
                          <a:effectLst/>
                        </a:rPr>
                        <a:t>Considers both species richness and evenness; sensitive to rare species.</a:t>
                      </a:r>
                      <a:endParaRPr lang="en-US" sz="1200" b="0" i="0" u="none" strike="noStrike" dirty="0">
                        <a:solidFill>
                          <a:srgbClr val="000000"/>
                        </a:solidFill>
                        <a:effectLst/>
                        <a:latin typeface="等线" panose="02010600030101010101" pitchFamily="2" charset="-122"/>
                        <a:ea typeface="等线" panose="02010600030101010101" pitchFamily="2" charset="-122"/>
                      </a:endParaRPr>
                    </a:p>
                  </a:txBody>
                  <a:tcPr marL="6133" marR="6133" marT="6133" marB="0" anchor="ctr"/>
                </a:tc>
                <a:extLst>
                  <a:ext uri="{0D108BD9-81ED-4DB2-BD59-A6C34878D82A}">
                    <a16:rowId xmlns:a16="http://schemas.microsoft.com/office/drawing/2014/main" val="1900342430"/>
                  </a:ext>
                </a:extLst>
              </a:tr>
              <a:tr h="636125">
                <a:tc>
                  <a:txBody>
                    <a:bodyPr/>
                    <a:lstStyle/>
                    <a:p>
                      <a:pPr algn="l" fontAlgn="ctr"/>
                      <a:r>
                        <a:rPr lang="en-US" sz="1200" u="none" strike="noStrike" dirty="0">
                          <a:effectLst/>
                        </a:rPr>
                        <a:t>Simpson Index</a:t>
                      </a:r>
                      <a:endParaRPr lang="en-US" sz="1200" b="0" i="0" u="none" strike="noStrike" dirty="0">
                        <a:solidFill>
                          <a:srgbClr val="000000"/>
                        </a:solidFill>
                        <a:effectLst/>
                        <a:latin typeface="等线" panose="02010600030101010101" pitchFamily="2" charset="-122"/>
                        <a:ea typeface="等线" panose="02010600030101010101" pitchFamily="2" charset="-122"/>
                      </a:endParaRPr>
                    </a:p>
                  </a:txBody>
                  <a:tcPr marL="6133" marR="6133" marT="6133" marB="0" anchor="ctr"/>
                </a:tc>
                <a:tc>
                  <a:txBody>
                    <a:bodyPr/>
                    <a:lstStyle/>
                    <a:p>
                      <a:pPr algn="l" fontAlgn="ctr"/>
                      <a:r>
                        <a:rPr lang="en-US" sz="1200" u="none" strike="noStrike" dirty="0">
                          <a:effectLst/>
                        </a:rPr>
                        <a:t>Measures the probability that two randomly selected individuals belong to different species; more sensitive to dominant species.</a:t>
                      </a:r>
                      <a:endParaRPr lang="en-US" sz="1200" b="0" i="0" u="none" strike="noStrike" dirty="0">
                        <a:solidFill>
                          <a:srgbClr val="000000"/>
                        </a:solidFill>
                        <a:effectLst/>
                        <a:latin typeface="等线" panose="02010600030101010101" pitchFamily="2" charset="-122"/>
                        <a:ea typeface="等线" panose="02010600030101010101" pitchFamily="2" charset="-122"/>
                      </a:endParaRPr>
                    </a:p>
                  </a:txBody>
                  <a:tcPr marL="6133" marR="6133" marT="6133" marB="0" anchor="ctr"/>
                </a:tc>
                <a:extLst>
                  <a:ext uri="{0D108BD9-81ED-4DB2-BD59-A6C34878D82A}">
                    <a16:rowId xmlns:a16="http://schemas.microsoft.com/office/drawing/2014/main" val="564528570"/>
                  </a:ext>
                </a:extLst>
              </a:tr>
              <a:tr h="504341">
                <a:tc>
                  <a:txBody>
                    <a:bodyPr/>
                    <a:lstStyle/>
                    <a:p>
                      <a:pPr algn="l" fontAlgn="ctr"/>
                      <a:r>
                        <a:rPr lang="en-US" sz="1200" u="none" strike="noStrike">
                          <a:effectLst/>
                        </a:rPr>
                        <a:t>Fisher's Alpha</a:t>
                      </a:r>
                      <a:endParaRPr lang="en-US" sz="1200" b="0" i="0" u="none" strike="noStrike">
                        <a:solidFill>
                          <a:srgbClr val="000000"/>
                        </a:solidFill>
                        <a:effectLst/>
                        <a:latin typeface="等线" panose="02010600030101010101" pitchFamily="2" charset="-122"/>
                        <a:ea typeface="等线" panose="02010600030101010101" pitchFamily="2" charset="-122"/>
                      </a:endParaRPr>
                    </a:p>
                  </a:txBody>
                  <a:tcPr marL="6133" marR="6133" marT="6133" marB="0" anchor="ctr"/>
                </a:tc>
                <a:tc>
                  <a:txBody>
                    <a:bodyPr/>
                    <a:lstStyle/>
                    <a:p>
                      <a:pPr algn="l" fontAlgn="ctr"/>
                      <a:r>
                        <a:rPr lang="en-US" sz="1200" u="none" strike="noStrike" dirty="0">
                          <a:effectLst/>
                        </a:rPr>
                        <a:t>Diversity index based on fitting a log series distribution; good for complex communities.</a:t>
                      </a:r>
                      <a:endParaRPr lang="en-US" sz="1200" b="0" i="0" u="none" strike="noStrike" dirty="0">
                        <a:solidFill>
                          <a:srgbClr val="000000"/>
                        </a:solidFill>
                        <a:effectLst/>
                        <a:latin typeface="等线" panose="02010600030101010101" pitchFamily="2" charset="-122"/>
                        <a:ea typeface="等线" panose="02010600030101010101" pitchFamily="2" charset="-122"/>
                      </a:endParaRPr>
                    </a:p>
                  </a:txBody>
                  <a:tcPr marL="6133" marR="6133" marT="6133" marB="0" anchor="ctr"/>
                </a:tc>
                <a:extLst>
                  <a:ext uri="{0D108BD9-81ED-4DB2-BD59-A6C34878D82A}">
                    <a16:rowId xmlns:a16="http://schemas.microsoft.com/office/drawing/2014/main" val="542542619"/>
                  </a:ext>
                </a:extLst>
              </a:tr>
            </a:tbl>
          </a:graphicData>
        </a:graphic>
      </p:graphicFrame>
    </p:spTree>
    <p:extLst>
      <p:ext uri="{BB962C8B-B14F-4D97-AF65-F5344CB8AC3E}">
        <p14:creationId xmlns:p14="http://schemas.microsoft.com/office/powerpoint/2010/main" val="329887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748E7-9203-0A3D-BA95-F490A59EA314}"/>
              </a:ext>
            </a:extLst>
          </p:cNvPr>
          <p:cNvSpPr>
            <a:spLocks noGrp="1"/>
          </p:cNvSpPr>
          <p:nvPr>
            <p:ph type="title"/>
          </p:nvPr>
        </p:nvSpPr>
        <p:spPr>
          <a:xfrm>
            <a:off x="632455" y="203705"/>
            <a:ext cx="8128000" cy="601538"/>
          </a:xfrm>
        </p:spPr>
        <p:txBody>
          <a:bodyPr/>
          <a:lstStyle/>
          <a:p>
            <a:r>
              <a:rPr lang="en-US" altLang="zh-CN" b="1" dirty="0"/>
              <a:t>Rarefaction analysis</a:t>
            </a:r>
            <a:endParaRPr kumimoji="1" lang="zh-CN" altLang="en-US" dirty="0"/>
          </a:p>
        </p:txBody>
      </p:sp>
      <p:sp>
        <p:nvSpPr>
          <p:cNvPr id="3" name="内容占位符 2">
            <a:extLst>
              <a:ext uri="{FF2B5EF4-FFF2-40B4-BE49-F238E27FC236}">
                <a16:creationId xmlns:a16="http://schemas.microsoft.com/office/drawing/2014/main" id="{205CE67A-4773-7E6D-9F4E-134243E565AE}"/>
              </a:ext>
            </a:extLst>
          </p:cNvPr>
          <p:cNvSpPr>
            <a:spLocks noGrp="1"/>
          </p:cNvSpPr>
          <p:nvPr>
            <p:ph idx="1"/>
          </p:nvPr>
        </p:nvSpPr>
        <p:spPr/>
        <p:txBody>
          <a:bodyPr/>
          <a:lstStyle/>
          <a:p>
            <a:r>
              <a:rPr lang="en-US" altLang="zh-CN" dirty="0">
                <a:latin typeface="Roboto" panose="02000000000000000000" pitchFamily="2" charset="0"/>
              </a:rPr>
              <a:t>Rarefaction curve illustrates how the cumulative number of alpha </a:t>
            </a:r>
            <a:r>
              <a:rPr lang="zh-CN" altLang="en-US" dirty="0">
                <a:latin typeface="Roboto" panose="02000000000000000000" pitchFamily="2" charset="0"/>
              </a:rPr>
              <a:t> </a:t>
            </a:r>
            <a:r>
              <a:rPr lang="en-US" altLang="zh-CN" dirty="0">
                <a:latin typeface="Roboto" panose="02000000000000000000" pitchFamily="2" charset="0"/>
              </a:rPr>
              <a:t>diversity metrics in a sample changes as sequencing depth increases.</a:t>
            </a:r>
            <a:endParaRPr lang="zh-CN" altLang="en-US" dirty="0">
              <a:latin typeface="Roboto" panose="02000000000000000000" pitchFamily="2" charset="0"/>
            </a:endParaRPr>
          </a:p>
        </p:txBody>
      </p:sp>
      <p:pic>
        <p:nvPicPr>
          <p:cNvPr id="4" name="图片 3">
            <a:extLst>
              <a:ext uri="{FF2B5EF4-FFF2-40B4-BE49-F238E27FC236}">
                <a16:creationId xmlns:a16="http://schemas.microsoft.com/office/drawing/2014/main" id="{BB6E0590-274B-9B07-40CB-2E0F4831E40E}"/>
              </a:ext>
            </a:extLst>
          </p:cNvPr>
          <p:cNvPicPr>
            <a:picLocks noChangeAspect="1"/>
          </p:cNvPicPr>
          <p:nvPr/>
        </p:nvPicPr>
        <p:blipFill>
          <a:blip r:embed="rId3"/>
          <a:stretch>
            <a:fillRect/>
          </a:stretch>
        </p:blipFill>
        <p:spPr>
          <a:xfrm>
            <a:off x="1117885" y="2575034"/>
            <a:ext cx="6908230" cy="2889469"/>
          </a:xfrm>
          <a:prstGeom prst="rect">
            <a:avLst/>
          </a:prstGeom>
        </p:spPr>
      </p:pic>
      <p:sp>
        <p:nvSpPr>
          <p:cNvPr id="5" name="文本框 4">
            <a:extLst>
              <a:ext uri="{FF2B5EF4-FFF2-40B4-BE49-F238E27FC236}">
                <a16:creationId xmlns:a16="http://schemas.microsoft.com/office/drawing/2014/main" id="{D2F5858F-2E7D-BDCE-59B8-73B01D890F04}"/>
              </a:ext>
            </a:extLst>
          </p:cNvPr>
          <p:cNvSpPr txBox="1"/>
          <p:nvPr/>
        </p:nvSpPr>
        <p:spPr>
          <a:xfrm>
            <a:off x="5885793" y="5484648"/>
            <a:ext cx="1734207" cy="307777"/>
          </a:xfrm>
          <a:prstGeom prst="rect">
            <a:avLst/>
          </a:prstGeom>
          <a:noFill/>
        </p:spPr>
        <p:txBody>
          <a:bodyPr wrap="square" rtlCol="0">
            <a:spAutoFit/>
          </a:bodyPr>
          <a:lstStyle/>
          <a:p>
            <a:r>
              <a:rPr kumimoji="1" lang="en-US" altLang="zh-CN" sz="1400" dirty="0"/>
              <a:t>From qiime2</a:t>
            </a:r>
            <a:endParaRPr kumimoji="1" lang="zh-CN" altLang="en-US" sz="1400" dirty="0"/>
          </a:p>
        </p:txBody>
      </p:sp>
    </p:spTree>
    <p:extLst>
      <p:ext uri="{BB962C8B-B14F-4D97-AF65-F5344CB8AC3E}">
        <p14:creationId xmlns:p14="http://schemas.microsoft.com/office/powerpoint/2010/main" val="1277910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748E7-9203-0A3D-BA95-F490A59EA314}"/>
              </a:ext>
            </a:extLst>
          </p:cNvPr>
          <p:cNvSpPr>
            <a:spLocks noGrp="1"/>
          </p:cNvSpPr>
          <p:nvPr>
            <p:ph type="title"/>
          </p:nvPr>
        </p:nvSpPr>
        <p:spPr>
          <a:xfrm>
            <a:off x="632455" y="203705"/>
            <a:ext cx="8128000" cy="601538"/>
          </a:xfrm>
        </p:spPr>
        <p:txBody>
          <a:bodyPr/>
          <a:lstStyle/>
          <a:p>
            <a:r>
              <a:rPr lang="en-US" altLang="zh-CN" b="1" dirty="0"/>
              <a:t>Beta diversity</a:t>
            </a:r>
            <a:endParaRPr kumimoji="1" lang="zh-CN" altLang="en-US" dirty="0"/>
          </a:p>
        </p:txBody>
      </p:sp>
      <p:sp>
        <p:nvSpPr>
          <p:cNvPr id="3" name="内容占位符 2">
            <a:extLst>
              <a:ext uri="{FF2B5EF4-FFF2-40B4-BE49-F238E27FC236}">
                <a16:creationId xmlns:a16="http://schemas.microsoft.com/office/drawing/2014/main" id="{205CE67A-4773-7E6D-9F4E-134243E565AE}"/>
              </a:ext>
            </a:extLst>
          </p:cNvPr>
          <p:cNvSpPr>
            <a:spLocks noGrp="1"/>
          </p:cNvSpPr>
          <p:nvPr>
            <p:ph idx="1"/>
          </p:nvPr>
        </p:nvSpPr>
        <p:spPr>
          <a:xfrm>
            <a:off x="632455" y="1193800"/>
            <a:ext cx="8128000" cy="1690172"/>
          </a:xfrm>
        </p:spPr>
        <p:txBody>
          <a:bodyPr/>
          <a:lstStyle/>
          <a:p>
            <a:r>
              <a:rPr lang="en-US" altLang="zh-CN" b="0" i="0" dirty="0">
                <a:effectLst/>
                <a:latin typeface="Roboto" panose="02000000000000000000" pitchFamily="2" charset="0"/>
              </a:rPr>
              <a:t>Beta diversity is between sample diversity</a:t>
            </a:r>
            <a:r>
              <a:rPr lang="en-US" altLang="zh-CN" dirty="0">
                <a:latin typeface="Roboto" panose="02000000000000000000" pitchFamily="2" charset="0"/>
              </a:rPr>
              <a:t>.</a:t>
            </a:r>
          </a:p>
          <a:p>
            <a:r>
              <a:rPr lang="en-US" altLang="zh-CN" b="0" i="0" u="none" strike="noStrike" dirty="0">
                <a:solidFill>
                  <a:srgbClr val="000000"/>
                </a:solidFill>
                <a:effectLst/>
                <a:latin typeface="-webkit-standard"/>
              </a:rPr>
              <a:t>It quantifies the dissimilarity or similarity in species composition between two or more samples.</a:t>
            </a:r>
            <a:endParaRPr lang="en-US" altLang="zh-CN" b="1" i="0" u="none" strike="noStrike" dirty="0">
              <a:solidFill>
                <a:srgbClr val="000000"/>
              </a:solidFill>
              <a:effectLst/>
            </a:endParaRPr>
          </a:p>
          <a:p>
            <a:endParaRPr kumimoji="1" lang="zh-CN" altLang="en-US" dirty="0"/>
          </a:p>
        </p:txBody>
      </p:sp>
      <p:graphicFrame>
        <p:nvGraphicFramePr>
          <p:cNvPr id="6" name="表格 5">
            <a:extLst>
              <a:ext uri="{FF2B5EF4-FFF2-40B4-BE49-F238E27FC236}">
                <a16:creationId xmlns:a16="http://schemas.microsoft.com/office/drawing/2014/main" id="{9B002C8D-B6D4-F8C3-C072-745C40FB3632}"/>
              </a:ext>
            </a:extLst>
          </p:cNvPr>
          <p:cNvGraphicFramePr>
            <a:graphicFrameLocks noGrp="1"/>
          </p:cNvGraphicFramePr>
          <p:nvPr>
            <p:extLst>
              <p:ext uri="{D42A27DB-BD31-4B8C-83A1-F6EECF244321}">
                <p14:modId xmlns:p14="http://schemas.microsoft.com/office/powerpoint/2010/main" val="3739990191"/>
              </p:ext>
            </p:extLst>
          </p:nvPr>
        </p:nvGraphicFramePr>
        <p:xfrm>
          <a:off x="735290" y="2728454"/>
          <a:ext cx="7598004" cy="2491150"/>
        </p:xfrm>
        <a:graphic>
          <a:graphicData uri="http://schemas.openxmlformats.org/drawingml/2006/table">
            <a:tbl>
              <a:tblPr firstRow="1">
                <a:tableStyleId>{F5AB1C69-6EDB-4FF4-983F-18BD219EF322}</a:tableStyleId>
              </a:tblPr>
              <a:tblGrid>
                <a:gridCol w="2285686">
                  <a:extLst>
                    <a:ext uri="{9D8B030D-6E8A-4147-A177-3AD203B41FA5}">
                      <a16:colId xmlns:a16="http://schemas.microsoft.com/office/drawing/2014/main" val="3232012212"/>
                    </a:ext>
                  </a:extLst>
                </a:gridCol>
                <a:gridCol w="1890389">
                  <a:extLst>
                    <a:ext uri="{9D8B030D-6E8A-4147-A177-3AD203B41FA5}">
                      <a16:colId xmlns:a16="http://schemas.microsoft.com/office/drawing/2014/main" val="498860271"/>
                    </a:ext>
                  </a:extLst>
                </a:gridCol>
                <a:gridCol w="1752515">
                  <a:extLst>
                    <a:ext uri="{9D8B030D-6E8A-4147-A177-3AD203B41FA5}">
                      <a16:colId xmlns:a16="http://schemas.microsoft.com/office/drawing/2014/main" val="168177448"/>
                    </a:ext>
                  </a:extLst>
                </a:gridCol>
                <a:gridCol w="1669414">
                  <a:extLst>
                    <a:ext uri="{9D8B030D-6E8A-4147-A177-3AD203B41FA5}">
                      <a16:colId xmlns:a16="http://schemas.microsoft.com/office/drawing/2014/main" val="1821732406"/>
                    </a:ext>
                  </a:extLst>
                </a:gridCol>
              </a:tblGrid>
              <a:tr h="708605">
                <a:tc>
                  <a:txBody>
                    <a:bodyPr/>
                    <a:lstStyle/>
                    <a:p>
                      <a:pPr algn="l" fontAlgn="ctr"/>
                      <a:r>
                        <a:rPr lang="en-US" sz="1400" u="none" strike="noStrike" dirty="0">
                          <a:effectLst/>
                        </a:rPr>
                        <a:t>Beta diversity</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en-US" sz="1400" u="none" strike="noStrike" dirty="0">
                          <a:effectLst/>
                        </a:rPr>
                        <a:t>Species Composition</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en-US" altLang="zh-CN" sz="1400" u="none" strike="noStrike" dirty="0">
                          <a:effectLst/>
                        </a:rPr>
                        <a:t>Species</a:t>
                      </a:r>
                      <a:r>
                        <a:rPr lang="zh-CN" altLang="en-US" sz="1400" u="none" strike="noStrike" dirty="0">
                          <a:effectLst/>
                        </a:rPr>
                        <a:t> </a:t>
                      </a:r>
                      <a:r>
                        <a:rPr lang="en-US" sz="1400" u="none" strike="noStrike" dirty="0">
                          <a:effectLst/>
                        </a:rPr>
                        <a:t>Abundance</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en-US" sz="1400" u="none" strike="noStrike" dirty="0">
                          <a:effectLst/>
                        </a:rPr>
                        <a:t>Phylogenetic Tree</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515866809"/>
                  </a:ext>
                </a:extLst>
              </a:tr>
              <a:tr h="356509">
                <a:tc>
                  <a:txBody>
                    <a:bodyPr/>
                    <a:lstStyle/>
                    <a:p>
                      <a:pPr algn="l" fontAlgn="ctr"/>
                      <a:r>
                        <a:rPr lang="en-US" sz="1400" u="none" strike="noStrike" dirty="0">
                          <a:effectLst/>
                        </a:rPr>
                        <a:t>Jaccard</a:t>
                      </a:r>
                      <a:r>
                        <a:rPr lang="zh-CN" altLang="en-US" sz="1400" u="none" strike="noStrike" dirty="0">
                          <a:effectLst/>
                        </a:rPr>
                        <a:t> </a:t>
                      </a:r>
                      <a:r>
                        <a:rPr lang="en-US" altLang="zh-CN" sz="1400" u="none" strike="noStrike" dirty="0">
                          <a:effectLst/>
                        </a:rPr>
                        <a:t>index</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a:effectLst/>
                        </a:rPr>
                        <a:t>✅</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512344549"/>
                  </a:ext>
                </a:extLst>
              </a:tr>
              <a:tr h="356509">
                <a:tc>
                  <a:txBody>
                    <a:bodyPr/>
                    <a:lstStyle/>
                    <a:p>
                      <a:pPr algn="l" fontAlgn="ctr"/>
                      <a:r>
                        <a:rPr lang="en-US" sz="1400" u="none" strike="noStrike" dirty="0">
                          <a:effectLst/>
                        </a:rPr>
                        <a:t>Sorensen index</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a:effectLst/>
                        </a:rPr>
                        <a:t>✅</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175452661"/>
                  </a:ext>
                </a:extLst>
              </a:tr>
              <a:tr h="356509">
                <a:tc>
                  <a:txBody>
                    <a:bodyPr/>
                    <a:lstStyle/>
                    <a:p>
                      <a:pPr algn="l" fontAlgn="ctr"/>
                      <a:r>
                        <a:rPr lang="en-US" sz="1400" u="none" strike="noStrike" dirty="0">
                          <a:effectLst/>
                        </a:rPr>
                        <a:t>Bray-Curtis distance</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a:effectLst/>
                        </a:rPr>
                        <a:t>✅</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a:effectLst/>
                        </a:rPr>
                        <a:t>✅</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547934645"/>
                  </a:ext>
                </a:extLst>
              </a:tr>
              <a:tr h="356509">
                <a:tc>
                  <a:txBody>
                    <a:bodyPr/>
                    <a:lstStyle/>
                    <a:p>
                      <a:pPr algn="l" fontAlgn="ctr"/>
                      <a:r>
                        <a:rPr lang="en-US" sz="1400" u="none" strike="noStrike" dirty="0">
                          <a:effectLst/>
                        </a:rPr>
                        <a:t>Euclidean distance</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a:effectLst/>
                        </a:rPr>
                        <a:t>✅</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a:effectLst/>
                        </a:rPr>
                        <a:t>✅</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343386469"/>
                  </a:ext>
                </a:extLst>
              </a:tr>
              <a:tr h="356509">
                <a:tc>
                  <a:txBody>
                    <a:bodyPr/>
                    <a:lstStyle/>
                    <a:p>
                      <a:pPr algn="l" fontAlgn="ctr"/>
                      <a:r>
                        <a:rPr lang="en-US" sz="1400" u="none" strike="noStrike" dirty="0">
                          <a:effectLst/>
                        </a:rPr>
                        <a:t>Weighted </a:t>
                      </a:r>
                      <a:r>
                        <a:rPr lang="en-US" sz="1400" u="none" strike="noStrike" dirty="0" err="1">
                          <a:effectLst/>
                        </a:rPr>
                        <a:t>UniFrac</a:t>
                      </a:r>
                      <a:r>
                        <a:rPr lang="en-US" sz="1400" u="none" strike="noStrike" dirty="0">
                          <a:effectLst/>
                        </a:rPr>
                        <a:t> distance</a:t>
                      </a:r>
                      <a:endParaRPr 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a:effectLst/>
                        </a:rPr>
                        <a:t>✅</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a:effectLst/>
                        </a:rPr>
                        <a:t>✅</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zh-CN" altLang="en-US" sz="1400" u="none" strike="noStrike" dirty="0">
                          <a:effectLst/>
                        </a:rPr>
                        <a:t>✅</a:t>
                      </a:r>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034905517"/>
                  </a:ext>
                </a:extLst>
              </a:tr>
            </a:tbl>
          </a:graphicData>
        </a:graphic>
      </p:graphicFrame>
    </p:spTree>
    <p:extLst>
      <p:ext uri="{BB962C8B-B14F-4D97-AF65-F5344CB8AC3E}">
        <p14:creationId xmlns:p14="http://schemas.microsoft.com/office/powerpoint/2010/main" val="585730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748E7-9203-0A3D-BA95-F490A59EA314}"/>
              </a:ext>
            </a:extLst>
          </p:cNvPr>
          <p:cNvSpPr>
            <a:spLocks noGrp="1"/>
          </p:cNvSpPr>
          <p:nvPr>
            <p:ph type="title"/>
          </p:nvPr>
        </p:nvSpPr>
        <p:spPr>
          <a:xfrm>
            <a:off x="632455" y="203705"/>
            <a:ext cx="8128000" cy="601538"/>
          </a:xfrm>
        </p:spPr>
        <p:txBody>
          <a:bodyPr/>
          <a:lstStyle/>
          <a:p>
            <a:r>
              <a:rPr lang="en-US" altLang="zh-CN" b="1" dirty="0"/>
              <a:t>Taxonomy distribution</a:t>
            </a:r>
            <a:br>
              <a:rPr lang="en-US" altLang="zh-CN" b="1" dirty="0"/>
            </a:br>
            <a:endParaRPr kumimoji="1" lang="zh-CN" altLang="en-US" dirty="0"/>
          </a:p>
        </p:txBody>
      </p:sp>
      <p:pic>
        <p:nvPicPr>
          <p:cNvPr id="5" name="图片 4">
            <a:extLst>
              <a:ext uri="{FF2B5EF4-FFF2-40B4-BE49-F238E27FC236}">
                <a16:creationId xmlns:a16="http://schemas.microsoft.com/office/drawing/2014/main" id="{0CAB89D7-9510-41F7-72DB-2FDDF53E625A}"/>
              </a:ext>
            </a:extLst>
          </p:cNvPr>
          <p:cNvPicPr>
            <a:picLocks noChangeAspect="1"/>
          </p:cNvPicPr>
          <p:nvPr/>
        </p:nvPicPr>
        <p:blipFill>
          <a:blip r:embed="rId3"/>
          <a:stretch>
            <a:fillRect/>
          </a:stretch>
        </p:blipFill>
        <p:spPr>
          <a:xfrm>
            <a:off x="1437739" y="1011674"/>
            <a:ext cx="6517432" cy="4834652"/>
          </a:xfrm>
          <a:prstGeom prst="rect">
            <a:avLst/>
          </a:prstGeom>
        </p:spPr>
      </p:pic>
      <p:sp>
        <p:nvSpPr>
          <p:cNvPr id="8" name="文本框 7">
            <a:extLst>
              <a:ext uri="{FF2B5EF4-FFF2-40B4-BE49-F238E27FC236}">
                <a16:creationId xmlns:a16="http://schemas.microsoft.com/office/drawing/2014/main" id="{17F2BEE9-CBBA-A86D-8C7C-E98841F6051B}"/>
              </a:ext>
            </a:extLst>
          </p:cNvPr>
          <p:cNvSpPr txBox="1"/>
          <p:nvPr/>
        </p:nvSpPr>
        <p:spPr>
          <a:xfrm>
            <a:off x="3575790" y="5937587"/>
            <a:ext cx="4577254" cy="400110"/>
          </a:xfrm>
          <a:prstGeom prst="rect">
            <a:avLst/>
          </a:prstGeom>
          <a:noFill/>
        </p:spPr>
        <p:txBody>
          <a:bodyPr wrap="square">
            <a:spAutoFit/>
          </a:bodyPr>
          <a:lstStyle/>
          <a:p>
            <a:r>
              <a:rPr lang="zh-CN" altLang="en-US" dirty="0"/>
              <a:t>https://www.arb-silva.de</a:t>
            </a:r>
          </a:p>
        </p:txBody>
      </p:sp>
    </p:spTree>
    <p:extLst>
      <p:ext uri="{BB962C8B-B14F-4D97-AF65-F5344CB8AC3E}">
        <p14:creationId xmlns:p14="http://schemas.microsoft.com/office/powerpoint/2010/main" val="2539457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748E7-9203-0A3D-BA95-F490A59EA314}"/>
              </a:ext>
            </a:extLst>
          </p:cNvPr>
          <p:cNvSpPr>
            <a:spLocks noGrp="1"/>
          </p:cNvSpPr>
          <p:nvPr>
            <p:ph type="title"/>
          </p:nvPr>
        </p:nvSpPr>
        <p:spPr>
          <a:xfrm>
            <a:off x="632455" y="203705"/>
            <a:ext cx="8128000" cy="601538"/>
          </a:xfrm>
        </p:spPr>
        <p:txBody>
          <a:bodyPr/>
          <a:lstStyle/>
          <a:p>
            <a:r>
              <a:rPr lang="en-US" altLang="zh-CN" b="1" dirty="0"/>
              <a:t>16S Data Structure</a:t>
            </a:r>
            <a:br>
              <a:rPr lang="en-US" altLang="zh-CN" b="1" dirty="0"/>
            </a:br>
            <a:endParaRPr kumimoji="1" lang="zh-CN" altLang="en-US" dirty="0"/>
          </a:p>
        </p:txBody>
      </p:sp>
      <p:sp>
        <p:nvSpPr>
          <p:cNvPr id="4" name="文本框 3">
            <a:extLst>
              <a:ext uri="{FF2B5EF4-FFF2-40B4-BE49-F238E27FC236}">
                <a16:creationId xmlns:a16="http://schemas.microsoft.com/office/drawing/2014/main" id="{9F5F532E-82CB-E0B7-0A8B-B4FED1D19ABD}"/>
              </a:ext>
            </a:extLst>
          </p:cNvPr>
          <p:cNvSpPr txBox="1"/>
          <p:nvPr/>
        </p:nvSpPr>
        <p:spPr>
          <a:xfrm>
            <a:off x="1228396" y="1104882"/>
            <a:ext cx="6687208" cy="4308872"/>
          </a:xfrm>
          <a:prstGeom prst="rect">
            <a:avLst/>
          </a:prstGeom>
          <a:noFill/>
        </p:spPr>
        <p:txBody>
          <a:bodyPr wrap="square">
            <a:spAutoFit/>
          </a:bodyPr>
          <a:lstStyle/>
          <a:p>
            <a:pPr algn="l"/>
            <a:r>
              <a:rPr lang="en-US" altLang="zh-CN" sz="1600" dirty="0">
                <a:solidFill>
                  <a:srgbClr val="0000FF"/>
                </a:solidFill>
                <a:effectLst/>
              </a:rPr>
              <a:t>&gt;</a:t>
            </a:r>
            <a:r>
              <a:rPr lang="en-US" altLang="zh-CN" sz="1600" dirty="0" err="1">
                <a:solidFill>
                  <a:srgbClr val="0000FF"/>
                </a:solidFill>
                <a:effectLst/>
              </a:rPr>
              <a:t>rar</a:t>
            </a:r>
            <a:r>
              <a:rPr lang="en-US" altLang="zh-CN" sz="1600" dirty="0">
                <a:solidFill>
                  <a:srgbClr val="0000FF"/>
                </a:solidFill>
                <a:effectLst/>
              </a:rPr>
              <a:t> &lt;- </a:t>
            </a:r>
            <a:r>
              <a:rPr lang="en-US" altLang="zh-CN" sz="1600" dirty="0" err="1">
                <a:solidFill>
                  <a:srgbClr val="0000FF"/>
                </a:solidFill>
                <a:effectLst/>
              </a:rPr>
              <a:t>readRDS</a:t>
            </a:r>
            <a:r>
              <a:rPr lang="en-US" altLang="zh-CN" sz="1600" dirty="0">
                <a:solidFill>
                  <a:srgbClr val="0000FF"/>
                </a:solidFill>
                <a:effectLst/>
              </a:rPr>
              <a:t>("fig1_24line.rds") </a:t>
            </a:r>
          </a:p>
          <a:p>
            <a:pPr algn="l"/>
            <a:r>
              <a:rPr lang="en-US" altLang="zh-CN" sz="1600" dirty="0">
                <a:solidFill>
                  <a:srgbClr val="0000FF"/>
                </a:solidFill>
                <a:effectLst/>
              </a:rPr>
              <a:t>&gt; </a:t>
            </a:r>
            <a:r>
              <a:rPr lang="en-US" altLang="zh-CN" sz="1600" dirty="0" err="1">
                <a:solidFill>
                  <a:srgbClr val="0000FF"/>
                </a:solidFill>
                <a:effectLst/>
              </a:rPr>
              <a:t>rar</a:t>
            </a:r>
            <a:endParaRPr lang="en-US" altLang="zh-CN" sz="1600" dirty="0">
              <a:solidFill>
                <a:srgbClr val="0000FF"/>
              </a:solidFill>
              <a:effectLst/>
            </a:endParaRPr>
          </a:p>
          <a:p>
            <a:pPr algn="l"/>
            <a:r>
              <a:rPr lang="en-US" altLang="zh-CN" sz="1600" dirty="0" err="1">
                <a:effectLst/>
              </a:rPr>
              <a:t>phyloseq</a:t>
            </a:r>
            <a:r>
              <a:rPr lang="en-US" altLang="zh-CN" sz="1600" dirty="0">
                <a:effectLst/>
              </a:rPr>
              <a:t>-class experiment-level object </a:t>
            </a:r>
          </a:p>
          <a:p>
            <a:pPr algn="l"/>
            <a:r>
              <a:rPr lang="en-US" altLang="zh-CN" sz="1600" dirty="0" err="1">
                <a:effectLst/>
              </a:rPr>
              <a:t>otu_table</a:t>
            </a:r>
            <a:r>
              <a:rPr lang="en-US" altLang="zh-CN" sz="1600" dirty="0">
                <a:effectLst/>
              </a:rPr>
              <a:t>() OTU Table: [ 1787 taxa and 204 samples ] </a:t>
            </a:r>
          </a:p>
          <a:p>
            <a:pPr algn="l"/>
            <a:r>
              <a:rPr lang="en-US" altLang="zh-CN" sz="1600" dirty="0" err="1">
                <a:effectLst/>
              </a:rPr>
              <a:t>sample_data</a:t>
            </a:r>
            <a:r>
              <a:rPr lang="en-US" altLang="zh-CN" sz="1600" dirty="0">
                <a:effectLst/>
              </a:rPr>
              <a:t>() Sample Data: [ 204 samples by 5 sample variables ] </a:t>
            </a:r>
            <a:r>
              <a:rPr lang="en-US" altLang="zh-CN" sz="1600" dirty="0" err="1">
                <a:effectLst/>
              </a:rPr>
              <a:t>tax_table</a:t>
            </a:r>
            <a:r>
              <a:rPr lang="en-US" altLang="zh-CN" sz="1600" dirty="0">
                <a:effectLst/>
              </a:rPr>
              <a:t>() Taxonomy Table: [ 1787 taxa by 6 taxonomic ranks ]</a:t>
            </a:r>
          </a:p>
          <a:p>
            <a:pPr algn="l"/>
            <a:endParaRPr lang="en-US" altLang="zh-CN" sz="1600" dirty="0"/>
          </a:p>
          <a:p>
            <a:pPr algn="l"/>
            <a:r>
              <a:rPr lang="en-US" altLang="zh-CN" sz="1600" dirty="0">
                <a:solidFill>
                  <a:srgbClr val="0000FF"/>
                </a:solidFill>
              </a:rPr>
              <a:t>&gt;</a:t>
            </a:r>
            <a:r>
              <a:rPr lang="en-US" altLang="zh-CN" sz="1600" dirty="0" err="1">
                <a:solidFill>
                  <a:srgbClr val="0000FF"/>
                </a:solidFill>
              </a:rPr>
              <a:t>sample_data</a:t>
            </a:r>
            <a:r>
              <a:rPr lang="en-US" altLang="zh-CN" sz="1600" dirty="0">
                <a:solidFill>
                  <a:srgbClr val="0000FF"/>
                </a:solidFill>
              </a:rPr>
              <a:t>(</a:t>
            </a:r>
            <a:r>
              <a:rPr lang="en-US" altLang="zh-CN" sz="1600" dirty="0" err="1">
                <a:solidFill>
                  <a:srgbClr val="0000FF"/>
                </a:solidFill>
              </a:rPr>
              <a:t>rar</a:t>
            </a:r>
            <a:r>
              <a:rPr lang="en-US" altLang="zh-CN" sz="1600" dirty="0">
                <a:solidFill>
                  <a:srgbClr val="0000FF"/>
                </a:solidFill>
              </a:rPr>
              <a:t>)</a:t>
            </a:r>
          </a:p>
          <a:p>
            <a:pPr algn="l"/>
            <a:r>
              <a:rPr lang="en-US" altLang="zh-CN" sz="1600" dirty="0">
                <a:solidFill>
                  <a:srgbClr val="0000FF"/>
                </a:solidFill>
              </a:rPr>
              <a:t>&gt;</a:t>
            </a:r>
            <a:r>
              <a:rPr lang="en-US" altLang="zh-CN" sz="1600" dirty="0" err="1">
                <a:solidFill>
                  <a:srgbClr val="0000FF"/>
                </a:solidFill>
              </a:rPr>
              <a:t>otu_table</a:t>
            </a:r>
            <a:r>
              <a:rPr lang="en-US" altLang="zh-CN" sz="1600" dirty="0">
                <a:solidFill>
                  <a:srgbClr val="0000FF"/>
                </a:solidFill>
              </a:rPr>
              <a:t>(</a:t>
            </a:r>
            <a:r>
              <a:rPr lang="en-US" altLang="zh-CN" sz="1600" dirty="0" err="1">
                <a:solidFill>
                  <a:srgbClr val="0000FF"/>
                </a:solidFill>
              </a:rPr>
              <a:t>rar</a:t>
            </a:r>
            <a:r>
              <a:rPr lang="en-US" altLang="zh-CN" sz="1600" dirty="0">
                <a:solidFill>
                  <a:srgbClr val="0000FF"/>
                </a:solidFill>
              </a:rPr>
              <a:t>)</a:t>
            </a:r>
          </a:p>
          <a:p>
            <a:pPr algn="l"/>
            <a:r>
              <a:rPr lang="en-US" altLang="zh-CN" sz="1600" dirty="0">
                <a:solidFill>
                  <a:srgbClr val="0000FF"/>
                </a:solidFill>
              </a:rPr>
              <a:t>&gt;</a:t>
            </a:r>
            <a:r>
              <a:rPr lang="en-US" altLang="zh-CN" sz="1600" dirty="0" err="1">
                <a:solidFill>
                  <a:srgbClr val="0000FF"/>
                </a:solidFill>
              </a:rPr>
              <a:t>tax_table</a:t>
            </a:r>
            <a:r>
              <a:rPr lang="en-US" altLang="zh-CN" sz="1600" dirty="0">
                <a:solidFill>
                  <a:srgbClr val="0000FF"/>
                </a:solidFill>
              </a:rPr>
              <a:t>(</a:t>
            </a:r>
            <a:r>
              <a:rPr lang="en-US" altLang="zh-CN" sz="1600" dirty="0" err="1">
                <a:solidFill>
                  <a:srgbClr val="0000FF"/>
                </a:solidFill>
              </a:rPr>
              <a:t>rar</a:t>
            </a:r>
            <a:r>
              <a:rPr lang="en-US" altLang="zh-CN" sz="1600" dirty="0">
                <a:solidFill>
                  <a:srgbClr val="0000FF"/>
                </a:solidFill>
              </a:rPr>
              <a:t>)</a:t>
            </a:r>
          </a:p>
          <a:p>
            <a:pPr algn="l"/>
            <a:endParaRPr lang="en-US" altLang="zh-CN" sz="1600" dirty="0"/>
          </a:p>
          <a:p>
            <a:pPr algn="l"/>
            <a:r>
              <a:rPr lang="en-US" altLang="zh-CN" sz="1400" dirty="0">
                <a:solidFill>
                  <a:srgbClr val="0000FF"/>
                </a:solidFill>
                <a:effectLst/>
              </a:rPr>
              <a:t>&gt; rar2 &lt;- </a:t>
            </a:r>
            <a:r>
              <a:rPr lang="en-US" altLang="zh-CN" sz="1400" dirty="0" err="1">
                <a:solidFill>
                  <a:srgbClr val="0000FF"/>
                </a:solidFill>
                <a:effectLst/>
              </a:rPr>
              <a:t>readRDS</a:t>
            </a:r>
            <a:r>
              <a:rPr lang="en-US" altLang="zh-CN" sz="1400" dirty="0">
                <a:solidFill>
                  <a:srgbClr val="0000FF"/>
                </a:solidFill>
                <a:effectLst/>
              </a:rPr>
              <a:t>("fig3_200line.rds")</a:t>
            </a:r>
          </a:p>
          <a:p>
            <a:pPr algn="l"/>
            <a:r>
              <a:rPr lang="en-US" altLang="zh-CN" sz="1400" dirty="0">
                <a:solidFill>
                  <a:srgbClr val="0000FF"/>
                </a:solidFill>
                <a:effectLst/>
              </a:rPr>
              <a:t>rar2</a:t>
            </a:r>
          </a:p>
          <a:p>
            <a:pPr algn="l"/>
            <a:r>
              <a:rPr lang="en-US" altLang="zh-CN" sz="1400" dirty="0" err="1">
                <a:effectLst/>
              </a:rPr>
              <a:t>phyloseq</a:t>
            </a:r>
            <a:r>
              <a:rPr lang="en-US" altLang="zh-CN" sz="1400" dirty="0">
                <a:effectLst/>
              </a:rPr>
              <a:t>-class experiment-level object</a:t>
            </a:r>
          </a:p>
          <a:p>
            <a:pPr algn="l"/>
            <a:r>
              <a:rPr lang="en-US" altLang="zh-CN" sz="1400" dirty="0" err="1">
                <a:effectLst/>
              </a:rPr>
              <a:t>otu_table</a:t>
            </a:r>
            <a:r>
              <a:rPr lang="en-US" altLang="zh-CN" sz="1400" dirty="0">
                <a:effectLst/>
              </a:rPr>
              <a:t>() OTU Table: [ 1189 taxa and 598 samples ]</a:t>
            </a:r>
          </a:p>
          <a:p>
            <a:pPr algn="l"/>
            <a:r>
              <a:rPr lang="en-US" altLang="zh-CN" sz="1400" dirty="0" err="1">
                <a:effectLst/>
              </a:rPr>
              <a:t>sample_data</a:t>
            </a:r>
            <a:r>
              <a:rPr lang="en-US" altLang="zh-CN" sz="1400" dirty="0">
                <a:effectLst/>
              </a:rPr>
              <a:t>() Sample Data: [ 598 samples by 16 sample variables ]</a:t>
            </a:r>
          </a:p>
          <a:p>
            <a:pPr algn="l"/>
            <a:r>
              <a:rPr lang="en-US" altLang="zh-CN" sz="1400" dirty="0" err="1">
                <a:effectLst/>
              </a:rPr>
              <a:t>tax_table</a:t>
            </a:r>
            <a:r>
              <a:rPr lang="en-US" altLang="zh-CN" sz="1400" dirty="0">
                <a:effectLst/>
              </a:rPr>
              <a:t>() Taxonomy Table: [ 1189 taxa by 7 taxonomic ranks ]</a:t>
            </a:r>
          </a:p>
          <a:p>
            <a:pPr algn="l"/>
            <a:r>
              <a:rPr lang="en-US" altLang="zh-CN" sz="1400" dirty="0" err="1">
                <a:effectLst/>
              </a:rPr>
              <a:t>phy_tree</a:t>
            </a:r>
            <a:r>
              <a:rPr lang="en-US" altLang="zh-CN" sz="1400" dirty="0">
                <a:effectLst/>
              </a:rPr>
              <a:t>() Phylogenetic Tree: [ 1189 tips and 1188 internal nodes ]</a:t>
            </a:r>
            <a:endParaRPr lang="zh-CN" altLang="en-US" sz="1600" dirty="0"/>
          </a:p>
        </p:txBody>
      </p:sp>
    </p:spTree>
    <p:extLst>
      <p:ext uri="{BB962C8B-B14F-4D97-AF65-F5344CB8AC3E}">
        <p14:creationId xmlns:p14="http://schemas.microsoft.com/office/powerpoint/2010/main" val="740469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34BE-AD8F-04CD-9D64-2D7CE3E0692C}"/>
              </a:ext>
            </a:extLst>
          </p:cNvPr>
          <p:cNvSpPr>
            <a:spLocks noGrp="1"/>
          </p:cNvSpPr>
          <p:nvPr>
            <p:ph type="title"/>
          </p:nvPr>
        </p:nvSpPr>
        <p:spPr>
          <a:xfrm>
            <a:off x="508000" y="264891"/>
            <a:ext cx="8128000" cy="601538"/>
          </a:xfrm>
        </p:spPr>
        <p:txBody>
          <a:bodyPr/>
          <a:lstStyle/>
          <a:p>
            <a:r>
              <a:rPr lang="el-GR" sz="3200" dirty="0"/>
              <a:t>α </a:t>
            </a:r>
            <a:r>
              <a:rPr lang="de-DE" sz="3200" dirty="0" err="1"/>
              <a:t>diversity</a:t>
            </a:r>
            <a:r>
              <a:rPr lang="de-DE" sz="3200" dirty="0"/>
              <a:t> -</a:t>
            </a:r>
            <a:r>
              <a:rPr lang="de-DE" sz="3200" dirty="0" err="1"/>
              <a:t>shannon</a:t>
            </a:r>
            <a:endParaRPr lang="de-DE" dirty="0"/>
          </a:p>
        </p:txBody>
      </p:sp>
      <p:pic>
        <p:nvPicPr>
          <p:cNvPr id="8" name="Content Placeholder 7">
            <a:extLst>
              <a:ext uri="{FF2B5EF4-FFF2-40B4-BE49-F238E27FC236}">
                <a16:creationId xmlns:a16="http://schemas.microsoft.com/office/drawing/2014/main" id="{EB6AD1D0-F82B-BDF8-FFBF-466D3298186A}"/>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bwMode="auto">
          <a:xfrm>
            <a:off x="508000" y="3780786"/>
            <a:ext cx="2802729" cy="239935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366F1A5-669E-65D6-AD09-D5326B7DE801}"/>
              </a:ext>
            </a:extLst>
          </p:cNvPr>
          <p:cNvPicPr>
            <a:picLocks noChangeAspect="1"/>
          </p:cNvPicPr>
          <p:nvPr/>
        </p:nvPicPr>
        <p:blipFill>
          <a:blip r:embed="rId3"/>
          <a:srcRect t="814" b="1"/>
          <a:stretch/>
        </p:blipFill>
        <p:spPr>
          <a:xfrm>
            <a:off x="365302" y="1361001"/>
            <a:ext cx="8642219" cy="2267693"/>
          </a:xfrm>
          <a:prstGeom prst="rect">
            <a:avLst/>
          </a:prstGeom>
        </p:spPr>
      </p:pic>
      <p:sp>
        <p:nvSpPr>
          <p:cNvPr id="13" name="TextBox 12">
            <a:extLst>
              <a:ext uri="{FF2B5EF4-FFF2-40B4-BE49-F238E27FC236}">
                <a16:creationId xmlns:a16="http://schemas.microsoft.com/office/drawing/2014/main" id="{436F4A81-9F30-2AC4-39C2-3138A0A9AA53}"/>
              </a:ext>
            </a:extLst>
          </p:cNvPr>
          <p:cNvSpPr txBox="1"/>
          <p:nvPr/>
        </p:nvSpPr>
        <p:spPr>
          <a:xfrm>
            <a:off x="6735337" y="5780035"/>
            <a:ext cx="2144807" cy="400110"/>
          </a:xfrm>
          <a:prstGeom prst="rect">
            <a:avLst/>
          </a:prstGeom>
          <a:noFill/>
        </p:spPr>
        <p:txBody>
          <a:bodyPr wrap="square" rtlCol="0">
            <a:spAutoFit/>
          </a:bodyPr>
          <a:lstStyle/>
          <a:p>
            <a:r>
              <a:rPr lang="de-DE" dirty="0"/>
              <a:t>Deng et al., 2021</a:t>
            </a:r>
          </a:p>
        </p:txBody>
      </p:sp>
    </p:spTree>
    <p:extLst>
      <p:ext uri="{BB962C8B-B14F-4D97-AF65-F5344CB8AC3E}">
        <p14:creationId xmlns:p14="http://schemas.microsoft.com/office/powerpoint/2010/main" val="2724024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34BE-AD8F-04CD-9D64-2D7CE3E0692C}"/>
              </a:ext>
            </a:extLst>
          </p:cNvPr>
          <p:cNvSpPr>
            <a:spLocks noGrp="1"/>
          </p:cNvSpPr>
          <p:nvPr>
            <p:ph type="title"/>
          </p:nvPr>
        </p:nvSpPr>
        <p:spPr>
          <a:xfrm>
            <a:off x="508000" y="264891"/>
            <a:ext cx="8128000" cy="601538"/>
          </a:xfrm>
        </p:spPr>
        <p:txBody>
          <a:bodyPr/>
          <a:lstStyle/>
          <a:p>
            <a:r>
              <a:rPr lang="de-DE" sz="3200" dirty="0" err="1"/>
              <a:t>Rarefaction</a:t>
            </a:r>
            <a:r>
              <a:rPr lang="de-DE" sz="3200" dirty="0"/>
              <a:t> </a:t>
            </a:r>
            <a:r>
              <a:rPr lang="de-DE" sz="3200" dirty="0" err="1"/>
              <a:t>analysis</a:t>
            </a:r>
            <a:br>
              <a:rPr lang="de-DE" sz="3200" dirty="0"/>
            </a:br>
            <a:br>
              <a:rPr lang="de-DE" sz="3200" dirty="0"/>
            </a:br>
            <a:endParaRPr lang="de-DE" dirty="0"/>
          </a:p>
        </p:txBody>
      </p:sp>
      <p:pic>
        <p:nvPicPr>
          <p:cNvPr id="3" name="图片 2">
            <a:extLst>
              <a:ext uri="{FF2B5EF4-FFF2-40B4-BE49-F238E27FC236}">
                <a16:creationId xmlns:a16="http://schemas.microsoft.com/office/drawing/2014/main" id="{0DF4BCE9-B345-2917-A553-F10C17990D83}"/>
              </a:ext>
            </a:extLst>
          </p:cNvPr>
          <p:cNvPicPr>
            <a:picLocks noChangeAspect="1"/>
          </p:cNvPicPr>
          <p:nvPr/>
        </p:nvPicPr>
        <p:blipFill>
          <a:blip r:embed="rId2"/>
          <a:stretch>
            <a:fillRect/>
          </a:stretch>
        </p:blipFill>
        <p:spPr>
          <a:xfrm>
            <a:off x="685800" y="1003449"/>
            <a:ext cx="6729413" cy="2740437"/>
          </a:xfrm>
          <a:prstGeom prst="rect">
            <a:avLst/>
          </a:prstGeom>
        </p:spPr>
      </p:pic>
      <p:pic>
        <p:nvPicPr>
          <p:cNvPr id="4" name="图片 3">
            <a:extLst>
              <a:ext uri="{FF2B5EF4-FFF2-40B4-BE49-F238E27FC236}">
                <a16:creationId xmlns:a16="http://schemas.microsoft.com/office/drawing/2014/main" id="{D2F42AD2-513F-B4C4-479D-8E43B4224BA1}"/>
              </a:ext>
            </a:extLst>
          </p:cNvPr>
          <p:cNvPicPr>
            <a:picLocks noChangeAspect="1"/>
          </p:cNvPicPr>
          <p:nvPr/>
        </p:nvPicPr>
        <p:blipFill>
          <a:blip r:embed="rId3"/>
          <a:stretch>
            <a:fillRect/>
          </a:stretch>
        </p:blipFill>
        <p:spPr>
          <a:xfrm>
            <a:off x="4723527" y="3003699"/>
            <a:ext cx="4420473" cy="2740437"/>
          </a:xfrm>
          <a:prstGeom prst="rect">
            <a:avLst/>
          </a:prstGeom>
        </p:spPr>
      </p:pic>
      <p:sp>
        <p:nvSpPr>
          <p:cNvPr id="5" name="TextBox 12">
            <a:extLst>
              <a:ext uri="{FF2B5EF4-FFF2-40B4-BE49-F238E27FC236}">
                <a16:creationId xmlns:a16="http://schemas.microsoft.com/office/drawing/2014/main" id="{7793667A-0206-A69E-7766-7B78B8D1A727}"/>
              </a:ext>
            </a:extLst>
          </p:cNvPr>
          <p:cNvSpPr txBox="1"/>
          <p:nvPr/>
        </p:nvSpPr>
        <p:spPr>
          <a:xfrm>
            <a:off x="6735337" y="5780035"/>
            <a:ext cx="2144807" cy="400110"/>
          </a:xfrm>
          <a:prstGeom prst="rect">
            <a:avLst/>
          </a:prstGeom>
          <a:noFill/>
        </p:spPr>
        <p:txBody>
          <a:bodyPr wrap="square" rtlCol="0">
            <a:spAutoFit/>
          </a:bodyPr>
          <a:lstStyle/>
          <a:p>
            <a:r>
              <a:rPr lang="de-DE" dirty="0"/>
              <a:t>Deng et al., 2021</a:t>
            </a:r>
          </a:p>
        </p:txBody>
      </p:sp>
    </p:spTree>
    <p:extLst>
      <p:ext uri="{BB962C8B-B14F-4D97-AF65-F5344CB8AC3E}">
        <p14:creationId xmlns:p14="http://schemas.microsoft.com/office/powerpoint/2010/main" val="2456445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579C-FD2F-70AF-6B18-40B6F5F14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0F8CC-ADE4-E5A7-BC2E-0CE7124F0CD0}"/>
              </a:ext>
            </a:extLst>
          </p:cNvPr>
          <p:cNvSpPr>
            <a:spLocks noGrp="1"/>
          </p:cNvSpPr>
          <p:nvPr>
            <p:ph type="title"/>
          </p:nvPr>
        </p:nvSpPr>
        <p:spPr>
          <a:xfrm>
            <a:off x="302941" y="261656"/>
            <a:ext cx="8128000" cy="601538"/>
          </a:xfrm>
        </p:spPr>
        <p:txBody>
          <a:bodyPr/>
          <a:lstStyle/>
          <a:p>
            <a:r>
              <a:rPr lang="el-GR" sz="3200" dirty="0"/>
              <a:t>β </a:t>
            </a:r>
            <a:r>
              <a:rPr lang="de-DE" dirty="0" err="1"/>
              <a:t>diversity</a:t>
            </a:r>
            <a:r>
              <a:rPr lang="de-DE" dirty="0"/>
              <a:t> - Bray-Curtis </a:t>
            </a:r>
            <a:r>
              <a:rPr lang="de-DE" dirty="0" err="1"/>
              <a:t>distance</a:t>
            </a:r>
            <a:endParaRPr lang="de-DE" dirty="0"/>
          </a:p>
        </p:txBody>
      </p:sp>
      <p:pic>
        <p:nvPicPr>
          <p:cNvPr id="10" name="Picture 9">
            <a:extLst>
              <a:ext uri="{FF2B5EF4-FFF2-40B4-BE49-F238E27FC236}">
                <a16:creationId xmlns:a16="http://schemas.microsoft.com/office/drawing/2014/main" id="{56A985DB-B88B-F9EE-CA1C-B27709889356}"/>
              </a:ext>
            </a:extLst>
          </p:cNvPr>
          <p:cNvPicPr>
            <a:picLocks noChangeAspect="1"/>
          </p:cNvPicPr>
          <p:nvPr/>
        </p:nvPicPr>
        <p:blipFill>
          <a:blip r:embed="rId2"/>
          <a:srcRect b="1735"/>
          <a:stretch/>
        </p:blipFill>
        <p:spPr>
          <a:xfrm>
            <a:off x="151470" y="1160696"/>
            <a:ext cx="8841059" cy="2278564"/>
          </a:xfrm>
          <a:prstGeom prst="rect">
            <a:avLst/>
          </a:prstGeom>
        </p:spPr>
      </p:pic>
      <p:pic>
        <p:nvPicPr>
          <p:cNvPr id="12" name="Picture 11">
            <a:extLst>
              <a:ext uri="{FF2B5EF4-FFF2-40B4-BE49-F238E27FC236}">
                <a16:creationId xmlns:a16="http://schemas.microsoft.com/office/drawing/2014/main" id="{76AD698F-BEC6-FEC1-9D14-E49ACC1065A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02941" y="3690337"/>
            <a:ext cx="3746716" cy="2356640"/>
          </a:xfrm>
          <a:prstGeom prst="rect">
            <a:avLst/>
          </a:prstGeom>
        </p:spPr>
      </p:pic>
      <p:sp>
        <p:nvSpPr>
          <p:cNvPr id="13" name="TextBox 12">
            <a:extLst>
              <a:ext uri="{FF2B5EF4-FFF2-40B4-BE49-F238E27FC236}">
                <a16:creationId xmlns:a16="http://schemas.microsoft.com/office/drawing/2014/main" id="{445ACF9C-ED9C-F1DF-E154-B9827C96A154}"/>
              </a:ext>
            </a:extLst>
          </p:cNvPr>
          <p:cNvSpPr txBox="1"/>
          <p:nvPr/>
        </p:nvSpPr>
        <p:spPr>
          <a:xfrm>
            <a:off x="6740856" y="5787213"/>
            <a:ext cx="2144807" cy="400110"/>
          </a:xfrm>
          <a:prstGeom prst="rect">
            <a:avLst/>
          </a:prstGeom>
          <a:noFill/>
        </p:spPr>
        <p:txBody>
          <a:bodyPr wrap="square" rtlCol="0">
            <a:spAutoFit/>
          </a:bodyPr>
          <a:lstStyle/>
          <a:p>
            <a:r>
              <a:rPr lang="de-DE" dirty="0"/>
              <a:t>Deng et al., 2021</a:t>
            </a:r>
          </a:p>
        </p:txBody>
      </p:sp>
    </p:spTree>
    <p:extLst>
      <p:ext uri="{BB962C8B-B14F-4D97-AF65-F5344CB8AC3E}">
        <p14:creationId xmlns:p14="http://schemas.microsoft.com/office/powerpoint/2010/main" val="3107046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34BE-AD8F-04CD-9D64-2D7CE3E0692C}"/>
              </a:ext>
            </a:extLst>
          </p:cNvPr>
          <p:cNvSpPr>
            <a:spLocks noGrp="1"/>
          </p:cNvSpPr>
          <p:nvPr>
            <p:ph type="title"/>
          </p:nvPr>
        </p:nvSpPr>
        <p:spPr>
          <a:xfrm>
            <a:off x="508000" y="264891"/>
            <a:ext cx="8128000" cy="601538"/>
          </a:xfrm>
        </p:spPr>
        <p:txBody>
          <a:bodyPr/>
          <a:lstStyle/>
          <a:p>
            <a:r>
              <a:rPr lang="de-DE" sz="3200" dirty="0" err="1"/>
              <a:t>Taxonomy</a:t>
            </a:r>
            <a:r>
              <a:rPr lang="de-DE" sz="3200" dirty="0"/>
              <a:t> </a:t>
            </a:r>
            <a:r>
              <a:rPr lang="de-DE" sz="3200" dirty="0" err="1"/>
              <a:t>distribution</a:t>
            </a:r>
            <a:endParaRPr lang="de-DE" dirty="0"/>
          </a:p>
        </p:txBody>
      </p:sp>
      <p:pic>
        <p:nvPicPr>
          <p:cNvPr id="4" name="图片 3">
            <a:extLst>
              <a:ext uri="{FF2B5EF4-FFF2-40B4-BE49-F238E27FC236}">
                <a16:creationId xmlns:a16="http://schemas.microsoft.com/office/drawing/2014/main" id="{7D6FB491-6050-6F51-ED95-16C9AA892A04}"/>
              </a:ext>
            </a:extLst>
          </p:cNvPr>
          <p:cNvPicPr>
            <a:picLocks noChangeAspect="1"/>
          </p:cNvPicPr>
          <p:nvPr/>
        </p:nvPicPr>
        <p:blipFill>
          <a:blip r:embed="rId2"/>
          <a:stretch>
            <a:fillRect/>
          </a:stretch>
        </p:blipFill>
        <p:spPr>
          <a:xfrm>
            <a:off x="328613" y="1038240"/>
            <a:ext cx="5572125" cy="3653601"/>
          </a:xfrm>
          <a:prstGeom prst="rect">
            <a:avLst/>
          </a:prstGeom>
        </p:spPr>
      </p:pic>
      <p:pic>
        <p:nvPicPr>
          <p:cNvPr id="5" name="图片 4">
            <a:extLst>
              <a:ext uri="{FF2B5EF4-FFF2-40B4-BE49-F238E27FC236}">
                <a16:creationId xmlns:a16="http://schemas.microsoft.com/office/drawing/2014/main" id="{C283D0F8-E16B-B04D-8159-40363849E517}"/>
              </a:ext>
            </a:extLst>
          </p:cNvPr>
          <p:cNvPicPr>
            <a:picLocks noChangeAspect="1"/>
          </p:cNvPicPr>
          <p:nvPr/>
        </p:nvPicPr>
        <p:blipFill>
          <a:blip r:embed="rId3"/>
          <a:stretch>
            <a:fillRect/>
          </a:stretch>
        </p:blipFill>
        <p:spPr>
          <a:xfrm>
            <a:off x="4858516" y="3171826"/>
            <a:ext cx="4610412" cy="2608210"/>
          </a:xfrm>
          <a:prstGeom prst="rect">
            <a:avLst/>
          </a:prstGeom>
        </p:spPr>
      </p:pic>
      <p:sp>
        <p:nvSpPr>
          <p:cNvPr id="6" name="TextBox 12">
            <a:extLst>
              <a:ext uri="{FF2B5EF4-FFF2-40B4-BE49-F238E27FC236}">
                <a16:creationId xmlns:a16="http://schemas.microsoft.com/office/drawing/2014/main" id="{862A4F11-44A7-401F-0536-A697884C0541}"/>
              </a:ext>
            </a:extLst>
          </p:cNvPr>
          <p:cNvSpPr txBox="1"/>
          <p:nvPr/>
        </p:nvSpPr>
        <p:spPr>
          <a:xfrm>
            <a:off x="6735337" y="5780035"/>
            <a:ext cx="2144807" cy="400110"/>
          </a:xfrm>
          <a:prstGeom prst="rect">
            <a:avLst/>
          </a:prstGeom>
          <a:noFill/>
        </p:spPr>
        <p:txBody>
          <a:bodyPr wrap="square" rtlCol="0">
            <a:spAutoFit/>
          </a:bodyPr>
          <a:lstStyle/>
          <a:p>
            <a:r>
              <a:rPr lang="de-DE" dirty="0"/>
              <a:t>Deng et al., 2021</a:t>
            </a:r>
          </a:p>
        </p:txBody>
      </p:sp>
    </p:spTree>
    <p:extLst>
      <p:ext uri="{BB962C8B-B14F-4D97-AF65-F5344CB8AC3E}">
        <p14:creationId xmlns:p14="http://schemas.microsoft.com/office/powerpoint/2010/main" val="731136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C14D-293A-0C79-F073-5168101C14A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B0B465-0559-E384-CCDE-E0F05FE89A8A}"/>
              </a:ext>
            </a:extLst>
          </p:cNvPr>
          <p:cNvPicPr>
            <a:picLocks noChangeAspect="1"/>
          </p:cNvPicPr>
          <p:nvPr/>
        </p:nvPicPr>
        <p:blipFill>
          <a:blip r:embed="rId2"/>
          <a:stretch>
            <a:fillRect/>
          </a:stretch>
        </p:blipFill>
        <p:spPr>
          <a:xfrm>
            <a:off x="3143849" y="130269"/>
            <a:ext cx="1804044" cy="1434396"/>
          </a:xfrm>
          <a:prstGeom prst="rect">
            <a:avLst/>
          </a:prstGeom>
        </p:spPr>
      </p:pic>
      <p:sp>
        <p:nvSpPr>
          <p:cNvPr id="4" name="Title 1">
            <a:extLst>
              <a:ext uri="{FF2B5EF4-FFF2-40B4-BE49-F238E27FC236}">
                <a16:creationId xmlns:a16="http://schemas.microsoft.com/office/drawing/2014/main" id="{0621004E-12D0-B877-7043-B5435C6AD9C1}"/>
              </a:ext>
            </a:extLst>
          </p:cNvPr>
          <p:cNvSpPr txBox="1">
            <a:spLocks/>
          </p:cNvSpPr>
          <p:nvPr/>
        </p:nvSpPr>
        <p:spPr bwMode="auto">
          <a:xfrm>
            <a:off x="0" y="2643233"/>
            <a:ext cx="9144000" cy="937648"/>
          </a:xfrm>
          <a:prstGeom prst="rect">
            <a:avLst/>
          </a:prstGeom>
          <a:solidFill>
            <a:srgbClr val="0065BD"/>
          </a:solidFill>
          <a:ln>
            <a:noFill/>
          </a:ln>
          <a:extLs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rtl="0" eaLnBrk="0" fontAlgn="base" hangingPunct="0">
              <a:lnSpc>
                <a:spcPct val="150000"/>
              </a:lnSpc>
              <a:spcBef>
                <a:spcPct val="0"/>
              </a:spcBef>
              <a:spcAft>
                <a:spcPct val="0"/>
              </a:spcAft>
              <a:defRPr sz="3200" b="0">
                <a:solidFill>
                  <a:schemeClr val="bg1"/>
                </a:solidFill>
                <a:latin typeface="+mj-lt"/>
                <a:ea typeface="ＭＳ Ｐゴシック" pitchFamily="-65" charset="-128"/>
                <a:cs typeface="ＭＳ Ｐゴシック" pitchFamily="18" charset="-128"/>
              </a:defRPr>
            </a:lvl1pPr>
            <a:lvl2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2pPr>
            <a:lvl3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3pPr>
            <a:lvl4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4pPr>
            <a:lvl5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5pPr>
            <a:lvl6pPr marL="457200" algn="l" rtl="0" eaLnBrk="1" fontAlgn="base" hangingPunct="1">
              <a:spcBef>
                <a:spcPct val="0"/>
              </a:spcBef>
              <a:spcAft>
                <a:spcPct val="0"/>
              </a:spcAft>
              <a:defRPr sz="2400" b="1">
                <a:solidFill>
                  <a:schemeClr val="tx1"/>
                </a:solidFill>
                <a:latin typeface="Arial" pitchFamily="34" charset="0"/>
              </a:defRPr>
            </a:lvl6pPr>
            <a:lvl7pPr marL="914400" algn="l" rtl="0" eaLnBrk="1" fontAlgn="base" hangingPunct="1">
              <a:spcBef>
                <a:spcPct val="0"/>
              </a:spcBef>
              <a:spcAft>
                <a:spcPct val="0"/>
              </a:spcAft>
              <a:defRPr sz="2400" b="1">
                <a:solidFill>
                  <a:schemeClr val="tx1"/>
                </a:solidFill>
                <a:latin typeface="Arial" pitchFamily="34" charset="0"/>
              </a:defRPr>
            </a:lvl7pPr>
            <a:lvl8pPr marL="1371600" algn="l" rtl="0" eaLnBrk="1" fontAlgn="base" hangingPunct="1">
              <a:spcBef>
                <a:spcPct val="0"/>
              </a:spcBef>
              <a:spcAft>
                <a:spcPct val="0"/>
              </a:spcAft>
              <a:defRPr sz="2400" b="1">
                <a:solidFill>
                  <a:schemeClr val="tx1"/>
                </a:solidFill>
                <a:latin typeface="Arial" pitchFamily="34" charset="0"/>
              </a:defRPr>
            </a:lvl8pPr>
            <a:lvl9pPr marL="1828800" algn="l" rtl="0" eaLnBrk="1" fontAlgn="base" hangingPunct="1">
              <a:spcBef>
                <a:spcPct val="0"/>
              </a:spcBef>
              <a:spcAft>
                <a:spcPct val="0"/>
              </a:spcAft>
              <a:defRPr sz="2400" b="1">
                <a:solidFill>
                  <a:schemeClr val="tx1"/>
                </a:solidFill>
                <a:latin typeface="Arial" pitchFamily="34" charset="0"/>
              </a:defRPr>
            </a:lvl9pPr>
          </a:lstStyle>
          <a:p>
            <a:r>
              <a:rPr lang="en-US" kern="0"/>
              <a:t>Preparation for the upcoming exercises</a:t>
            </a:r>
            <a:endParaRPr lang="de-DE" kern="0" dirty="0"/>
          </a:p>
        </p:txBody>
      </p:sp>
      <p:sp>
        <p:nvSpPr>
          <p:cNvPr id="5" name="Title 4">
            <a:extLst>
              <a:ext uri="{FF2B5EF4-FFF2-40B4-BE49-F238E27FC236}">
                <a16:creationId xmlns:a16="http://schemas.microsoft.com/office/drawing/2014/main" id="{F48817A1-FB03-F787-150E-13B441EE8C21}"/>
              </a:ext>
            </a:extLst>
          </p:cNvPr>
          <p:cNvSpPr>
            <a:spLocks noGrp="1"/>
          </p:cNvSpPr>
          <p:nvPr>
            <p:ph type="ctrTitle"/>
          </p:nvPr>
        </p:nvSpPr>
        <p:spPr>
          <a:xfrm>
            <a:off x="0" y="2643233"/>
            <a:ext cx="9144000" cy="937648"/>
          </a:xfrm>
        </p:spPr>
        <p:txBody>
          <a:bodyPr/>
          <a:lstStyle/>
          <a:p>
            <a:r>
              <a:rPr lang="en-US" dirty="0"/>
              <a:t>III </a:t>
            </a:r>
            <a:r>
              <a:rPr lang="de-DE" altLang="zh-CN" dirty="0">
                <a:latin typeface="Arial" charset="0"/>
                <a:ea typeface="ＭＳ Ｐゴシック" charset="0"/>
                <a:cs typeface="ＭＳ Ｐゴシック" charset="0"/>
              </a:rPr>
              <a:t>Root </a:t>
            </a:r>
            <a:r>
              <a:rPr lang="de-DE" altLang="zh-CN" dirty="0" err="1">
                <a:latin typeface="Arial" charset="0"/>
                <a:ea typeface="ＭＳ Ｐゴシック" charset="0"/>
                <a:cs typeface="ＭＳ Ｐゴシック" charset="0"/>
              </a:rPr>
              <a:t>transcriptome</a:t>
            </a:r>
            <a:r>
              <a:rPr lang="de-DE" altLang="zh-CN" dirty="0">
                <a:latin typeface="Arial" charset="0"/>
                <a:ea typeface="ＭＳ Ｐゴシック" charset="0"/>
                <a:cs typeface="ＭＳ Ｐゴシック" charset="0"/>
              </a:rPr>
              <a:t> </a:t>
            </a:r>
            <a:r>
              <a:rPr lang="de-DE" altLang="zh-CN" dirty="0" err="1">
                <a:latin typeface="Arial" charset="0"/>
                <a:ea typeface="ＭＳ Ｐゴシック" charset="0"/>
                <a:cs typeface="ＭＳ Ｐゴシック" charset="0"/>
              </a:rPr>
              <a:t>data</a:t>
            </a:r>
            <a:r>
              <a:rPr lang="de-DE" altLang="zh-CN" dirty="0">
                <a:latin typeface="Arial" charset="0"/>
                <a:ea typeface="ＭＳ Ｐゴシック" charset="0"/>
                <a:cs typeface="ＭＳ Ｐゴシック" charset="0"/>
              </a:rPr>
              <a:t> </a:t>
            </a:r>
            <a:r>
              <a:rPr lang="de-DE" altLang="zh-CN" dirty="0" err="1">
                <a:latin typeface="Arial" charset="0"/>
                <a:ea typeface="ＭＳ Ｐゴシック" charset="0"/>
                <a:cs typeface="ＭＳ Ｐゴシック" charset="0"/>
              </a:rPr>
              <a:t>analysis</a:t>
            </a:r>
            <a:r>
              <a:rPr lang="de-DE" altLang="zh-CN" dirty="0">
                <a:latin typeface="Arial" charset="0"/>
                <a:ea typeface="ＭＳ Ｐゴシック" charset="0"/>
                <a:cs typeface="ＭＳ Ｐゴシック" charset="0"/>
              </a:rPr>
              <a:t> </a:t>
            </a:r>
            <a:r>
              <a:rPr lang="en-US" dirty="0"/>
              <a:t>(4.6)</a:t>
            </a:r>
            <a:endParaRPr lang="de-DE" dirty="0"/>
          </a:p>
        </p:txBody>
      </p:sp>
    </p:spTree>
    <p:extLst>
      <p:ext uri="{BB962C8B-B14F-4D97-AF65-F5344CB8AC3E}">
        <p14:creationId xmlns:p14="http://schemas.microsoft.com/office/powerpoint/2010/main" val="1410935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ED04A-212B-149D-C56A-A88F10A39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59131-F6D4-2D2E-19FA-EC8DE9B6B6C5}"/>
              </a:ext>
            </a:extLst>
          </p:cNvPr>
          <p:cNvSpPr>
            <a:spLocks noGrp="1"/>
          </p:cNvSpPr>
          <p:nvPr>
            <p:ph type="title"/>
          </p:nvPr>
        </p:nvSpPr>
        <p:spPr>
          <a:xfrm>
            <a:off x="397000" y="212227"/>
            <a:ext cx="8128000" cy="601538"/>
          </a:xfrm>
        </p:spPr>
        <p:txBody>
          <a:bodyPr/>
          <a:lstStyle/>
          <a:p>
            <a:r>
              <a:rPr lang="de-DE" dirty="0" err="1"/>
              <a:t>Transcriptome</a:t>
            </a:r>
            <a:r>
              <a:rPr lang="de-DE" dirty="0"/>
              <a:t> </a:t>
            </a:r>
            <a:r>
              <a:rPr lang="de-DE" dirty="0" err="1"/>
              <a:t>Sequencing</a:t>
            </a:r>
            <a:endParaRPr lang="de-DE" dirty="0"/>
          </a:p>
        </p:txBody>
      </p:sp>
      <p:sp>
        <p:nvSpPr>
          <p:cNvPr id="3" name="Content Placeholder 2">
            <a:extLst>
              <a:ext uri="{FF2B5EF4-FFF2-40B4-BE49-F238E27FC236}">
                <a16:creationId xmlns:a16="http://schemas.microsoft.com/office/drawing/2014/main" id="{0D95D526-081A-A150-E46A-21720AE73989}"/>
              </a:ext>
            </a:extLst>
          </p:cNvPr>
          <p:cNvSpPr>
            <a:spLocks noGrp="1"/>
          </p:cNvSpPr>
          <p:nvPr>
            <p:ph idx="1"/>
          </p:nvPr>
        </p:nvSpPr>
        <p:spPr>
          <a:xfrm>
            <a:off x="5314947" y="1892647"/>
            <a:ext cx="3374067" cy="3971583"/>
          </a:xfrm>
        </p:spPr>
        <p:txBody>
          <a:bodyPr/>
          <a:lstStyle/>
          <a:p>
            <a:pPr>
              <a:buFont typeface="Wingdings" panose="05000000000000000000" pitchFamily="2" charset="2"/>
              <a:buChar char="Ø"/>
            </a:pPr>
            <a:r>
              <a:rPr lang="de-DE" sz="1800" dirty="0"/>
              <a:t>Core </a:t>
            </a:r>
            <a:r>
              <a:rPr lang="de-DE" sz="1800" dirty="0" err="1"/>
              <a:t>Applications</a:t>
            </a:r>
            <a:r>
              <a:rPr lang="de-DE" sz="1800" dirty="0"/>
              <a:t> </a:t>
            </a:r>
            <a:r>
              <a:rPr lang="de-DE" sz="1800" dirty="0" err="1"/>
              <a:t>of</a:t>
            </a:r>
            <a:r>
              <a:rPr lang="de-DE" sz="1800" dirty="0"/>
              <a:t> RNA-</a:t>
            </a:r>
            <a:r>
              <a:rPr lang="de-DE" sz="1800" dirty="0" err="1"/>
              <a:t>seq</a:t>
            </a:r>
            <a:endParaRPr lang="de-DE" sz="1800" dirty="0"/>
          </a:p>
          <a:p>
            <a:endParaRPr lang="de-DE" sz="1800" dirty="0"/>
          </a:p>
          <a:p>
            <a:r>
              <a:rPr lang="de-DE" sz="1800" dirty="0" err="1"/>
              <a:t>Quantifying</a:t>
            </a:r>
            <a:r>
              <a:rPr lang="de-DE" sz="1800" dirty="0"/>
              <a:t> </a:t>
            </a:r>
            <a:r>
              <a:rPr lang="de-DE" sz="1800" dirty="0" err="1"/>
              <a:t>gene</a:t>
            </a:r>
            <a:r>
              <a:rPr lang="de-DE" sz="1800" dirty="0"/>
              <a:t> </a:t>
            </a:r>
            <a:r>
              <a:rPr lang="de-DE" sz="1800" dirty="0" err="1"/>
              <a:t>expression</a:t>
            </a:r>
            <a:r>
              <a:rPr lang="de-DE" sz="1800" dirty="0"/>
              <a:t> </a:t>
            </a:r>
            <a:r>
              <a:rPr lang="de-DE" sz="1800" dirty="0" err="1"/>
              <a:t>levels</a:t>
            </a:r>
            <a:endParaRPr lang="de-DE" sz="1800" dirty="0"/>
          </a:p>
          <a:p>
            <a:endParaRPr lang="de-DE" sz="1800" dirty="0"/>
          </a:p>
          <a:p>
            <a:r>
              <a:rPr lang="de-DE" sz="1800" dirty="0" err="1"/>
              <a:t>Detecting</a:t>
            </a:r>
            <a:r>
              <a:rPr lang="de-DE" sz="1800" dirty="0"/>
              <a:t> alternative </a:t>
            </a:r>
            <a:r>
              <a:rPr lang="de-DE" sz="1800" dirty="0" err="1"/>
              <a:t>splicingevents</a:t>
            </a:r>
            <a:endParaRPr lang="de-DE" sz="1800" dirty="0"/>
          </a:p>
          <a:p>
            <a:endParaRPr lang="de-DE" sz="1800" dirty="0"/>
          </a:p>
          <a:p>
            <a:r>
              <a:rPr lang="de-DE" sz="1800" dirty="0"/>
              <a:t>Assembling </a:t>
            </a:r>
            <a:r>
              <a:rPr lang="de-DE" sz="1800" dirty="0" err="1"/>
              <a:t>transcripts</a:t>
            </a:r>
            <a:r>
              <a:rPr lang="de-DE" sz="1800" dirty="0"/>
              <a:t> (de </a:t>
            </a:r>
            <a:r>
              <a:rPr lang="de-DE" sz="1800" dirty="0" err="1"/>
              <a:t>novo</a:t>
            </a:r>
            <a:r>
              <a:rPr lang="de-DE" sz="1800" dirty="0"/>
              <a:t> </a:t>
            </a:r>
            <a:r>
              <a:rPr lang="de-DE" sz="1800" dirty="0" err="1"/>
              <a:t>or</a:t>
            </a:r>
            <a:r>
              <a:rPr lang="de-DE" sz="1800" dirty="0"/>
              <a:t> </a:t>
            </a:r>
            <a:r>
              <a:rPr lang="de-DE" sz="1800" dirty="0" err="1"/>
              <a:t>reference-guided</a:t>
            </a:r>
            <a:r>
              <a:rPr lang="de-DE" sz="1800" dirty="0"/>
              <a:t>)</a:t>
            </a:r>
          </a:p>
          <a:p>
            <a:endParaRPr lang="de-DE" sz="1800" dirty="0"/>
          </a:p>
          <a:p>
            <a:r>
              <a:rPr lang="de-DE" sz="1800" dirty="0" err="1"/>
              <a:t>Detecting</a:t>
            </a:r>
            <a:r>
              <a:rPr lang="de-DE" sz="1800" dirty="0"/>
              <a:t> </a:t>
            </a:r>
            <a:r>
              <a:rPr lang="de-DE" sz="1800" dirty="0" err="1"/>
              <a:t>gene</a:t>
            </a:r>
            <a:r>
              <a:rPr lang="de-DE" sz="1800" dirty="0"/>
              <a:t> </a:t>
            </a:r>
            <a:r>
              <a:rPr lang="de-DE" sz="1800" dirty="0" err="1"/>
              <a:t>fusions</a:t>
            </a:r>
            <a:endParaRPr lang="de-DE" sz="1800" dirty="0"/>
          </a:p>
        </p:txBody>
      </p:sp>
      <p:pic>
        <p:nvPicPr>
          <p:cNvPr id="2050" name="Picture 2" descr="Figure 1">
            <a:extLst>
              <a:ext uri="{FF2B5EF4-FFF2-40B4-BE49-F238E27FC236}">
                <a16:creationId xmlns:a16="http://schemas.microsoft.com/office/drawing/2014/main" id="{D596B808-66EC-5BEA-A9E5-31F34C1CAF98}"/>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40525" y="1966691"/>
            <a:ext cx="3613337" cy="39715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BCF0FC2-1030-4525-9F2A-682ED32458F9}"/>
              </a:ext>
            </a:extLst>
          </p:cNvPr>
          <p:cNvSpPr txBox="1"/>
          <p:nvPr/>
        </p:nvSpPr>
        <p:spPr>
          <a:xfrm>
            <a:off x="815546" y="5943258"/>
            <a:ext cx="4104116" cy="338554"/>
          </a:xfrm>
          <a:prstGeom prst="rect">
            <a:avLst/>
          </a:prstGeom>
          <a:noFill/>
        </p:spPr>
        <p:txBody>
          <a:bodyPr wrap="square" rtlCol="0">
            <a:spAutoFit/>
          </a:bodyPr>
          <a:lstStyle/>
          <a:p>
            <a:r>
              <a:rPr lang="en-US" sz="1600" dirty="0"/>
              <a:t>(Wang et al.,2009, nature reviews genetics)</a:t>
            </a:r>
            <a:endParaRPr lang="de-DE" sz="1600" dirty="0"/>
          </a:p>
        </p:txBody>
      </p:sp>
      <p:sp>
        <p:nvSpPr>
          <p:cNvPr id="5" name="内容占位符 2">
            <a:extLst>
              <a:ext uri="{FF2B5EF4-FFF2-40B4-BE49-F238E27FC236}">
                <a16:creationId xmlns:a16="http://schemas.microsoft.com/office/drawing/2014/main" id="{C7029896-B42F-62E7-FB2C-E7A21D507E1C}"/>
              </a:ext>
            </a:extLst>
          </p:cNvPr>
          <p:cNvSpPr txBox="1">
            <a:spLocks/>
          </p:cNvSpPr>
          <p:nvPr/>
        </p:nvSpPr>
        <p:spPr>
          <a:xfrm>
            <a:off x="508000" y="1029043"/>
            <a:ext cx="8128000" cy="937648"/>
          </a:xfrm>
          <a:prstGeom prst="rect">
            <a:avLst/>
          </a:prstGeom>
        </p:spPr>
        <p:txBody>
          <a:bodyPr/>
          <a:lstStyle>
            <a:lvl1pPr marL="266700" indent="-266700" algn="l" rtl="0" eaLnBrk="0" fontAlgn="base" hangingPunct="0">
              <a:spcBef>
                <a:spcPct val="20000"/>
              </a:spcBef>
              <a:spcAft>
                <a:spcPct val="0"/>
              </a:spcAft>
              <a:buClr>
                <a:schemeClr val="tx2"/>
              </a:buClr>
              <a:buFont typeface="Wingdings" charset="2"/>
              <a:buChar char="§"/>
              <a:defRPr sz="2000" b="0">
                <a:solidFill>
                  <a:schemeClr val="tx1"/>
                </a:solidFill>
                <a:latin typeface="+mn-lt"/>
                <a:ea typeface="ＭＳ Ｐゴシック" pitchFamily="-65" charset="-128"/>
                <a:cs typeface="ＭＳ Ｐゴシック" pitchFamily="18" charset="-128"/>
              </a:defRPr>
            </a:lvl1pPr>
            <a:lvl2pPr marL="534988" indent="-268288"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2pPr>
            <a:lvl3pPr marL="801688"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3pPr>
            <a:lvl4pPr marL="1079500" indent="-277813"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4pPr>
            <a:lvl5pPr marL="1346200"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5pPr>
            <a:lvl6pPr marL="2438400" indent="-228600" algn="l" rtl="0" eaLnBrk="1" fontAlgn="base" hangingPunct="1">
              <a:spcBef>
                <a:spcPct val="20000"/>
              </a:spcBef>
              <a:spcAft>
                <a:spcPct val="0"/>
              </a:spcAft>
              <a:buChar char="»"/>
              <a:defRPr sz="1400">
                <a:solidFill>
                  <a:schemeClr val="tx1"/>
                </a:solidFill>
                <a:latin typeface="+mn-lt"/>
              </a:defRPr>
            </a:lvl6pPr>
            <a:lvl7pPr marL="2895600" indent="-228600" algn="l" rtl="0" eaLnBrk="1" fontAlgn="base" hangingPunct="1">
              <a:spcBef>
                <a:spcPct val="20000"/>
              </a:spcBef>
              <a:spcAft>
                <a:spcPct val="0"/>
              </a:spcAft>
              <a:buChar char="»"/>
              <a:defRPr sz="1400">
                <a:solidFill>
                  <a:schemeClr val="tx1"/>
                </a:solidFill>
                <a:latin typeface="+mn-lt"/>
              </a:defRPr>
            </a:lvl7pPr>
            <a:lvl8pPr marL="3352800" indent="-228600" algn="l" rtl="0" eaLnBrk="1" fontAlgn="base" hangingPunct="1">
              <a:spcBef>
                <a:spcPct val="20000"/>
              </a:spcBef>
              <a:spcAft>
                <a:spcPct val="0"/>
              </a:spcAft>
              <a:buChar char="»"/>
              <a:defRPr sz="1400">
                <a:solidFill>
                  <a:schemeClr val="tx1"/>
                </a:solidFill>
                <a:latin typeface="+mn-lt"/>
              </a:defRPr>
            </a:lvl8pPr>
            <a:lvl9pPr marL="3810000" indent="-228600" algn="l" rtl="0" eaLnBrk="1" fontAlgn="base" hangingPunct="1">
              <a:spcBef>
                <a:spcPct val="20000"/>
              </a:spcBef>
              <a:spcAft>
                <a:spcPct val="0"/>
              </a:spcAft>
              <a:buChar char="»"/>
              <a:defRPr sz="1400">
                <a:solidFill>
                  <a:schemeClr val="tx1"/>
                </a:solidFill>
                <a:latin typeface="+mn-lt"/>
              </a:defRPr>
            </a:lvl9pPr>
          </a:lstStyle>
          <a:p>
            <a:pPr>
              <a:buFont typeface="Wingdings" pitchFamily="2" charset="2"/>
              <a:buChar char="Ø"/>
            </a:pPr>
            <a:r>
              <a:rPr lang="en-US" altLang="zh-CN" b="1" dirty="0"/>
              <a:t>Research objective:</a:t>
            </a:r>
            <a:r>
              <a:rPr lang="en-US" altLang="zh-CN" dirty="0"/>
              <a:t> To understand the standard RNA-seq data analysis workflow and construct an expression matrix.</a:t>
            </a:r>
            <a:endParaRPr lang="en-US" altLang="zh-CN" kern="0" dirty="0"/>
          </a:p>
          <a:p>
            <a:endParaRPr kumimoji="1" lang="zh-CN" altLang="en-US" kern="0" dirty="0"/>
          </a:p>
        </p:txBody>
      </p:sp>
    </p:spTree>
    <p:extLst>
      <p:ext uri="{BB962C8B-B14F-4D97-AF65-F5344CB8AC3E}">
        <p14:creationId xmlns:p14="http://schemas.microsoft.com/office/powerpoint/2010/main" val="3981375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CF93E-3EEE-833B-6A88-6F5AAD300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9B0E8-DE36-6CFA-CACD-B310E6A144A0}"/>
              </a:ext>
            </a:extLst>
          </p:cNvPr>
          <p:cNvSpPr>
            <a:spLocks noGrp="1"/>
          </p:cNvSpPr>
          <p:nvPr>
            <p:ph type="title"/>
          </p:nvPr>
        </p:nvSpPr>
        <p:spPr>
          <a:xfrm>
            <a:off x="302941" y="261656"/>
            <a:ext cx="8128000" cy="601538"/>
          </a:xfrm>
        </p:spPr>
        <p:txBody>
          <a:bodyPr/>
          <a:lstStyle/>
          <a:p>
            <a:r>
              <a:rPr lang="de-DE" dirty="0"/>
              <a:t>RNA </a:t>
            </a:r>
            <a:r>
              <a:rPr lang="de-DE" dirty="0" err="1"/>
              <a:t>sequencing</a:t>
            </a:r>
            <a:endParaRPr lang="de-DE" dirty="0"/>
          </a:p>
        </p:txBody>
      </p:sp>
      <p:sp>
        <p:nvSpPr>
          <p:cNvPr id="7" name="Content Placeholder 2">
            <a:extLst>
              <a:ext uri="{FF2B5EF4-FFF2-40B4-BE49-F238E27FC236}">
                <a16:creationId xmlns:a16="http://schemas.microsoft.com/office/drawing/2014/main" id="{48D6D8A6-A4B9-528D-AA68-2983AC7C60A3}"/>
              </a:ext>
            </a:extLst>
          </p:cNvPr>
          <p:cNvSpPr>
            <a:spLocks noGrp="1"/>
          </p:cNvSpPr>
          <p:nvPr>
            <p:ph idx="1"/>
          </p:nvPr>
        </p:nvSpPr>
        <p:spPr>
          <a:xfrm>
            <a:off x="508000" y="1020802"/>
            <a:ext cx="8128000" cy="5149339"/>
          </a:xfrm>
        </p:spPr>
        <p:txBody>
          <a:bodyPr/>
          <a:lstStyle/>
          <a:p>
            <a:pPr marL="0" indent="0">
              <a:buNone/>
            </a:pPr>
            <a:r>
              <a:rPr lang="de-DE" dirty="0"/>
              <a:t>1. Understanding Raw </a:t>
            </a:r>
            <a:r>
              <a:rPr lang="de-DE" dirty="0" err="1"/>
              <a:t>Sequencing</a:t>
            </a:r>
            <a:r>
              <a:rPr lang="de-DE" dirty="0"/>
              <a:t> Data</a:t>
            </a:r>
          </a:p>
          <a:p>
            <a:pPr marL="0" indent="0">
              <a:buNone/>
            </a:pPr>
            <a:r>
              <a:rPr lang="de-DE" sz="1600" dirty="0">
                <a:solidFill>
                  <a:schemeClr val="tx1">
                    <a:lumMod val="50000"/>
                    <a:lumOff val="50000"/>
                  </a:schemeClr>
                </a:solidFill>
              </a:rPr>
              <a:t>Check </a:t>
            </a:r>
            <a:r>
              <a:rPr lang="de-DE" sz="1600" dirty="0" err="1">
                <a:solidFill>
                  <a:schemeClr val="tx1">
                    <a:lumMod val="50000"/>
                    <a:lumOff val="50000"/>
                  </a:schemeClr>
                </a:solidFill>
              </a:rPr>
              <a:t>read</a:t>
            </a:r>
            <a:r>
              <a:rPr lang="de-DE" sz="1600" dirty="0">
                <a:solidFill>
                  <a:schemeClr val="tx1">
                    <a:lumMod val="50000"/>
                    <a:lumOff val="50000"/>
                  </a:schemeClr>
                </a:solidFill>
              </a:rPr>
              <a:t> </a:t>
            </a:r>
            <a:r>
              <a:rPr lang="de-DE" sz="1600" dirty="0" err="1">
                <a:solidFill>
                  <a:schemeClr val="tx1">
                    <a:lumMod val="50000"/>
                    <a:lumOff val="50000"/>
                  </a:schemeClr>
                </a:solidFill>
              </a:rPr>
              <a:t>quality</a:t>
            </a:r>
            <a:r>
              <a:rPr lang="de-DE" sz="1600" dirty="0">
                <a:solidFill>
                  <a:schemeClr val="tx1">
                    <a:lumMod val="50000"/>
                    <a:lumOff val="50000"/>
                  </a:schemeClr>
                </a:solidFill>
              </a:rPr>
              <a:t> </a:t>
            </a:r>
            <a:r>
              <a:rPr lang="de-DE" sz="1600" dirty="0" err="1">
                <a:solidFill>
                  <a:schemeClr val="tx1">
                    <a:lumMod val="50000"/>
                    <a:lumOff val="50000"/>
                  </a:schemeClr>
                </a:solidFill>
              </a:rPr>
              <a:t>using</a:t>
            </a:r>
            <a:r>
              <a:rPr lang="de-DE" sz="1600" dirty="0">
                <a:solidFill>
                  <a:schemeClr val="tx1">
                    <a:lumMod val="50000"/>
                    <a:lumOff val="50000"/>
                  </a:schemeClr>
                </a:solidFill>
              </a:rPr>
              <a:t> </a:t>
            </a:r>
            <a:r>
              <a:rPr lang="de-DE" sz="1600" dirty="0" err="1">
                <a:solidFill>
                  <a:schemeClr val="tx1">
                    <a:lumMod val="50000"/>
                    <a:lumOff val="50000"/>
                  </a:schemeClr>
                </a:solidFill>
              </a:rPr>
              <a:t>FastQC</a:t>
            </a:r>
            <a:r>
              <a:rPr lang="de-DE" sz="1600" dirty="0">
                <a:solidFill>
                  <a:schemeClr val="tx1">
                    <a:lumMod val="50000"/>
                    <a:lumOff val="50000"/>
                  </a:schemeClr>
                </a:solidFill>
              </a:rPr>
              <a:t> </a:t>
            </a:r>
            <a:r>
              <a:rPr lang="de-DE" sz="1600" dirty="0" err="1">
                <a:solidFill>
                  <a:schemeClr val="tx1">
                    <a:lumMod val="50000"/>
                    <a:lumOff val="50000"/>
                  </a:schemeClr>
                </a:solidFill>
              </a:rPr>
              <a:t>or</a:t>
            </a:r>
            <a:r>
              <a:rPr lang="de-DE" sz="1600" dirty="0">
                <a:solidFill>
                  <a:schemeClr val="tx1">
                    <a:lumMod val="50000"/>
                    <a:lumOff val="50000"/>
                  </a:schemeClr>
                </a:solidFill>
              </a:rPr>
              <a:t> </a:t>
            </a:r>
            <a:r>
              <a:rPr lang="de-DE" sz="1600" dirty="0" err="1">
                <a:solidFill>
                  <a:schemeClr val="tx1">
                    <a:lumMod val="50000"/>
                    <a:lumOff val="50000"/>
                  </a:schemeClr>
                </a:solidFill>
              </a:rPr>
              <a:t>MultiQC</a:t>
            </a:r>
            <a:r>
              <a:rPr lang="de-DE" sz="1600" dirty="0">
                <a:solidFill>
                  <a:schemeClr val="tx1">
                    <a:lumMod val="50000"/>
                    <a:lumOff val="50000"/>
                  </a:schemeClr>
                </a:solidFill>
              </a:rPr>
              <a:t>.</a:t>
            </a:r>
          </a:p>
          <a:p>
            <a:pPr marL="0" indent="0">
              <a:buNone/>
            </a:pPr>
            <a:endParaRPr lang="de-DE" dirty="0"/>
          </a:p>
          <a:p>
            <a:pPr marL="0" indent="0">
              <a:buNone/>
            </a:pPr>
            <a:r>
              <a:rPr lang="de-DE" dirty="0"/>
              <a:t>2. Read </a:t>
            </a:r>
            <a:r>
              <a:rPr lang="de-DE" dirty="0" err="1"/>
              <a:t>Trimming</a:t>
            </a:r>
            <a:r>
              <a:rPr lang="de-DE" dirty="0"/>
              <a:t> &amp; Alignment / </a:t>
            </a:r>
            <a:r>
              <a:rPr lang="de-DE" dirty="0" err="1"/>
              <a:t>Quantification</a:t>
            </a:r>
            <a:endParaRPr lang="de-DE" dirty="0"/>
          </a:p>
          <a:p>
            <a:pPr marL="0" indent="0">
              <a:buNone/>
            </a:pPr>
            <a:r>
              <a:rPr lang="de-DE" sz="1600" dirty="0" err="1">
                <a:solidFill>
                  <a:schemeClr val="tx1">
                    <a:lumMod val="50000"/>
                    <a:lumOff val="50000"/>
                  </a:schemeClr>
                </a:solidFill>
              </a:rPr>
              <a:t>Trim</a:t>
            </a:r>
            <a:r>
              <a:rPr lang="de-DE" sz="1600" dirty="0">
                <a:solidFill>
                  <a:schemeClr val="tx1">
                    <a:lumMod val="50000"/>
                    <a:lumOff val="50000"/>
                  </a:schemeClr>
                </a:solidFill>
              </a:rPr>
              <a:t> </a:t>
            </a:r>
            <a:r>
              <a:rPr lang="de-DE" sz="1600" dirty="0" err="1">
                <a:solidFill>
                  <a:schemeClr val="tx1">
                    <a:lumMod val="50000"/>
                    <a:lumOff val="50000"/>
                  </a:schemeClr>
                </a:solidFill>
              </a:rPr>
              <a:t>adapters</a:t>
            </a:r>
            <a:r>
              <a:rPr lang="de-DE" sz="1600" dirty="0">
                <a:solidFill>
                  <a:schemeClr val="tx1">
                    <a:lumMod val="50000"/>
                    <a:lumOff val="50000"/>
                  </a:schemeClr>
                </a:solidFill>
              </a:rPr>
              <a:t> and </a:t>
            </a:r>
            <a:r>
              <a:rPr lang="de-DE" sz="1600" dirty="0" err="1">
                <a:solidFill>
                  <a:schemeClr val="tx1">
                    <a:lumMod val="50000"/>
                    <a:lumOff val="50000"/>
                  </a:schemeClr>
                </a:solidFill>
              </a:rPr>
              <a:t>low</a:t>
            </a:r>
            <a:r>
              <a:rPr lang="de-DE" sz="1600" dirty="0">
                <a:solidFill>
                  <a:schemeClr val="tx1">
                    <a:lumMod val="50000"/>
                    <a:lumOff val="50000"/>
                  </a:schemeClr>
                </a:solidFill>
              </a:rPr>
              <a:t>-quality </a:t>
            </a:r>
            <a:r>
              <a:rPr lang="de-DE" sz="1600" dirty="0" err="1">
                <a:solidFill>
                  <a:schemeClr val="tx1">
                    <a:lumMod val="50000"/>
                    <a:lumOff val="50000"/>
                  </a:schemeClr>
                </a:solidFill>
              </a:rPr>
              <a:t>reads</a:t>
            </a:r>
            <a:r>
              <a:rPr lang="de-DE" sz="1600" dirty="0">
                <a:solidFill>
                  <a:schemeClr val="tx1">
                    <a:lumMod val="50000"/>
                    <a:lumOff val="50000"/>
                  </a:schemeClr>
                </a:solidFill>
              </a:rPr>
              <a:t>, </a:t>
            </a:r>
            <a:r>
              <a:rPr lang="de-DE" sz="1600" dirty="0" err="1">
                <a:solidFill>
                  <a:schemeClr val="tx1">
                    <a:lumMod val="50000"/>
                    <a:lumOff val="50000"/>
                  </a:schemeClr>
                </a:solidFill>
              </a:rPr>
              <a:t>then:Align</a:t>
            </a:r>
            <a:r>
              <a:rPr lang="de-DE" sz="1600" dirty="0">
                <a:solidFill>
                  <a:schemeClr val="tx1">
                    <a:lumMod val="50000"/>
                    <a:lumOff val="50000"/>
                  </a:schemeClr>
                </a:solidFill>
              </a:rPr>
              <a:t> </a:t>
            </a:r>
            <a:r>
              <a:rPr lang="de-DE" sz="1600" dirty="0" err="1">
                <a:solidFill>
                  <a:schemeClr val="tx1">
                    <a:lumMod val="50000"/>
                    <a:lumOff val="50000"/>
                  </a:schemeClr>
                </a:solidFill>
              </a:rPr>
              <a:t>reads</a:t>
            </a:r>
            <a:r>
              <a:rPr lang="de-DE" sz="1600" dirty="0">
                <a:solidFill>
                  <a:schemeClr val="tx1">
                    <a:lumMod val="50000"/>
                    <a:lumOff val="50000"/>
                  </a:schemeClr>
                </a:solidFill>
              </a:rPr>
              <a:t> </a:t>
            </a:r>
            <a:r>
              <a:rPr lang="de-DE" sz="1600" dirty="0" err="1">
                <a:solidFill>
                  <a:schemeClr val="tx1">
                    <a:lumMod val="50000"/>
                    <a:lumOff val="50000"/>
                  </a:schemeClr>
                </a:solidFill>
              </a:rPr>
              <a:t>to</a:t>
            </a:r>
            <a:r>
              <a:rPr lang="de-DE" sz="1600" dirty="0">
                <a:solidFill>
                  <a:schemeClr val="tx1">
                    <a:lumMod val="50000"/>
                    <a:lumOff val="50000"/>
                  </a:schemeClr>
                </a:solidFill>
              </a:rPr>
              <a:t> a </a:t>
            </a:r>
            <a:r>
              <a:rPr lang="de-DE" sz="1600" dirty="0" err="1">
                <a:solidFill>
                  <a:schemeClr val="tx1">
                    <a:lumMod val="50000"/>
                    <a:lumOff val="50000"/>
                  </a:schemeClr>
                </a:solidFill>
              </a:rPr>
              <a:t>genome</a:t>
            </a:r>
            <a:r>
              <a:rPr lang="de-DE" sz="1600" dirty="0">
                <a:solidFill>
                  <a:schemeClr val="tx1">
                    <a:lumMod val="50000"/>
                    <a:lumOff val="50000"/>
                  </a:schemeClr>
                </a:solidFill>
              </a:rPr>
              <a:t> (STAR, HISAT2), </a:t>
            </a:r>
            <a:r>
              <a:rPr lang="de-DE" sz="1600" dirty="0" err="1">
                <a:solidFill>
                  <a:schemeClr val="tx1">
                    <a:lumMod val="50000"/>
                    <a:lumOff val="50000"/>
                  </a:schemeClr>
                </a:solidFill>
              </a:rPr>
              <a:t>orQuantify</a:t>
            </a:r>
            <a:r>
              <a:rPr lang="de-DE" sz="1600" dirty="0">
                <a:solidFill>
                  <a:schemeClr val="tx1">
                    <a:lumMod val="50000"/>
                    <a:lumOff val="50000"/>
                  </a:schemeClr>
                </a:solidFill>
              </a:rPr>
              <a:t> </a:t>
            </a:r>
            <a:r>
              <a:rPr lang="de-DE" sz="1600" dirty="0" err="1">
                <a:solidFill>
                  <a:schemeClr val="tx1">
                    <a:lumMod val="50000"/>
                    <a:lumOff val="50000"/>
                  </a:schemeClr>
                </a:solidFill>
              </a:rPr>
              <a:t>directly</a:t>
            </a:r>
            <a:r>
              <a:rPr lang="de-DE" sz="1600" dirty="0">
                <a:solidFill>
                  <a:schemeClr val="tx1">
                    <a:lumMod val="50000"/>
                    <a:lumOff val="50000"/>
                  </a:schemeClr>
                </a:solidFill>
              </a:rPr>
              <a:t> </a:t>
            </a:r>
            <a:r>
              <a:rPr lang="de-DE" sz="1600" dirty="0" err="1">
                <a:solidFill>
                  <a:schemeClr val="tx1">
                    <a:lumMod val="50000"/>
                    <a:lumOff val="50000"/>
                  </a:schemeClr>
                </a:solidFill>
              </a:rPr>
              <a:t>using</a:t>
            </a:r>
            <a:r>
              <a:rPr lang="de-DE" sz="1600" dirty="0">
                <a:solidFill>
                  <a:schemeClr val="tx1">
                    <a:lumMod val="50000"/>
                    <a:lumOff val="50000"/>
                  </a:schemeClr>
                </a:solidFill>
              </a:rPr>
              <a:t> Salmon </a:t>
            </a:r>
            <a:r>
              <a:rPr lang="de-DE" sz="1600" dirty="0" err="1">
                <a:solidFill>
                  <a:schemeClr val="tx1">
                    <a:lumMod val="50000"/>
                    <a:lumOff val="50000"/>
                  </a:schemeClr>
                </a:solidFill>
              </a:rPr>
              <a:t>or</a:t>
            </a:r>
            <a:r>
              <a:rPr lang="de-DE" sz="1600" dirty="0">
                <a:solidFill>
                  <a:schemeClr val="tx1">
                    <a:lumMod val="50000"/>
                    <a:lumOff val="50000"/>
                  </a:schemeClr>
                </a:solidFill>
              </a:rPr>
              <a:t> </a:t>
            </a:r>
            <a:r>
              <a:rPr lang="de-DE" sz="1600" dirty="0" err="1">
                <a:solidFill>
                  <a:schemeClr val="tx1">
                    <a:lumMod val="50000"/>
                    <a:lumOff val="50000"/>
                  </a:schemeClr>
                </a:solidFill>
              </a:rPr>
              <a:t>Kallisto</a:t>
            </a:r>
            <a:r>
              <a:rPr lang="de-DE" sz="1600" dirty="0">
                <a:solidFill>
                  <a:schemeClr val="tx1">
                    <a:lumMod val="50000"/>
                    <a:lumOff val="50000"/>
                  </a:schemeClr>
                </a:solidFill>
              </a:rPr>
              <a:t>.</a:t>
            </a:r>
          </a:p>
          <a:p>
            <a:pPr marL="0" indent="0">
              <a:buNone/>
            </a:pPr>
            <a:endParaRPr lang="de-DE" dirty="0"/>
          </a:p>
          <a:p>
            <a:pPr marL="0" indent="0">
              <a:buNone/>
            </a:pPr>
            <a:r>
              <a:rPr lang="de-DE" dirty="0"/>
              <a:t>3. Gene / </a:t>
            </a:r>
            <a:r>
              <a:rPr lang="de-DE" dirty="0" err="1"/>
              <a:t>Transcript</a:t>
            </a:r>
            <a:r>
              <a:rPr lang="de-DE" dirty="0"/>
              <a:t> </a:t>
            </a:r>
            <a:r>
              <a:rPr lang="de-DE" dirty="0" err="1"/>
              <a:t>Quantification</a:t>
            </a:r>
            <a:endParaRPr lang="de-DE" dirty="0"/>
          </a:p>
          <a:p>
            <a:pPr marL="0" indent="0">
              <a:buNone/>
            </a:pPr>
            <a:r>
              <a:rPr lang="de-DE" sz="1600" dirty="0">
                <a:solidFill>
                  <a:schemeClr val="tx1">
                    <a:lumMod val="50000"/>
                    <a:lumOff val="50000"/>
                  </a:schemeClr>
                </a:solidFill>
              </a:rPr>
              <a:t>Generate </a:t>
            </a:r>
            <a:r>
              <a:rPr lang="de-DE" sz="1600" dirty="0" err="1">
                <a:solidFill>
                  <a:schemeClr val="tx1">
                    <a:lumMod val="50000"/>
                    <a:lumOff val="50000"/>
                  </a:schemeClr>
                </a:solidFill>
              </a:rPr>
              <a:t>expression</a:t>
            </a:r>
            <a:r>
              <a:rPr lang="de-DE" sz="1600" dirty="0">
                <a:solidFill>
                  <a:schemeClr val="tx1">
                    <a:lumMod val="50000"/>
                    <a:lumOff val="50000"/>
                  </a:schemeClr>
                </a:solidFill>
              </a:rPr>
              <a:t> </a:t>
            </a:r>
            <a:r>
              <a:rPr lang="de-DE" sz="1600" dirty="0" err="1">
                <a:solidFill>
                  <a:schemeClr val="tx1">
                    <a:lumMod val="50000"/>
                    <a:lumOff val="50000"/>
                  </a:schemeClr>
                </a:solidFill>
              </a:rPr>
              <a:t>matrices</a:t>
            </a:r>
            <a:r>
              <a:rPr lang="de-DE" sz="1600" dirty="0">
                <a:solidFill>
                  <a:schemeClr val="tx1">
                    <a:lumMod val="50000"/>
                    <a:lumOff val="50000"/>
                  </a:schemeClr>
                </a:solidFill>
              </a:rPr>
              <a:t> (e.g., </a:t>
            </a:r>
            <a:r>
              <a:rPr lang="de-DE" sz="1600" dirty="0" err="1">
                <a:solidFill>
                  <a:schemeClr val="tx1">
                    <a:lumMod val="50000"/>
                    <a:lumOff val="50000"/>
                  </a:schemeClr>
                </a:solidFill>
              </a:rPr>
              <a:t>counts</a:t>
            </a:r>
            <a:r>
              <a:rPr lang="de-DE" sz="1600" dirty="0">
                <a:solidFill>
                  <a:schemeClr val="tx1">
                    <a:lumMod val="50000"/>
                    <a:lumOff val="50000"/>
                  </a:schemeClr>
                </a:solidFill>
              </a:rPr>
              <a:t>, TPM, FPKM).</a:t>
            </a:r>
          </a:p>
          <a:p>
            <a:pPr marL="0" indent="0">
              <a:buNone/>
            </a:pPr>
            <a:endParaRPr lang="de-DE" dirty="0"/>
          </a:p>
          <a:p>
            <a:pPr marL="0" indent="0">
              <a:buNone/>
            </a:pPr>
            <a:r>
              <a:rPr lang="de-DE" dirty="0"/>
              <a:t>4. Differential Expression Analysis</a:t>
            </a:r>
          </a:p>
          <a:p>
            <a:pPr marL="0" indent="0">
              <a:buNone/>
            </a:pPr>
            <a:r>
              <a:rPr lang="de-DE" sz="1600" dirty="0" err="1">
                <a:solidFill>
                  <a:schemeClr val="tx1">
                    <a:lumMod val="50000"/>
                    <a:lumOff val="50000"/>
                  </a:schemeClr>
                </a:solidFill>
              </a:rPr>
              <a:t>Identify</a:t>
            </a:r>
            <a:r>
              <a:rPr lang="de-DE" sz="1600" dirty="0">
                <a:solidFill>
                  <a:schemeClr val="tx1">
                    <a:lumMod val="50000"/>
                    <a:lumOff val="50000"/>
                  </a:schemeClr>
                </a:solidFill>
              </a:rPr>
              <a:t> </a:t>
            </a:r>
            <a:r>
              <a:rPr lang="de-DE" sz="1600" dirty="0" err="1">
                <a:solidFill>
                  <a:schemeClr val="tx1">
                    <a:lumMod val="50000"/>
                    <a:lumOff val="50000"/>
                  </a:schemeClr>
                </a:solidFill>
              </a:rPr>
              <a:t>differentially</a:t>
            </a:r>
            <a:r>
              <a:rPr lang="de-DE" sz="1600" dirty="0">
                <a:solidFill>
                  <a:schemeClr val="tx1">
                    <a:lumMod val="50000"/>
                    <a:lumOff val="50000"/>
                  </a:schemeClr>
                </a:solidFill>
              </a:rPr>
              <a:t> </a:t>
            </a:r>
            <a:r>
              <a:rPr lang="de-DE" sz="1600" dirty="0" err="1">
                <a:solidFill>
                  <a:schemeClr val="tx1">
                    <a:lumMod val="50000"/>
                    <a:lumOff val="50000"/>
                  </a:schemeClr>
                </a:solidFill>
              </a:rPr>
              <a:t>expressed</a:t>
            </a:r>
            <a:r>
              <a:rPr lang="de-DE" sz="1600" dirty="0">
                <a:solidFill>
                  <a:schemeClr val="tx1">
                    <a:lumMod val="50000"/>
                    <a:lumOff val="50000"/>
                  </a:schemeClr>
                </a:solidFill>
              </a:rPr>
              <a:t> genes </a:t>
            </a:r>
            <a:r>
              <a:rPr lang="de-DE" sz="1600" dirty="0" err="1">
                <a:solidFill>
                  <a:schemeClr val="tx1">
                    <a:lumMod val="50000"/>
                    <a:lumOff val="50000"/>
                  </a:schemeClr>
                </a:solidFill>
              </a:rPr>
              <a:t>using</a:t>
            </a:r>
            <a:r>
              <a:rPr lang="de-DE" sz="1600" dirty="0">
                <a:solidFill>
                  <a:schemeClr val="tx1">
                    <a:lumMod val="50000"/>
                    <a:lumOff val="50000"/>
                  </a:schemeClr>
                </a:solidFill>
              </a:rPr>
              <a:t> DESeq2, </a:t>
            </a:r>
            <a:r>
              <a:rPr lang="de-DE" sz="1600" dirty="0" err="1">
                <a:solidFill>
                  <a:schemeClr val="tx1">
                    <a:lumMod val="50000"/>
                    <a:lumOff val="50000"/>
                  </a:schemeClr>
                </a:solidFill>
              </a:rPr>
              <a:t>edgeR</a:t>
            </a:r>
            <a:r>
              <a:rPr lang="de-DE" sz="1600" dirty="0">
                <a:solidFill>
                  <a:schemeClr val="tx1">
                    <a:lumMod val="50000"/>
                    <a:lumOff val="50000"/>
                  </a:schemeClr>
                </a:solidFill>
              </a:rPr>
              <a:t>, </a:t>
            </a:r>
            <a:r>
              <a:rPr lang="de-DE" sz="1600" dirty="0" err="1">
                <a:solidFill>
                  <a:schemeClr val="tx1">
                    <a:lumMod val="50000"/>
                    <a:lumOff val="50000"/>
                  </a:schemeClr>
                </a:solidFill>
              </a:rPr>
              <a:t>or</a:t>
            </a:r>
            <a:r>
              <a:rPr lang="de-DE" sz="1600" dirty="0">
                <a:solidFill>
                  <a:schemeClr val="tx1">
                    <a:lumMod val="50000"/>
                    <a:lumOff val="50000"/>
                  </a:schemeClr>
                </a:solidFill>
              </a:rPr>
              <a:t> </a:t>
            </a:r>
            <a:r>
              <a:rPr lang="de-DE" sz="1600" dirty="0" err="1">
                <a:solidFill>
                  <a:schemeClr val="tx1">
                    <a:lumMod val="50000"/>
                    <a:lumOff val="50000"/>
                  </a:schemeClr>
                </a:solidFill>
              </a:rPr>
              <a:t>limma</a:t>
            </a:r>
            <a:r>
              <a:rPr lang="de-DE" sz="1600" dirty="0">
                <a:solidFill>
                  <a:schemeClr val="tx1">
                    <a:lumMod val="50000"/>
                    <a:lumOff val="50000"/>
                  </a:schemeClr>
                </a:solidFill>
              </a:rPr>
              <a:t>.</a:t>
            </a:r>
          </a:p>
          <a:p>
            <a:pPr marL="0" indent="0">
              <a:buNone/>
            </a:pPr>
            <a:endParaRPr lang="de-DE" dirty="0"/>
          </a:p>
          <a:p>
            <a:pPr marL="0" indent="0">
              <a:buNone/>
            </a:pPr>
            <a:r>
              <a:rPr lang="de-DE" dirty="0"/>
              <a:t>5. Data </a:t>
            </a:r>
            <a:r>
              <a:rPr lang="de-DE" dirty="0" err="1"/>
              <a:t>Visualization</a:t>
            </a:r>
            <a:r>
              <a:rPr lang="de-DE" dirty="0"/>
              <a:t> &amp; Interpretation</a:t>
            </a:r>
          </a:p>
          <a:p>
            <a:pPr marL="0" indent="0">
              <a:buNone/>
            </a:pPr>
            <a:r>
              <a:rPr lang="de-DE" sz="1600" dirty="0" err="1">
                <a:solidFill>
                  <a:schemeClr val="tx1">
                    <a:lumMod val="50000"/>
                    <a:lumOff val="50000"/>
                  </a:schemeClr>
                </a:solidFill>
              </a:rPr>
              <a:t>Visualize</a:t>
            </a:r>
            <a:r>
              <a:rPr lang="de-DE" sz="1600" dirty="0">
                <a:solidFill>
                  <a:schemeClr val="tx1">
                    <a:lumMod val="50000"/>
                    <a:lumOff val="50000"/>
                  </a:schemeClr>
                </a:solidFill>
              </a:rPr>
              <a:t> </a:t>
            </a:r>
            <a:r>
              <a:rPr lang="de-DE" sz="1600" dirty="0" err="1">
                <a:solidFill>
                  <a:schemeClr val="tx1">
                    <a:lumMod val="50000"/>
                    <a:lumOff val="50000"/>
                  </a:schemeClr>
                </a:solidFill>
              </a:rPr>
              <a:t>patterns</a:t>
            </a:r>
            <a:r>
              <a:rPr lang="de-DE" sz="1600" dirty="0">
                <a:solidFill>
                  <a:schemeClr val="tx1">
                    <a:lumMod val="50000"/>
                    <a:lumOff val="50000"/>
                  </a:schemeClr>
                </a:solidFill>
              </a:rPr>
              <a:t> </a:t>
            </a:r>
            <a:r>
              <a:rPr lang="de-DE" sz="1600" dirty="0" err="1">
                <a:solidFill>
                  <a:schemeClr val="tx1">
                    <a:lumMod val="50000"/>
                    <a:lumOff val="50000"/>
                  </a:schemeClr>
                </a:solidFill>
              </a:rPr>
              <a:t>using</a:t>
            </a:r>
            <a:r>
              <a:rPr lang="de-DE" sz="1600" dirty="0">
                <a:solidFill>
                  <a:schemeClr val="tx1">
                    <a:lumMod val="50000"/>
                    <a:lumOff val="50000"/>
                  </a:schemeClr>
                </a:solidFill>
              </a:rPr>
              <a:t> PCA, </a:t>
            </a:r>
            <a:r>
              <a:rPr lang="de-DE" sz="1600" dirty="0" err="1">
                <a:solidFill>
                  <a:schemeClr val="tx1">
                    <a:lumMod val="50000"/>
                    <a:lumOff val="50000"/>
                  </a:schemeClr>
                </a:solidFill>
              </a:rPr>
              <a:t>heatmaps</a:t>
            </a:r>
            <a:r>
              <a:rPr lang="de-DE" sz="1600" dirty="0">
                <a:solidFill>
                  <a:schemeClr val="tx1">
                    <a:lumMod val="50000"/>
                    <a:lumOff val="50000"/>
                  </a:schemeClr>
                </a:solidFill>
              </a:rPr>
              <a:t>, </a:t>
            </a:r>
            <a:r>
              <a:rPr lang="de-DE" sz="1600" dirty="0" err="1">
                <a:solidFill>
                  <a:schemeClr val="tx1">
                    <a:lumMod val="50000"/>
                    <a:lumOff val="50000"/>
                  </a:schemeClr>
                </a:solidFill>
              </a:rPr>
              <a:t>volcano</a:t>
            </a:r>
            <a:r>
              <a:rPr lang="de-DE" sz="1600" dirty="0">
                <a:solidFill>
                  <a:schemeClr val="tx1">
                    <a:lumMod val="50000"/>
                    <a:lumOff val="50000"/>
                  </a:schemeClr>
                </a:solidFill>
              </a:rPr>
              <a:t> </a:t>
            </a:r>
            <a:r>
              <a:rPr lang="de-DE" sz="1600" dirty="0" err="1">
                <a:solidFill>
                  <a:schemeClr val="tx1">
                    <a:lumMod val="50000"/>
                    <a:lumOff val="50000"/>
                  </a:schemeClr>
                </a:solidFill>
              </a:rPr>
              <a:t>plots</a:t>
            </a:r>
            <a:r>
              <a:rPr lang="de-DE" sz="1600" dirty="0">
                <a:solidFill>
                  <a:schemeClr val="tx1">
                    <a:lumMod val="50000"/>
                    <a:lumOff val="50000"/>
                  </a:schemeClr>
                </a:solidFill>
              </a:rPr>
              <a:t>, etc.</a:t>
            </a:r>
          </a:p>
        </p:txBody>
      </p:sp>
    </p:spTree>
    <p:extLst>
      <p:ext uri="{BB962C8B-B14F-4D97-AF65-F5344CB8AC3E}">
        <p14:creationId xmlns:p14="http://schemas.microsoft.com/office/powerpoint/2010/main" val="2602410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EF257-7AC9-7746-F98F-97EDB6AE99CB}"/>
              </a:ext>
            </a:extLst>
          </p:cNvPr>
          <p:cNvSpPr>
            <a:spLocks noGrp="1"/>
          </p:cNvSpPr>
          <p:nvPr>
            <p:ph type="title"/>
          </p:nvPr>
        </p:nvSpPr>
        <p:spPr>
          <a:xfrm>
            <a:off x="632455" y="215241"/>
            <a:ext cx="8128000" cy="601538"/>
          </a:xfrm>
        </p:spPr>
        <p:txBody>
          <a:bodyPr/>
          <a:lstStyle/>
          <a:p>
            <a:r>
              <a:rPr lang="de-DE" dirty="0"/>
              <a:t>RNA </a:t>
            </a:r>
            <a:r>
              <a:rPr lang="de-DE" dirty="0" err="1"/>
              <a:t>sequencing</a:t>
            </a:r>
            <a:r>
              <a:rPr lang="de-DE" dirty="0"/>
              <a:t> </a:t>
            </a:r>
            <a:r>
              <a:rPr lang="de-DE" dirty="0" err="1"/>
              <a:t>data</a:t>
            </a:r>
            <a:r>
              <a:rPr lang="de-DE" dirty="0"/>
              <a:t> </a:t>
            </a:r>
            <a:r>
              <a:rPr lang="de-DE" dirty="0" err="1"/>
              <a:t>analysis</a:t>
            </a:r>
            <a:r>
              <a:rPr lang="de-DE" dirty="0"/>
              <a:t> </a:t>
            </a:r>
            <a:r>
              <a:rPr lang="de-DE" dirty="0" err="1"/>
              <a:t>pipeline</a:t>
            </a:r>
            <a:endParaRPr lang="de-DE" dirty="0"/>
          </a:p>
        </p:txBody>
      </p:sp>
      <p:pic>
        <p:nvPicPr>
          <p:cNvPr id="4" name="内容占位符 3">
            <a:extLst>
              <a:ext uri="{FF2B5EF4-FFF2-40B4-BE49-F238E27FC236}">
                <a16:creationId xmlns:a16="http://schemas.microsoft.com/office/drawing/2014/main" id="{1F071110-1D71-859C-6FE4-A670459DAAB8}"/>
              </a:ext>
            </a:extLst>
          </p:cNvPr>
          <p:cNvPicPr>
            <a:picLocks noGrp="1" noChangeAspect="1"/>
          </p:cNvPicPr>
          <p:nvPr>
            <p:ph idx="1"/>
          </p:nvPr>
        </p:nvPicPr>
        <p:blipFill>
          <a:blip r:embed="rId2"/>
          <a:stretch>
            <a:fillRect/>
          </a:stretch>
        </p:blipFill>
        <p:spPr>
          <a:xfrm>
            <a:off x="632455" y="1303009"/>
            <a:ext cx="3717145" cy="4470400"/>
          </a:xfrm>
          <a:prstGeom prst="rect">
            <a:avLst/>
          </a:prstGeom>
        </p:spPr>
      </p:pic>
      <p:sp>
        <p:nvSpPr>
          <p:cNvPr id="5" name="文本框 4">
            <a:extLst>
              <a:ext uri="{FF2B5EF4-FFF2-40B4-BE49-F238E27FC236}">
                <a16:creationId xmlns:a16="http://schemas.microsoft.com/office/drawing/2014/main" id="{D6FFC526-44A1-F1F5-B939-F8A958712A83}"/>
              </a:ext>
            </a:extLst>
          </p:cNvPr>
          <p:cNvSpPr txBox="1"/>
          <p:nvPr/>
        </p:nvSpPr>
        <p:spPr>
          <a:xfrm>
            <a:off x="4572000" y="2476334"/>
            <a:ext cx="4579144" cy="1323439"/>
          </a:xfrm>
          <a:prstGeom prst="rect">
            <a:avLst/>
          </a:prstGeom>
          <a:noFill/>
        </p:spPr>
        <p:txBody>
          <a:bodyPr wrap="square">
            <a:spAutoFit/>
          </a:bodyPr>
          <a:lstStyle/>
          <a:p>
            <a:pPr algn="l"/>
            <a:r>
              <a:rPr lang="en-US" altLang="zh-CN" dirty="0"/>
              <a:t>Code:</a:t>
            </a:r>
          </a:p>
          <a:p>
            <a:pPr algn="l"/>
            <a:r>
              <a:rPr lang="en-US" altLang="zh-CN" dirty="0"/>
              <a:t>https://</a:t>
            </a:r>
            <a:r>
              <a:rPr lang="en-US" altLang="zh-CN" dirty="0" err="1"/>
              <a:t>github.com</a:t>
            </a:r>
            <a:r>
              <a:rPr lang="en-US" altLang="zh-CN" dirty="0"/>
              <a:t>/ttian627/Omics-Data-Analysis-of-Root-Microbe-Interactions/tree/main/02_RNAseq</a:t>
            </a:r>
            <a:endParaRPr lang="zh-CN" altLang="en-US" dirty="0"/>
          </a:p>
        </p:txBody>
      </p:sp>
    </p:spTree>
    <p:extLst>
      <p:ext uri="{BB962C8B-B14F-4D97-AF65-F5344CB8AC3E}">
        <p14:creationId xmlns:p14="http://schemas.microsoft.com/office/powerpoint/2010/main" val="1211687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2D7C7-6FF4-9046-B159-BC30863ACD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478D0D-2B71-9D40-99FE-7F36461AA515}"/>
              </a:ext>
            </a:extLst>
          </p:cNvPr>
          <p:cNvPicPr>
            <a:picLocks noChangeAspect="1"/>
          </p:cNvPicPr>
          <p:nvPr/>
        </p:nvPicPr>
        <p:blipFill>
          <a:blip r:embed="rId2"/>
          <a:stretch>
            <a:fillRect/>
          </a:stretch>
        </p:blipFill>
        <p:spPr>
          <a:xfrm>
            <a:off x="3143849" y="130269"/>
            <a:ext cx="1804044" cy="1434396"/>
          </a:xfrm>
          <a:prstGeom prst="rect">
            <a:avLst/>
          </a:prstGeom>
        </p:spPr>
      </p:pic>
      <p:sp>
        <p:nvSpPr>
          <p:cNvPr id="4" name="Title 1">
            <a:extLst>
              <a:ext uri="{FF2B5EF4-FFF2-40B4-BE49-F238E27FC236}">
                <a16:creationId xmlns:a16="http://schemas.microsoft.com/office/drawing/2014/main" id="{86B0538A-85CE-C665-35ED-99E1B8B9CF05}"/>
              </a:ext>
            </a:extLst>
          </p:cNvPr>
          <p:cNvSpPr txBox="1">
            <a:spLocks/>
          </p:cNvSpPr>
          <p:nvPr/>
        </p:nvSpPr>
        <p:spPr bwMode="auto">
          <a:xfrm>
            <a:off x="0" y="2643233"/>
            <a:ext cx="9144000" cy="937648"/>
          </a:xfrm>
          <a:prstGeom prst="rect">
            <a:avLst/>
          </a:prstGeom>
          <a:solidFill>
            <a:srgbClr val="0065BD"/>
          </a:solidFill>
          <a:ln>
            <a:noFill/>
          </a:ln>
          <a:extLs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rtl="0" eaLnBrk="0" fontAlgn="base" hangingPunct="0">
              <a:lnSpc>
                <a:spcPct val="150000"/>
              </a:lnSpc>
              <a:spcBef>
                <a:spcPct val="0"/>
              </a:spcBef>
              <a:spcAft>
                <a:spcPct val="0"/>
              </a:spcAft>
              <a:defRPr sz="3200" b="0">
                <a:solidFill>
                  <a:schemeClr val="bg1"/>
                </a:solidFill>
                <a:latin typeface="+mj-lt"/>
                <a:ea typeface="ＭＳ Ｐゴシック" pitchFamily="-65" charset="-128"/>
                <a:cs typeface="ＭＳ Ｐゴシック" pitchFamily="18" charset="-128"/>
              </a:defRPr>
            </a:lvl1pPr>
            <a:lvl2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2pPr>
            <a:lvl3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3pPr>
            <a:lvl4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4pPr>
            <a:lvl5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5pPr>
            <a:lvl6pPr marL="457200" algn="l" rtl="0" eaLnBrk="1" fontAlgn="base" hangingPunct="1">
              <a:spcBef>
                <a:spcPct val="0"/>
              </a:spcBef>
              <a:spcAft>
                <a:spcPct val="0"/>
              </a:spcAft>
              <a:defRPr sz="2400" b="1">
                <a:solidFill>
                  <a:schemeClr val="tx1"/>
                </a:solidFill>
                <a:latin typeface="Arial" pitchFamily="34" charset="0"/>
              </a:defRPr>
            </a:lvl6pPr>
            <a:lvl7pPr marL="914400" algn="l" rtl="0" eaLnBrk="1" fontAlgn="base" hangingPunct="1">
              <a:spcBef>
                <a:spcPct val="0"/>
              </a:spcBef>
              <a:spcAft>
                <a:spcPct val="0"/>
              </a:spcAft>
              <a:defRPr sz="2400" b="1">
                <a:solidFill>
                  <a:schemeClr val="tx1"/>
                </a:solidFill>
                <a:latin typeface="Arial" pitchFamily="34" charset="0"/>
              </a:defRPr>
            </a:lvl7pPr>
            <a:lvl8pPr marL="1371600" algn="l" rtl="0" eaLnBrk="1" fontAlgn="base" hangingPunct="1">
              <a:spcBef>
                <a:spcPct val="0"/>
              </a:spcBef>
              <a:spcAft>
                <a:spcPct val="0"/>
              </a:spcAft>
              <a:defRPr sz="2400" b="1">
                <a:solidFill>
                  <a:schemeClr val="tx1"/>
                </a:solidFill>
                <a:latin typeface="Arial" pitchFamily="34" charset="0"/>
              </a:defRPr>
            </a:lvl8pPr>
            <a:lvl9pPr marL="1828800" algn="l" rtl="0" eaLnBrk="1" fontAlgn="base" hangingPunct="1">
              <a:spcBef>
                <a:spcPct val="0"/>
              </a:spcBef>
              <a:spcAft>
                <a:spcPct val="0"/>
              </a:spcAft>
              <a:defRPr sz="2400" b="1">
                <a:solidFill>
                  <a:schemeClr val="tx1"/>
                </a:solidFill>
                <a:latin typeface="Arial" pitchFamily="34" charset="0"/>
              </a:defRPr>
            </a:lvl9pPr>
          </a:lstStyle>
          <a:p>
            <a:r>
              <a:rPr lang="en-US" kern="0"/>
              <a:t>Preparation for the upcoming exercises</a:t>
            </a:r>
            <a:endParaRPr lang="de-DE" kern="0" dirty="0"/>
          </a:p>
        </p:txBody>
      </p:sp>
      <p:sp>
        <p:nvSpPr>
          <p:cNvPr id="5" name="Title 4">
            <a:extLst>
              <a:ext uri="{FF2B5EF4-FFF2-40B4-BE49-F238E27FC236}">
                <a16:creationId xmlns:a16="http://schemas.microsoft.com/office/drawing/2014/main" id="{0981568E-FCC0-1537-7071-091CEF579B00}"/>
              </a:ext>
            </a:extLst>
          </p:cNvPr>
          <p:cNvSpPr>
            <a:spLocks noGrp="1"/>
          </p:cNvSpPr>
          <p:nvPr>
            <p:ph type="ctrTitle"/>
          </p:nvPr>
        </p:nvSpPr>
        <p:spPr>
          <a:xfrm>
            <a:off x="0" y="2643233"/>
            <a:ext cx="9144000" cy="1492162"/>
          </a:xfrm>
        </p:spPr>
        <p:txBody>
          <a:bodyPr/>
          <a:lstStyle/>
          <a:p>
            <a:r>
              <a:rPr lang="de-DE" altLang="zh-CN" dirty="0">
                <a:latin typeface="Arial" charset="0"/>
                <a:ea typeface="ＭＳ Ｐゴシック" charset="0"/>
                <a:cs typeface="ＭＳ Ｐゴシック" charset="0"/>
              </a:rPr>
              <a:t>IV </a:t>
            </a:r>
            <a:r>
              <a:rPr lang="en-US" dirty="0">
                <a:latin typeface="Arial" charset="0"/>
                <a:ea typeface="ＭＳ Ｐゴシック" charset="0"/>
                <a:cs typeface="ＭＳ Ｐゴシック" charset="0"/>
              </a:rPr>
              <a:t>Gene Expression – Microbiome Co-regulation Networks </a:t>
            </a:r>
            <a:r>
              <a:rPr lang="de-DE" altLang="zh-CN" dirty="0">
                <a:latin typeface="Arial" charset="0"/>
                <a:ea typeface="ＭＳ Ｐゴシック" charset="0"/>
                <a:cs typeface="ＭＳ Ｐゴシック" charset="0"/>
              </a:rPr>
              <a:t>(11.6)</a:t>
            </a:r>
            <a:endParaRPr lang="de-DE" dirty="0"/>
          </a:p>
        </p:txBody>
      </p:sp>
    </p:spTree>
    <p:extLst>
      <p:ext uri="{BB962C8B-B14F-4D97-AF65-F5344CB8AC3E}">
        <p14:creationId xmlns:p14="http://schemas.microsoft.com/office/powerpoint/2010/main" val="103998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488D0-3753-601B-3AD7-B1E01CA4E92C}"/>
              </a:ext>
            </a:extLst>
          </p:cNvPr>
          <p:cNvSpPr>
            <a:spLocks noGrp="1"/>
          </p:cNvSpPr>
          <p:nvPr>
            <p:ph type="title"/>
          </p:nvPr>
        </p:nvSpPr>
        <p:spPr>
          <a:xfrm>
            <a:off x="569994" y="278130"/>
            <a:ext cx="8128000" cy="601538"/>
          </a:xfrm>
        </p:spPr>
        <p:txBody>
          <a:bodyPr/>
          <a:lstStyle/>
          <a:p>
            <a:r>
              <a:rPr lang="de-DE" dirty="0"/>
              <a:t>Root and Microbiome </a:t>
            </a:r>
            <a:r>
              <a:rPr lang="de-DE" dirty="0" err="1"/>
              <a:t>interactions</a:t>
            </a:r>
            <a:endParaRPr lang="de-DE" dirty="0"/>
          </a:p>
        </p:txBody>
      </p:sp>
      <p:pic>
        <p:nvPicPr>
          <p:cNvPr id="5" name="Content Placeholder 4">
            <a:extLst>
              <a:ext uri="{FF2B5EF4-FFF2-40B4-BE49-F238E27FC236}">
                <a16:creationId xmlns:a16="http://schemas.microsoft.com/office/drawing/2014/main" id="{4DA8AD61-C6D1-D500-EEA9-E6E5847CAC5D}"/>
              </a:ext>
            </a:extLst>
          </p:cNvPr>
          <p:cNvPicPr>
            <a:picLocks noGrp="1" noChangeAspect="1"/>
          </p:cNvPicPr>
          <p:nvPr>
            <p:ph idx="1"/>
          </p:nvPr>
        </p:nvPicPr>
        <p:blipFill>
          <a:blip r:embed="rId2"/>
          <a:stretch>
            <a:fillRect/>
          </a:stretch>
        </p:blipFill>
        <p:spPr>
          <a:xfrm>
            <a:off x="1062159" y="2218501"/>
            <a:ext cx="4816394" cy="3613886"/>
          </a:xfrm>
        </p:spPr>
      </p:pic>
      <p:sp>
        <p:nvSpPr>
          <p:cNvPr id="3" name="文本框 2">
            <a:extLst>
              <a:ext uri="{FF2B5EF4-FFF2-40B4-BE49-F238E27FC236}">
                <a16:creationId xmlns:a16="http://schemas.microsoft.com/office/drawing/2014/main" id="{4724B3B0-A9CE-6CE5-AE7F-3A1EED77FE90}"/>
              </a:ext>
            </a:extLst>
          </p:cNvPr>
          <p:cNvSpPr txBox="1"/>
          <p:nvPr/>
        </p:nvSpPr>
        <p:spPr>
          <a:xfrm>
            <a:off x="569994" y="5906902"/>
            <a:ext cx="5800725" cy="400110"/>
          </a:xfrm>
          <a:prstGeom prst="rect">
            <a:avLst/>
          </a:prstGeom>
          <a:noFill/>
        </p:spPr>
        <p:txBody>
          <a:bodyPr wrap="square" rtlCol="0">
            <a:spAutoFit/>
          </a:bodyPr>
          <a:lstStyle/>
          <a:p>
            <a:pPr algn="ctr"/>
            <a:r>
              <a:rPr kumimoji="1" lang="en-US" altLang="zh-CN" dirty="0"/>
              <a:t>(Zhang</a:t>
            </a:r>
            <a:r>
              <a:rPr kumimoji="1" lang="zh-CN" altLang="en-US" dirty="0"/>
              <a:t> </a:t>
            </a:r>
            <a:r>
              <a:rPr kumimoji="1" lang="en-US" altLang="zh-CN" dirty="0"/>
              <a:t>et al., 2021, Microbiological Research)</a:t>
            </a:r>
          </a:p>
        </p:txBody>
      </p:sp>
      <p:graphicFrame>
        <p:nvGraphicFramePr>
          <p:cNvPr id="6" name="图示 5">
            <a:extLst>
              <a:ext uri="{FF2B5EF4-FFF2-40B4-BE49-F238E27FC236}">
                <a16:creationId xmlns:a16="http://schemas.microsoft.com/office/drawing/2014/main" id="{A3AB216B-5D19-479B-5C29-AFCDD7C53520}"/>
              </a:ext>
            </a:extLst>
          </p:cNvPr>
          <p:cNvGraphicFramePr/>
          <p:nvPr>
            <p:extLst>
              <p:ext uri="{D42A27DB-BD31-4B8C-83A1-F6EECF244321}">
                <p14:modId xmlns:p14="http://schemas.microsoft.com/office/powerpoint/2010/main" val="398037516"/>
              </p:ext>
            </p:extLst>
          </p:nvPr>
        </p:nvGraphicFramePr>
        <p:xfrm>
          <a:off x="4572079" y="1951039"/>
          <a:ext cx="5800725"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文本框 7">
            <a:extLst>
              <a:ext uri="{FF2B5EF4-FFF2-40B4-BE49-F238E27FC236}">
                <a16:creationId xmlns:a16="http://schemas.microsoft.com/office/drawing/2014/main" id="{AC673CFF-AA8E-AFC7-4FE8-6359D1D49F49}"/>
              </a:ext>
            </a:extLst>
          </p:cNvPr>
          <p:cNvSpPr txBox="1"/>
          <p:nvPr/>
        </p:nvSpPr>
        <p:spPr>
          <a:xfrm>
            <a:off x="450055" y="1090890"/>
            <a:ext cx="8436769" cy="707886"/>
          </a:xfrm>
          <a:prstGeom prst="rect">
            <a:avLst/>
          </a:prstGeom>
          <a:noFill/>
        </p:spPr>
        <p:txBody>
          <a:bodyPr wrap="square">
            <a:spAutoFit/>
          </a:bodyPr>
          <a:lstStyle/>
          <a:p>
            <a:pPr marL="342900" indent="-342900" algn="l">
              <a:buFont typeface="Wingdings" pitchFamily="2" charset="2"/>
              <a:buChar char="Ø"/>
            </a:pPr>
            <a:r>
              <a:rPr lang="en-US" altLang="zh-CN" b="1" dirty="0"/>
              <a:t>Research objective:</a:t>
            </a:r>
            <a:r>
              <a:rPr lang="en-US" altLang="zh-CN" dirty="0"/>
              <a:t> To identify the regulatory relationships between specific gene expression and the abundance of specific microbes.</a:t>
            </a:r>
            <a:endParaRPr lang="zh-CN" altLang="en-US" dirty="0"/>
          </a:p>
        </p:txBody>
      </p:sp>
    </p:spTree>
    <p:extLst>
      <p:ext uri="{BB962C8B-B14F-4D97-AF65-F5344CB8AC3E}">
        <p14:creationId xmlns:p14="http://schemas.microsoft.com/office/powerpoint/2010/main" val="392706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14606-D478-0EF9-249B-03385930ABCB}"/>
              </a:ext>
            </a:extLst>
          </p:cNvPr>
          <p:cNvSpPr>
            <a:spLocks noGrp="1"/>
          </p:cNvSpPr>
          <p:nvPr>
            <p:ph type="title"/>
          </p:nvPr>
        </p:nvSpPr>
        <p:spPr>
          <a:xfrm>
            <a:off x="508000" y="199576"/>
            <a:ext cx="8128000" cy="601538"/>
          </a:xfrm>
        </p:spPr>
        <p:txBody>
          <a:bodyPr/>
          <a:lstStyle/>
          <a:p>
            <a:r>
              <a:rPr lang="en-US" dirty="0">
                <a:latin typeface="Arial" charset="0"/>
                <a:ea typeface="ＭＳ Ｐゴシック" charset="0"/>
                <a:cs typeface="ＭＳ Ｐゴシック" charset="0"/>
              </a:rPr>
              <a:t>Microbiome Co-regulation Networks</a:t>
            </a:r>
            <a:endParaRPr lang="de-DE" dirty="0"/>
          </a:p>
        </p:txBody>
      </p:sp>
      <p:sp>
        <p:nvSpPr>
          <p:cNvPr id="3" name="Content Placeholder 2">
            <a:extLst>
              <a:ext uri="{FF2B5EF4-FFF2-40B4-BE49-F238E27FC236}">
                <a16:creationId xmlns:a16="http://schemas.microsoft.com/office/drawing/2014/main" id="{4CC7092C-16CD-A356-0B2B-5C17D6AC52DF}"/>
              </a:ext>
            </a:extLst>
          </p:cNvPr>
          <p:cNvSpPr>
            <a:spLocks noGrp="1"/>
          </p:cNvSpPr>
          <p:nvPr>
            <p:ph idx="1"/>
          </p:nvPr>
        </p:nvSpPr>
        <p:spPr>
          <a:xfrm>
            <a:off x="632455" y="1193800"/>
            <a:ext cx="3393135" cy="4470400"/>
          </a:xfrm>
        </p:spPr>
        <p:txBody>
          <a:bodyPr/>
          <a:lstStyle/>
          <a:p>
            <a:r>
              <a:rPr lang="de-DE" altLang="zh-CN" dirty="0"/>
              <a:t>Expression </a:t>
            </a:r>
            <a:r>
              <a:rPr lang="de-DE" altLang="zh-CN" dirty="0" err="1"/>
              <a:t>matrix</a:t>
            </a:r>
            <a:endParaRPr lang="de-DE" dirty="0"/>
          </a:p>
        </p:txBody>
      </p:sp>
      <p:sp>
        <p:nvSpPr>
          <p:cNvPr id="4" name="Content Placeholder 2">
            <a:extLst>
              <a:ext uri="{FF2B5EF4-FFF2-40B4-BE49-F238E27FC236}">
                <a16:creationId xmlns:a16="http://schemas.microsoft.com/office/drawing/2014/main" id="{927476D2-8223-8B34-DABF-A99270973308}"/>
              </a:ext>
            </a:extLst>
          </p:cNvPr>
          <p:cNvSpPr txBox="1">
            <a:spLocks/>
          </p:cNvSpPr>
          <p:nvPr/>
        </p:nvSpPr>
        <p:spPr bwMode="auto">
          <a:xfrm>
            <a:off x="4687782" y="1193800"/>
            <a:ext cx="4043623"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66700" indent="-266700" algn="l" rtl="0" eaLnBrk="0" fontAlgn="base" hangingPunct="0">
              <a:spcBef>
                <a:spcPct val="20000"/>
              </a:spcBef>
              <a:spcAft>
                <a:spcPct val="0"/>
              </a:spcAft>
              <a:buClr>
                <a:schemeClr val="tx2"/>
              </a:buClr>
              <a:buFont typeface="Wingdings" charset="2"/>
              <a:buChar char="§"/>
              <a:defRPr sz="2000" b="0">
                <a:solidFill>
                  <a:schemeClr val="tx1"/>
                </a:solidFill>
                <a:latin typeface="+mn-lt"/>
                <a:ea typeface="ＭＳ Ｐゴシック" pitchFamily="-65" charset="-128"/>
                <a:cs typeface="ＭＳ Ｐゴシック" pitchFamily="18" charset="-128"/>
              </a:defRPr>
            </a:lvl1pPr>
            <a:lvl2pPr marL="534988" indent="-268288"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2pPr>
            <a:lvl3pPr marL="801688"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3pPr>
            <a:lvl4pPr marL="1079500" indent="-277813"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4pPr>
            <a:lvl5pPr marL="1346200"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5pPr>
            <a:lvl6pPr marL="2438400" indent="-228600" algn="l" rtl="0" eaLnBrk="1" fontAlgn="base" hangingPunct="1">
              <a:spcBef>
                <a:spcPct val="20000"/>
              </a:spcBef>
              <a:spcAft>
                <a:spcPct val="0"/>
              </a:spcAft>
              <a:buChar char="»"/>
              <a:defRPr sz="1400">
                <a:solidFill>
                  <a:schemeClr val="tx1"/>
                </a:solidFill>
                <a:latin typeface="+mn-lt"/>
              </a:defRPr>
            </a:lvl6pPr>
            <a:lvl7pPr marL="2895600" indent="-228600" algn="l" rtl="0" eaLnBrk="1" fontAlgn="base" hangingPunct="1">
              <a:spcBef>
                <a:spcPct val="20000"/>
              </a:spcBef>
              <a:spcAft>
                <a:spcPct val="0"/>
              </a:spcAft>
              <a:buChar char="»"/>
              <a:defRPr sz="1400">
                <a:solidFill>
                  <a:schemeClr val="tx1"/>
                </a:solidFill>
                <a:latin typeface="+mn-lt"/>
              </a:defRPr>
            </a:lvl7pPr>
            <a:lvl8pPr marL="3352800" indent="-228600" algn="l" rtl="0" eaLnBrk="1" fontAlgn="base" hangingPunct="1">
              <a:spcBef>
                <a:spcPct val="20000"/>
              </a:spcBef>
              <a:spcAft>
                <a:spcPct val="0"/>
              </a:spcAft>
              <a:buChar char="»"/>
              <a:defRPr sz="1400">
                <a:solidFill>
                  <a:schemeClr val="tx1"/>
                </a:solidFill>
                <a:latin typeface="+mn-lt"/>
              </a:defRPr>
            </a:lvl8pPr>
            <a:lvl9pPr marL="3810000" indent="-228600" algn="l" rtl="0" eaLnBrk="1" fontAlgn="base" hangingPunct="1">
              <a:spcBef>
                <a:spcPct val="20000"/>
              </a:spcBef>
              <a:spcAft>
                <a:spcPct val="0"/>
              </a:spcAft>
              <a:buChar char="»"/>
              <a:defRPr sz="1400">
                <a:solidFill>
                  <a:schemeClr val="tx1"/>
                </a:solidFill>
                <a:latin typeface="+mn-lt"/>
              </a:defRPr>
            </a:lvl9pPr>
          </a:lstStyle>
          <a:p>
            <a:r>
              <a:rPr lang="de-DE" altLang="zh-CN" kern="0" dirty="0"/>
              <a:t>Microbiome </a:t>
            </a:r>
            <a:r>
              <a:rPr lang="de-DE" dirty="0"/>
              <a:t>ASV feature </a:t>
            </a:r>
            <a:r>
              <a:rPr lang="de-DE" dirty="0" err="1"/>
              <a:t>table</a:t>
            </a:r>
            <a:endParaRPr lang="de-DE" kern="0" dirty="0"/>
          </a:p>
        </p:txBody>
      </p:sp>
      <p:graphicFrame>
        <p:nvGraphicFramePr>
          <p:cNvPr id="5" name="Table 4">
            <a:extLst>
              <a:ext uri="{FF2B5EF4-FFF2-40B4-BE49-F238E27FC236}">
                <a16:creationId xmlns:a16="http://schemas.microsoft.com/office/drawing/2014/main" id="{80D83B5D-AC90-1B4A-3471-D5D1A2034292}"/>
              </a:ext>
            </a:extLst>
          </p:cNvPr>
          <p:cNvGraphicFramePr>
            <a:graphicFrameLocks noGrp="1"/>
          </p:cNvGraphicFramePr>
          <p:nvPr>
            <p:extLst>
              <p:ext uri="{D42A27DB-BD31-4B8C-83A1-F6EECF244321}">
                <p14:modId xmlns:p14="http://schemas.microsoft.com/office/powerpoint/2010/main" val="1379225504"/>
              </p:ext>
            </p:extLst>
          </p:nvPr>
        </p:nvGraphicFramePr>
        <p:xfrm>
          <a:off x="508000" y="2006599"/>
          <a:ext cx="3616713" cy="2230865"/>
        </p:xfrm>
        <a:graphic>
          <a:graphicData uri="http://schemas.openxmlformats.org/drawingml/2006/table">
            <a:tbl>
              <a:tblPr firstRow="1" bandRow="1">
                <a:tableStyleId>{5C22544A-7EE6-4342-B048-85BDC9FD1C3A}</a:tableStyleId>
              </a:tblPr>
              <a:tblGrid>
                <a:gridCol w="1205571">
                  <a:extLst>
                    <a:ext uri="{9D8B030D-6E8A-4147-A177-3AD203B41FA5}">
                      <a16:colId xmlns:a16="http://schemas.microsoft.com/office/drawing/2014/main" val="1632246884"/>
                    </a:ext>
                  </a:extLst>
                </a:gridCol>
                <a:gridCol w="1205571">
                  <a:extLst>
                    <a:ext uri="{9D8B030D-6E8A-4147-A177-3AD203B41FA5}">
                      <a16:colId xmlns:a16="http://schemas.microsoft.com/office/drawing/2014/main" val="18245326"/>
                    </a:ext>
                  </a:extLst>
                </a:gridCol>
                <a:gridCol w="1205571">
                  <a:extLst>
                    <a:ext uri="{9D8B030D-6E8A-4147-A177-3AD203B41FA5}">
                      <a16:colId xmlns:a16="http://schemas.microsoft.com/office/drawing/2014/main" val="3246403521"/>
                    </a:ext>
                  </a:extLst>
                </a:gridCol>
              </a:tblGrid>
              <a:tr h="446173">
                <a:tc>
                  <a:txBody>
                    <a:bodyPr/>
                    <a:lstStyle/>
                    <a:p>
                      <a:endParaRPr lang="de-DE"/>
                    </a:p>
                  </a:txBody>
                  <a:tcPr/>
                </a:tc>
                <a:tc>
                  <a:txBody>
                    <a:bodyPr/>
                    <a:lstStyle/>
                    <a:p>
                      <a:r>
                        <a:rPr lang="de-DE" dirty="0"/>
                        <a:t>sample1</a:t>
                      </a:r>
                    </a:p>
                  </a:txBody>
                  <a:tcPr/>
                </a:tc>
                <a:tc>
                  <a:txBody>
                    <a:bodyPr/>
                    <a:lstStyle/>
                    <a:p>
                      <a:r>
                        <a:rPr lang="de-DE" dirty="0"/>
                        <a:t>sample2</a:t>
                      </a:r>
                    </a:p>
                  </a:txBody>
                  <a:tcPr/>
                </a:tc>
                <a:extLst>
                  <a:ext uri="{0D108BD9-81ED-4DB2-BD59-A6C34878D82A}">
                    <a16:rowId xmlns:a16="http://schemas.microsoft.com/office/drawing/2014/main" val="953003315"/>
                  </a:ext>
                </a:extLst>
              </a:tr>
              <a:tr h="446173">
                <a:tc>
                  <a:txBody>
                    <a:bodyPr/>
                    <a:lstStyle/>
                    <a:p>
                      <a:r>
                        <a:rPr lang="de-DE" dirty="0"/>
                        <a:t>Gene1</a:t>
                      </a:r>
                    </a:p>
                  </a:txBody>
                  <a:tcPr/>
                </a:tc>
                <a:tc>
                  <a:txBody>
                    <a:bodyPr/>
                    <a:lstStyle/>
                    <a:p>
                      <a:r>
                        <a:rPr lang="de-DE" dirty="0"/>
                        <a:t>FPKM1</a:t>
                      </a:r>
                    </a:p>
                  </a:txBody>
                  <a:tcPr/>
                </a:tc>
                <a:tc>
                  <a:txBody>
                    <a:bodyPr/>
                    <a:lstStyle/>
                    <a:p>
                      <a:r>
                        <a:rPr lang="de-DE" dirty="0"/>
                        <a:t>FPKM</a:t>
                      </a:r>
                      <a:r>
                        <a:rPr lang="en-US" altLang="zh-CN" dirty="0"/>
                        <a:t>2</a:t>
                      </a:r>
                      <a:endParaRPr lang="de-DE" dirty="0"/>
                    </a:p>
                  </a:txBody>
                  <a:tcPr/>
                </a:tc>
                <a:extLst>
                  <a:ext uri="{0D108BD9-81ED-4DB2-BD59-A6C34878D82A}">
                    <a16:rowId xmlns:a16="http://schemas.microsoft.com/office/drawing/2014/main" val="3830656578"/>
                  </a:ext>
                </a:extLst>
              </a:tr>
              <a:tr h="446173">
                <a:tc>
                  <a:txBody>
                    <a:bodyPr/>
                    <a:lstStyle/>
                    <a:p>
                      <a:r>
                        <a:rPr lang="de-DE" dirty="0"/>
                        <a:t>Gene2</a:t>
                      </a:r>
                    </a:p>
                  </a:txBody>
                  <a:tcPr/>
                </a:tc>
                <a:tc>
                  <a:txBody>
                    <a:bodyPr/>
                    <a:lstStyle/>
                    <a:p>
                      <a:r>
                        <a:rPr lang="de-DE" dirty="0"/>
                        <a:t>FPKM</a:t>
                      </a:r>
                      <a:r>
                        <a:rPr lang="en-US" altLang="zh-CN" dirty="0"/>
                        <a:t>3</a:t>
                      </a:r>
                      <a:endParaRPr lang="de-DE" dirty="0"/>
                    </a:p>
                  </a:txBody>
                  <a:tcPr/>
                </a:tc>
                <a:tc>
                  <a:txBody>
                    <a:bodyPr/>
                    <a:lstStyle/>
                    <a:p>
                      <a:r>
                        <a:rPr lang="de-DE" dirty="0"/>
                        <a:t>FPKM</a:t>
                      </a:r>
                      <a:r>
                        <a:rPr lang="en-US" altLang="zh-CN" dirty="0"/>
                        <a:t>4</a:t>
                      </a:r>
                      <a:endParaRPr lang="de-DE" dirty="0"/>
                    </a:p>
                  </a:txBody>
                  <a:tcPr/>
                </a:tc>
                <a:extLst>
                  <a:ext uri="{0D108BD9-81ED-4DB2-BD59-A6C34878D82A}">
                    <a16:rowId xmlns:a16="http://schemas.microsoft.com/office/drawing/2014/main" val="3680000127"/>
                  </a:ext>
                </a:extLst>
              </a:tr>
              <a:tr h="446173">
                <a:tc>
                  <a:txBody>
                    <a:bodyPr/>
                    <a:lstStyle/>
                    <a:p>
                      <a:r>
                        <a:rPr lang="de-DE" dirty="0"/>
                        <a:t>Gene3</a:t>
                      </a:r>
                    </a:p>
                  </a:txBody>
                  <a:tcPr/>
                </a:tc>
                <a:tc>
                  <a:txBody>
                    <a:bodyPr/>
                    <a:lstStyle/>
                    <a:p>
                      <a:r>
                        <a:rPr lang="de-DE" dirty="0"/>
                        <a:t>FPKM</a:t>
                      </a:r>
                      <a:r>
                        <a:rPr lang="en-US" altLang="zh-CN" dirty="0"/>
                        <a:t>5</a:t>
                      </a:r>
                      <a:endParaRPr lang="de-DE" dirty="0"/>
                    </a:p>
                  </a:txBody>
                  <a:tcPr/>
                </a:tc>
                <a:tc>
                  <a:txBody>
                    <a:bodyPr/>
                    <a:lstStyle/>
                    <a:p>
                      <a:r>
                        <a:rPr lang="de-DE" dirty="0"/>
                        <a:t>FPKM</a:t>
                      </a:r>
                      <a:r>
                        <a:rPr lang="en-US" altLang="zh-CN" dirty="0"/>
                        <a:t>6</a:t>
                      </a:r>
                      <a:endParaRPr lang="de-DE" dirty="0"/>
                    </a:p>
                  </a:txBody>
                  <a:tcPr/>
                </a:tc>
                <a:extLst>
                  <a:ext uri="{0D108BD9-81ED-4DB2-BD59-A6C34878D82A}">
                    <a16:rowId xmlns:a16="http://schemas.microsoft.com/office/drawing/2014/main" val="384683687"/>
                  </a:ext>
                </a:extLst>
              </a:tr>
              <a:tr h="446173">
                <a:tc>
                  <a:txBody>
                    <a:bodyPr/>
                    <a:lstStyle/>
                    <a:p>
                      <a:r>
                        <a:rPr lang="en-US" dirty="0"/>
                        <a:t>…</a:t>
                      </a:r>
                      <a:endParaRPr lang="de-DE" dirty="0"/>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val="712411116"/>
                  </a:ext>
                </a:extLst>
              </a:tr>
            </a:tbl>
          </a:graphicData>
        </a:graphic>
      </p:graphicFrame>
      <p:graphicFrame>
        <p:nvGraphicFramePr>
          <p:cNvPr id="6" name="Table 5">
            <a:extLst>
              <a:ext uri="{FF2B5EF4-FFF2-40B4-BE49-F238E27FC236}">
                <a16:creationId xmlns:a16="http://schemas.microsoft.com/office/drawing/2014/main" id="{B91B7244-E660-3413-29A6-F40517243684}"/>
              </a:ext>
            </a:extLst>
          </p:cNvPr>
          <p:cNvGraphicFramePr>
            <a:graphicFrameLocks noGrp="1"/>
          </p:cNvGraphicFramePr>
          <p:nvPr>
            <p:extLst>
              <p:ext uri="{D42A27DB-BD31-4B8C-83A1-F6EECF244321}">
                <p14:modId xmlns:p14="http://schemas.microsoft.com/office/powerpoint/2010/main" val="1436472836"/>
              </p:ext>
            </p:extLst>
          </p:nvPr>
        </p:nvGraphicFramePr>
        <p:xfrm>
          <a:off x="4687782" y="2006597"/>
          <a:ext cx="3889922" cy="2230866"/>
        </p:xfrm>
        <a:graphic>
          <a:graphicData uri="http://schemas.openxmlformats.org/drawingml/2006/table">
            <a:tbl>
              <a:tblPr firstRow="1" bandRow="1">
                <a:tableStyleId>{93296810-A885-4BE3-A3E7-6D5BEEA58F35}</a:tableStyleId>
              </a:tblPr>
              <a:tblGrid>
                <a:gridCol w="1256621">
                  <a:extLst>
                    <a:ext uri="{9D8B030D-6E8A-4147-A177-3AD203B41FA5}">
                      <a16:colId xmlns:a16="http://schemas.microsoft.com/office/drawing/2014/main" val="1632246884"/>
                    </a:ext>
                  </a:extLst>
                </a:gridCol>
                <a:gridCol w="1376680">
                  <a:extLst>
                    <a:ext uri="{9D8B030D-6E8A-4147-A177-3AD203B41FA5}">
                      <a16:colId xmlns:a16="http://schemas.microsoft.com/office/drawing/2014/main" val="18245326"/>
                    </a:ext>
                  </a:extLst>
                </a:gridCol>
                <a:gridCol w="1256621">
                  <a:extLst>
                    <a:ext uri="{9D8B030D-6E8A-4147-A177-3AD203B41FA5}">
                      <a16:colId xmlns:a16="http://schemas.microsoft.com/office/drawing/2014/main" val="3246403521"/>
                    </a:ext>
                  </a:extLst>
                </a:gridCol>
              </a:tblGrid>
              <a:tr h="421391">
                <a:tc>
                  <a:txBody>
                    <a:bodyPr/>
                    <a:lstStyle/>
                    <a:p>
                      <a:endParaRPr lang="de-DE" dirty="0"/>
                    </a:p>
                  </a:txBody>
                  <a:tcPr/>
                </a:tc>
                <a:tc>
                  <a:txBody>
                    <a:bodyPr/>
                    <a:lstStyle/>
                    <a:p>
                      <a:r>
                        <a:rPr lang="de-DE" dirty="0"/>
                        <a:t>sample1</a:t>
                      </a:r>
                    </a:p>
                  </a:txBody>
                  <a:tcPr/>
                </a:tc>
                <a:tc>
                  <a:txBody>
                    <a:bodyPr/>
                    <a:lstStyle/>
                    <a:p>
                      <a:r>
                        <a:rPr lang="de-DE" dirty="0"/>
                        <a:t>sample2</a:t>
                      </a:r>
                    </a:p>
                  </a:txBody>
                  <a:tcPr/>
                </a:tc>
                <a:extLst>
                  <a:ext uri="{0D108BD9-81ED-4DB2-BD59-A6C34878D82A}">
                    <a16:rowId xmlns:a16="http://schemas.microsoft.com/office/drawing/2014/main" val="953003315"/>
                  </a:ext>
                </a:extLst>
              </a:tr>
              <a:tr h="545302">
                <a:tc>
                  <a:txBody>
                    <a:bodyPr/>
                    <a:lstStyle/>
                    <a:p>
                      <a:r>
                        <a:rPr lang="de-DE" dirty="0"/>
                        <a:t>class1</a:t>
                      </a:r>
                    </a:p>
                  </a:txBody>
                  <a:tcPr/>
                </a:tc>
                <a:tc>
                  <a:txBody>
                    <a:bodyPr/>
                    <a:lstStyle/>
                    <a:p>
                      <a:r>
                        <a:rPr lang="de-DE" dirty="0"/>
                        <a:t>count1</a:t>
                      </a:r>
                    </a:p>
                  </a:txBody>
                  <a:tcPr/>
                </a:tc>
                <a:tc>
                  <a:txBody>
                    <a:bodyPr/>
                    <a:lstStyle/>
                    <a:p>
                      <a:r>
                        <a:rPr lang="de-DE" dirty="0"/>
                        <a:t>count2</a:t>
                      </a:r>
                    </a:p>
                  </a:txBody>
                  <a:tcPr/>
                </a:tc>
                <a:extLst>
                  <a:ext uri="{0D108BD9-81ED-4DB2-BD59-A6C34878D82A}">
                    <a16:rowId xmlns:a16="http://schemas.microsoft.com/office/drawing/2014/main" val="3830656578"/>
                  </a:ext>
                </a:extLst>
              </a:tr>
              <a:tr h="421391">
                <a:tc>
                  <a:txBody>
                    <a:bodyPr/>
                    <a:lstStyle/>
                    <a:p>
                      <a:r>
                        <a:rPr lang="de-DE" dirty="0"/>
                        <a:t>class2</a:t>
                      </a:r>
                    </a:p>
                  </a:txBody>
                  <a:tcPr/>
                </a:tc>
                <a:tc>
                  <a:txBody>
                    <a:bodyPr/>
                    <a:lstStyle/>
                    <a:p>
                      <a:r>
                        <a:rPr lang="de-DE" dirty="0"/>
                        <a:t>count3</a:t>
                      </a:r>
                    </a:p>
                  </a:txBody>
                  <a:tcPr/>
                </a:tc>
                <a:tc>
                  <a:txBody>
                    <a:bodyPr/>
                    <a:lstStyle/>
                    <a:p>
                      <a:r>
                        <a:rPr lang="de-DE" dirty="0"/>
                        <a:t>count4</a:t>
                      </a:r>
                    </a:p>
                  </a:txBody>
                  <a:tcPr/>
                </a:tc>
                <a:extLst>
                  <a:ext uri="{0D108BD9-81ED-4DB2-BD59-A6C34878D82A}">
                    <a16:rowId xmlns:a16="http://schemas.microsoft.com/office/drawing/2014/main" val="3680000127"/>
                  </a:ext>
                </a:extLst>
              </a:tr>
              <a:tr h="421391">
                <a:tc>
                  <a:txBody>
                    <a:bodyPr/>
                    <a:lstStyle/>
                    <a:p>
                      <a:r>
                        <a:rPr lang="de-DE" dirty="0"/>
                        <a:t>class3</a:t>
                      </a:r>
                    </a:p>
                  </a:txBody>
                  <a:tcPr/>
                </a:tc>
                <a:tc>
                  <a:txBody>
                    <a:bodyPr/>
                    <a:lstStyle/>
                    <a:p>
                      <a:r>
                        <a:rPr lang="de-DE" dirty="0"/>
                        <a:t>count5</a:t>
                      </a:r>
                    </a:p>
                  </a:txBody>
                  <a:tcPr/>
                </a:tc>
                <a:tc>
                  <a:txBody>
                    <a:bodyPr/>
                    <a:lstStyle/>
                    <a:p>
                      <a:r>
                        <a:rPr lang="de-DE" dirty="0"/>
                        <a:t>count6</a:t>
                      </a:r>
                    </a:p>
                  </a:txBody>
                  <a:tcPr/>
                </a:tc>
                <a:extLst>
                  <a:ext uri="{0D108BD9-81ED-4DB2-BD59-A6C34878D82A}">
                    <a16:rowId xmlns:a16="http://schemas.microsoft.com/office/drawing/2014/main" val="384683687"/>
                  </a:ext>
                </a:extLst>
              </a:tr>
              <a:tr h="421391">
                <a:tc>
                  <a:txBody>
                    <a:bodyPr/>
                    <a:lstStyle/>
                    <a:p>
                      <a:r>
                        <a:rPr lang="de-DE" dirty="0"/>
                        <a:t>…</a:t>
                      </a:r>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val="712411116"/>
                  </a:ext>
                </a:extLst>
              </a:tr>
            </a:tbl>
          </a:graphicData>
        </a:graphic>
      </p:graphicFrame>
      <p:sp>
        <p:nvSpPr>
          <p:cNvPr id="8" name="任意形状 7">
            <a:extLst>
              <a:ext uri="{FF2B5EF4-FFF2-40B4-BE49-F238E27FC236}">
                <a16:creationId xmlns:a16="http://schemas.microsoft.com/office/drawing/2014/main" id="{1F0B8E5C-A5D6-D02B-059E-0E7AD8D388A8}"/>
              </a:ext>
            </a:extLst>
          </p:cNvPr>
          <p:cNvSpPr/>
          <p:nvPr/>
        </p:nvSpPr>
        <p:spPr bwMode="auto">
          <a:xfrm>
            <a:off x="2314575" y="4380193"/>
            <a:ext cx="3976007" cy="920475"/>
          </a:xfrm>
          <a:custGeom>
            <a:avLst/>
            <a:gdLst>
              <a:gd name="connsiteX0" fmla="*/ 0 w 3976007"/>
              <a:gd name="connsiteY0" fmla="*/ 20357 h 920475"/>
              <a:gd name="connsiteX1" fmla="*/ 2000250 w 3976007"/>
              <a:gd name="connsiteY1" fmla="*/ 920470 h 920475"/>
              <a:gd name="connsiteX2" fmla="*/ 3886200 w 3976007"/>
              <a:gd name="connsiteY2" fmla="*/ 34645 h 920475"/>
              <a:gd name="connsiteX3" fmla="*/ 3700463 w 3976007"/>
              <a:gd name="connsiteY3" fmla="*/ 163232 h 920475"/>
              <a:gd name="connsiteX4" fmla="*/ 3943350 w 3976007"/>
              <a:gd name="connsiteY4" fmla="*/ 6070 h 92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6007" h="920475">
                <a:moveTo>
                  <a:pt x="0" y="20357"/>
                </a:moveTo>
                <a:cubicBezTo>
                  <a:pt x="676275" y="469223"/>
                  <a:pt x="1352550" y="918089"/>
                  <a:pt x="2000250" y="920470"/>
                </a:cubicBezTo>
                <a:cubicBezTo>
                  <a:pt x="2647950" y="922851"/>
                  <a:pt x="3602831" y="160851"/>
                  <a:pt x="3886200" y="34645"/>
                </a:cubicBezTo>
                <a:cubicBezTo>
                  <a:pt x="4169569" y="-91561"/>
                  <a:pt x="3690938" y="167995"/>
                  <a:pt x="3700463" y="163232"/>
                </a:cubicBezTo>
                <a:cubicBezTo>
                  <a:pt x="3709988" y="158469"/>
                  <a:pt x="3826669" y="82269"/>
                  <a:pt x="3943350" y="6070"/>
                </a:cubicBezTo>
              </a:path>
            </a:pathLst>
          </a:custGeom>
          <a:noFill/>
          <a:ln w="50800" cap="flat" cmpd="sng" algn="ctr">
            <a:solidFill>
              <a:schemeClr val="bg2"/>
            </a:solidFill>
            <a:prstDash val="solid"/>
            <a:round/>
            <a:headEnd type="arrow"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pitchFamily="34" charset="0"/>
            </a:endParaRPr>
          </a:p>
        </p:txBody>
      </p:sp>
    </p:spTree>
    <p:extLst>
      <p:ext uri="{BB962C8B-B14F-4D97-AF65-F5344CB8AC3E}">
        <p14:creationId xmlns:p14="http://schemas.microsoft.com/office/powerpoint/2010/main" val="204372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2247F-E914-F404-3B0E-B59579835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0BBF5-1AB5-794C-FEBE-3E70DF6574EC}"/>
              </a:ext>
            </a:extLst>
          </p:cNvPr>
          <p:cNvSpPr>
            <a:spLocks noGrp="1"/>
          </p:cNvSpPr>
          <p:nvPr>
            <p:ph type="title"/>
          </p:nvPr>
        </p:nvSpPr>
        <p:spPr>
          <a:xfrm>
            <a:off x="508000" y="199576"/>
            <a:ext cx="8128000" cy="601538"/>
          </a:xfrm>
        </p:spPr>
        <p:txBody>
          <a:bodyPr/>
          <a:lstStyle/>
          <a:p>
            <a:r>
              <a:rPr lang="en-US" dirty="0">
                <a:latin typeface="Arial" charset="0"/>
                <a:ea typeface="ＭＳ Ｐゴシック" charset="0"/>
                <a:cs typeface="ＭＳ Ｐゴシック" charset="0"/>
              </a:rPr>
              <a:t>Microbiome Co-regulation Networks</a:t>
            </a:r>
            <a:endParaRPr lang="de-DE" dirty="0"/>
          </a:p>
        </p:txBody>
      </p:sp>
      <p:pic>
        <p:nvPicPr>
          <p:cNvPr id="5" name="图片 4">
            <a:extLst>
              <a:ext uri="{FF2B5EF4-FFF2-40B4-BE49-F238E27FC236}">
                <a16:creationId xmlns:a16="http://schemas.microsoft.com/office/drawing/2014/main" id="{358146EF-633F-747F-8633-D735860783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0188" y="959201"/>
            <a:ext cx="5786438" cy="5145797"/>
          </a:xfrm>
          <a:prstGeom prst="rect">
            <a:avLst/>
          </a:prstGeom>
        </p:spPr>
      </p:pic>
    </p:spTree>
    <p:extLst>
      <p:ext uri="{BB962C8B-B14F-4D97-AF65-F5344CB8AC3E}">
        <p14:creationId xmlns:p14="http://schemas.microsoft.com/office/powerpoint/2010/main" val="4189741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F3F82-01E7-27B3-01CA-E7440D28CD15}"/>
              </a:ext>
            </a:extLst>
          </p:cNvPr>
          <p:cNvSpPr>
            <a:spLocks noGrp="1"/>
          </p:cNvSpPr>
          <p:nvPr>
            <p:ph type="title"/>
          </p:nvPr>
        </p:nvSpPr>
        <p:spPr>
          <a:xfrm>
            <a:off x="569994" y="243112"/>
            <a:ext cx="8128000" cy="601538"/>
          </a:xfrm>
        </p:spPr>
        <p:txBody>
          <a:bodyPr/>
          <a:lstStyle/>
          <a:p>
            <a:r>
              <a:rPr lang="en-US" altLang="zh-CN" dirty="0">
                <a:latin typeface="Arial" charset="0"/>
                <a:ea typeface="ＭＳ Ｐゴシック" charset="0"/>
                <a:cs typeface="ＭＳ Ｐゴシック" charset="0"/>
              </a:rPr>
              <a:t>Microbiome Co-regulation Networks</a:t>
            </a:r>
            <a:endParaRPr kumimoji="1" lang="zh-CN" altLang="en-US" dirty="0"/>
          </a:p>
        </p:txBody>
      </p:sp>
      <p:sp>
        <p:nvSpPr>
          <p:cNvPr id="3" name="内容占位符 2">
            <a:extLst>
              <a:ext uri="{FF2B5EF4-FFF2-40B4-BE49-F238E27FC236}">
                <a16:creationId xmlns:a16="http://schemas.microsoft.com/office/drawing/2014/main" id="{AE0D4BCA-3B55-C001-EFDA-5996B7EB34D8}"/>
              </a:ext>
            </a:extLst>
          </p:cNvPr>
          <p:cNvSpPr>
            <a:spLocks noGrp="1"/>
          </p:cNvSpPr>
          <p:nvPr>
            <p:ph idx="1"/>
          </p:nvPr>
        </p:nvSpPr>
        <p:spPr/>
        <p:txBody>
          <a:bodyPr/>
          <a:lstStyle/>
          <a:p>
            <a:r>
              <a:rPr kumimoji="1" lang="en-US" altLang="zh-CN" dirty="0"/>
              <a:t>Code</a:t>
            </a:r>
          </a:p>
          <a:p>
            <a:r>
              <a:rPr kumimoji="1" lang="en-US" altLang="zh-CN" dirty="0"/>
              <a:t>https://</a:t>
            </a:r>
            <a:r>
              <a:rPr kumimoji="1" lang="en-US" altLang="zh-CN" dirty="0" err="1"/>
              <a:t>github.com</a:t>
            </a:r>
            <a:r>
              <a:rPr kumimoji="1" lang="en-US" altLang="zh-CN" dirty="0"/>
              <a:t>/ttian627/Omics-Data-Analysis-of-Root-Microbe-Interactions/03_Co-regulation Networks</a:t>
            </a:r>
            <a:r>
              <a:rPr kumimoji="1" lang="en-US" altLang="zh-CN" b="1" dirty="0"/>
              <a:t>/</a:t>
            </a:r>
            <a:endParaRPr kumimoji="1" lang="zh-CN" altLang="en-US" dirty="0"/>
          </a:p>
        </p:txBody>
      </p:sp>
    </p:spTree>
    <p:extLst>
      <p:ext uri="{BB962C8B-B14F-4D97-AF65-F5344CB8AC3E}">
        <p14:creationId xmlns:p14="http://schemas.microsoft.com/office/powerpoint/2010/main" val="2766138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31288-5FA4-0373-6AAC-AE405E30A68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0D06CD-DF5D-AFBC-9F78-81FE003AFD29}"/>
              </a:ext>
            </a:extLst>
          </p:cNvPr>
          <p:cNvPicPr>
            <a:picLocks noChangeAspect="1"/>
          </p:cNvPicPr>
          <p:nvPr/>
        </p:nvPicPr>
        <p:blipFill>
          <a:blip r:embed="rId2"/>
          <a:stretch>
            <a:fillRect/>
          </a:stretch>
        </p:blipFill>
        <p:spPr>
          <a:xfrm>
            <a:off x="3143849" y="130269"/>
            <a:ext cx="1804044" cy="1434396"/>
          </a:xfrm>
          <a:prstGeom prst="rect">
            <a:avLst/>
          </a:prstGeom>
        </p:spPr>
      </p:pic>
      <p:sp>
        <p:nvSpPr>
          <p:cNvPr id="4" name="Title 1">
            <a:extLst>
              <a:ext uri="{FF2B5EF4-FFF2-40B4-BE49-F238E27FC236}">
                <a16:creationId xmlns:a16="http://schemas.microsoft.com/office/drawing/2014/main" id="{4700BF1A-A798-CA6C-79AF-FD123A0DB341}"/>
              </a:ext>
            </a:extLst>
          </p:cNvPr>
          <p:cNvSpPr txBox="1">
            <a:spLocks/>
          </p:cNvSpPr>
          <p:nvPr/>
        </p:nvSpPr>
        <p:spPr bwMode="auto">
          <a:xfrm>
            <a:off x="0" y="2643233"/>
            <a:ext cx="9144000" cy="937648"/>
          </a:xfrm>
          <a:prstGeom prst="rect">
            <a:avLst/>
          </a:prstGeom>
          <a:solidFill>
            <a:srgbClr val="0065BD"/>
          </a:solidFill>
          <a:ln>
            <a:noFill/>
          </a:ln>
          <a:extLs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rtl="0" eaLnBrk="0" fontAlgn="base" hangingPunct="0">
              <a:lnSpc>
                <a:spcPct val="150000"/>
              </a:lnSpc>
              <a:spcBef>
                <a:spcPct val="0"/>
              </a:spcBef>
              <a:spcAft>
                <a:spcPct val="0"/>
              </a:spcAft>
              <a:defRPr sz="3200" b="0">
                <a:solidFill>
                  <a:schemeClr val="bg1"/>
                </a:solidFill>
                <a:latin typeface="+mj-lt"/>
                <a:ea typeface="ＭＳ Ｐゴシック" pitchFamily="-65" charset="-128"/>
                <a:cs typeface="ＭＳ Ｐゴシック" pitchFamily="18" charset="-128"/>
              </a:defRPr>
            </a:lvl1pPr>
            <a:lvl2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2pPr>
            <a:lvl3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3pPr>
            <a:lvl4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4pPr>
            <a:lvl5pPr algn="l" rtl="0" eaLnBrk="0" fontAlgn="base" hangingPunct="0">
              <a:spcBef>
                <a:spcPct val="0"/>
              </a:spcBef>
              <a:spcAft>
                <a:spcPct val="0"/>
              </a:spcAft>
              <a:defRPr sz="3200" b="1">
                <a:solidFill>
                  <a:schemeClr val="tx1"/>
                </a:solidFill>
                <a:latin typeface="Arial" pitchFamily="34" charset="0"/>
                <a:ea typeface="ＭＳ Ｐゴシック" pitchFamily="-65" charset="-128"/>
                <a:cs typeface="ＭＳ Ｐゴシック" pitchFamily="18" charset="-128"/>
              </a:defRPr>
            </a:lvl5pPr>
            <a:lvl6pPr marL="457200" algn="l" rtl="0" eaLnBrk="1" fontAlgn="base" hangingPunct="1">
              <a:spcBef>
                <a:spcPct val="0"/>
              </a:spcBef>
              <a:spcAft>
                <a:spcPct val="0"/>
              </a:spcAft>
              <a:defRPr sz="2400" b="1">
                <a:solidFill>
                  <a:schemeClr val="tx1"/>
                </a:solidFill>
                <a:latin typeface="Arial" pitchFamily="34" charset="0"/>
              </a:defRPr>
            </a:lvl6pPr>
            <a:lvl7pPr marL="914400" algn="l" rtl="0" eaLnBrk="1" fontAlgn="base" hangingPunct="1">
              <a:spcBef>
                <a:spcPct val="0"/>
              </a:spcBef>
              <a:spcAft>
                <a:spcPct val="0"/>
              </a:spcAft>
              <a:defRPr sz="2400" b="1">
                <a:solidFill>
                  <a:schemeClr val="tx1"/>
                </a:solidFill>
                <a:latin typeface="Arial" pitchFamily="34" charset="0"/>
              </a:defRPr>
            </a:lvl7pPr>
            <a:lvl8pPr marL="1371600" algn="l" rtl="0" eaLnBrk="1" fontAlgn="base" hangingPunct="1">
              <a:spcBef>
                <a:spcPct val="0"/>
              </a:spcBef>
              <a:spcAft>
                <a:spcPct val="0"/>
              </a:spcAft>
              <a:defRPr sz="2400" b="1">
                <a:solidFill>
                  <a:schemeClr val="tx1"/>
                </a:solidFill>
                <a:latin typeface="Arial" pitchFamily="34" charset="0"/>
              </a:defRPr>
            </a:lvl8pPr>
            <a:lvl9pPr marL="1828800" algn="l" rtl="0" eaLnBrk="1" fontAlgn="base" hangingPunct="1">
              <a:spcBef>
                <a:spcPct val="0"/>
              </a:spcBef>
              <a:spcAft>
                <a:spcPct val="0"/>
              </a:spcAft>
              <a:defRPr sz="2400" b="1">
                <a:solidFill>
                  <a:schemeClr val="tx1"/>
                </a:solidFill>
                <a:latin typeface="Arial" pitchFamily="34" charset="0"/>
              </a:defRPr>
            </a:lvl9pPr>
          </a:lstStyle>
          <a:p>
            <a:r>
              <a:rPr lang="en-US" kern="0"/>
              <a:t>Preparation for the upcoming exercises</a:t>
            </a:r>
            <a:endParaRPr lang="de-DE" kern="0" dirty="0"/>
          </a:p>
        </p:txBody>
      </p:sp>
      <p:sp>
        <p:nvSpPr>
          <p:cNvPr id="5" name="Title 4">
            <a:extLst>
              <a:ext uri="{FF2B5EF4-FFF2-40B4-BE49-F238E27FC236}">
                <a16:creationId xmlns:a16="http://schemas.microsoft.com/office/drawing/2014/main" id="{9437F064-7473-865E-34CD-492C809B6C3D}"/>
              </a:ext>
            </a:extLst>
          </p:cNvPr>
          <p:cNvSpPr>
            <a:spLocks noGrp="1"/>
          </p:cNvSpPr>
          <p:nvPr>
            <p:ph type="ctrTitle"/>
          </p:nvPr>
        </p:nvSpPr>
        <p:spPr/>
        <p:txBody>
          <a:bodyPr/>
          <a:lstStyle/>
          <a:p>
            <a:r>
              <a:rPr lang="de-DE" dirty="0" err="1"/>
              <a:t>Thank</a:t>
            </a:r>
            <a:r>
              <a:rPr lang="de-DE" dirty="0"/>
              <a:t> </a:t>
            </a:r>
            <a:r>
              <a:rPr lang="de-DE" dirty="0" err="1"/>
              <a:t>you</a:t>
            </a:r>
            <a:endParaRPr lang="de-DE" dirty="0"/>
          </a:p>
        </p:txBody>
      </p:sp>
      <p:sp>
        <p:nvSpPr>
          <p:cNvPr id="2" name="Rectangle 3">
            <a:extLst>
              <a:ext uri="{FF2B5EF4-FFF2-40B4-BE49-F238E27FC236}">
                <a16:creationId xmlns:a16="http://schemas.microsoft.com/office/drawing/2014/main" id="{13C38045-F099-8E54-A662-50C44B5232DB}"/>
              </a:ext>
            </a:extLst>
          </p:cNvPr>
          <p:cNvSpPr txBox="1">
            <a:spLocks noChangeArrowheads="1"/>
          </p:cNvSpPr>
          <p:nvPr/>
        </p:nvSpPr>
        <p:spPr>
          <a:xfrm>
            <a:off x="2574679" y="3932962"/>
            <a:ext cx="3994641" cy="1752600"/>
          </a:xfrm>
          <a:prstGeom prst="rect">
            <a:avLst/>
          </a:prstGeom>
        </p:spPr>
        <p:txBody>
          <a:bodyPr/>
          <a:lstStyle>
            <a:lvl1pPr marL="266700" indent="-266700" algn="l" rtl="0" eaLnBrk="0" fontAlgn="base" hangingPunct="0">
              <a:spcBef>
                <a:spcPct val="20000"/>
              </a:spcBef>
              <a:spcAft>
                <a:spcPct val="0"/>
              </a:spcAft>
              <a:buClr>
                <a:schemeClr val="tx2"/>
              </a:buClr>
              <a:buFont typeface="Wingdings" charset="2"/>
              <a:buChar char="§"/>
              <a:defRPr sz="2000" b="0">
                <a:solidFill>
                  <a:schemeClr val="tx1"/>
                </a:solidFill>
                <a:latin typeface="+mn-lt"/>
                <a:ea typeface="ＭＳ Ｐゴシック" pitchFamily="-65" charset="-128"/>
                <a:cs typeface="ＭＳ Ｐゴシック" pitchFamily="18" charset="-128"/>
              </a:defRPr>
            </a:lvl1pPr>
            <a:lvl2pPr marL="534988" indent="-268288"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2pPr>
            <a:lvl3pPr marL="801688"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3pPr>
            <a:lvl4pPr marL="1079500" indent="-277813"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4pPr>
            <a:lvl5pPr marL="1346200" indent="-266700" algn="l" rtl="0" eaLnBrk="0" fontAlgn="base" hangingPunct="0">
              <a:spcBef>
                <a:spcPct val="20000"/>
              </a:spcBef>
              <a:spcAft>
                <a:spcPct val="0"/>
              </a:spcAft>
              <a:buClr>
                <a:schemeClr val="tx2"/>
              </a:buClr>
              <a:buFont typeface="Lucida Grande"/>
              <a:buChar char="□"/>
              <a:defRPr sz="2000" b="0">
                <a:solidFill>
                  <a:schemeClr val="tx1"/>
                </a:solidFill>
                <a:latin typeface="+mn-lt"/>
                <a:ea typeface="ＭＳ Ｐゴシック" pitchFamily="-65" charset="-128"/>
              </a:defRPr>
            </a:lvl5pPr>
            <a:lvl6pPr marL="2438400" indent="-228600" algn="l" rtl="0" eaLnBrk="1" fontAlgn="base" hangingPunct="1">
              <a:spcBef>
                <a:spcPct val="20000"/>
              </a:spcBef>
              <a:spcAft>
                <a:spcPct val="0"/>
              </a:spcAft>
              <a:buChar char="»"/>
              <a:defRPr sz="1400">
                <a:solidFill>
                  <a:schemeClr val="tx1"/>
                </a:solidFill>
                <a:latin typeface="+mn-lt"/>
              </a:defRPr>
            </a:lvl6pPr>
            <a:lvl7pPr marL="2895600" indent="-228600" algn="l" rtl="0" eaLnBrk="1" fontAlgn="base" hangingPunct="1">
              <a:spcBef>
                <a:spcPct val="20000"/>
              </a:spcBef>
              <a:spcAft>
                <a:spcPct val="0"/>
              </a:spcAft>
              <a:buChar char="»"/>
              <a:defRPr sz="1400">
                <a:solidFill>
                  <a:schemeClr val="tx1"/>
                </a:solidFill>
                <a:latin typeface="+mn-lt"/>
              </a:defRPr>
            </a:lvl7pPr>
            <a:lvl8pPr marL="3352800" indent="-228600" algn="l" rtl="0" eaLnBrk="1" fontAlgn="base" hangingPunct="1">
              <a:spcBef>
                <a:spcPct val="20000"/>
              </a:spcBef>
              <a:spcAft>
                <a:spcPct val="0"/>
              </a:spcAft>
              <a:buChar char="»"/>
              <a:defRPr sz="1400">
                <a:solidFill>
                  <a:schemeClr val="tx1"/>
                </a:solidFill>
                <a:latin typeface="+mn-lt"/>
              </a:defRPr>
            </a:lvl8pPr>
            <a:lvl9pPr marL="3810000" indent="-228600" algn="l" rtl="0" eaLnBrk="1" fontAlgn="base" hangingPunct="1">
              <a:spcBef>
                <a:spcPct val="20000"/>
              </a:spcBef>
              <a:spcAft>
                <a:spcPct val="0"/>
              </a:spcAft>
              <a:buChar char="»"/>
              <a:defRPr sz="1400">
                <a:solidFill>
                  <a:schemeClr val="tx1"/>
                </a:solidFill>
                <a:latin typeface="+mn-lt"/>
              </a:defRPr>
            </a:lvl9pPr>
          </a:lstStyle>
          <a:p>
            <a:pPr algn="ctr" eaLnBrk="1" hangingPunct="1"/>
            <a:endParaRPr lang="en-US" kern="0" dirty="0">
              <a:latin typeface="Arial" charset="0"/>
              <a:ea typeface="ＭＳ Ｐゴシック" charset="0"/>
              <a:cs typeface="ＭＳ Ｐゴシック" charset="0"/>
            </a:endParaRPr>
          </a:p>
          <a:p>
            <a:pPr marL="0" indent="0" algn="ctr" eaLnBrk="1" hangingPunct="1">
              <a:buNone/>
            </a:pPr>
            <a:r>
              <a:rPr lang="en-US" kern="0" dirty="0">
                <a:latin typeface="Arial" charset="0"/>
                <a:ea typeface="ＭＳ Ｐゴシック" charset="0"/>
                <a:cs typeface="ＭＳ Ｐゴシック" charset="0"/>
              </a:rPr>
              <a:t>Lecturer Assistant</a:t>
            </a:r>
            <a:endParaRPr lang="de-DE" kern="0" dirty="0">
              <a:latin typeface="Arial" charset="0"/>
              <a:ea typeface="ＭＳ Ｐゴシック" charset="0"/>
              <a:cs typeface="ＭＳ Ｐゴシック" charset="0"/>
            </a:endParaRPr>
          </a:p>
          <a:p>
            <a:pPr marL="0" indent="0" algn="ctr" eaLnBrk="1" hangingPunct="1">
              <a:buNone/>
            </a:pPr>
            <a:r>
              <a:rPr lang="de-DE" altLang="zh-CN" kern="0" dirty="0">
                <a:latin typeface="Arial" charset="0"/>
                <a:ea typeface="ＭＳ Ｐゴシック" charset="0"/>
                <a:cs typeface="ＭＳ Ｐゴシック" charset="0"/>
              </a:rPr>
              <a:t>Tian </a:t>
            </a:r>
            <a:r>
              <a:rPr lang="de-DE" altLang="zh-CN" kern="0" dirty="0" err="1">
                <a:latin typeface="Arial" charset="0"/>
                <a:ea typeface="ＭＳ Ｐゴシック" charset="0"/>
                <a:cs typeface="ＭＳ Ｐゴシック" charset="0"/>
              </a:rPr>
              <a:t>Tian</a:t>
            </a:r>
            <a:endParaRPr lang="en-US" kern="0" dirty="0">
              <a:latin typeface="Arial" charset="0"/>
              <a:ea typeface="ＭＳ Ｐゴシック" charset="0"/>
              <a:cs typeface="ＭＳ Ｐゴシック" charset="0"/>
            </a:endParaRPr>
          </a:p>
        </p:txBody>
      </p:sp>
      <p:sp>
        <p:nvSpPr>
          <p:cNvPr id="6" name="TextBox 5">
            <a:extLst>
              <a:ext uri="{FF2B5EF4-FFF2-40B4-BE49-F238E27FC236}">
                <a16:creationId xmlns:a16="http://schemas.microsoft.com/office/drawing/2014/main" id="{1D2BC26E-0A51-B6A2-A7CC-8E8FC9201E40}"/>
              </a:ext>
            </a:extLst>
          </p:cNvPr>
          <p:cNvSpPr txBox="1"/>
          <p:nvPr/>
        </p:nvSpPr>
        <p:spPr>
          <a:xfrm>
            <a:off x="1334530" y="6422672"/>
            <a:ext cx="6301945" cy="276999"/>
          </a:xfrm>
          <a:prstGeom prst="rect">
            <a:avLst/>
          </a:prstGeom>
          <a:noFill/>
        </p:spPr>
        <p:txBody>
          <a:bodyPr wrap="square">
            <a:spAutoFit/>
          </a:bodyPr>
          <a:lstStyle/>
          <a:p>
            <a:r>
              <a:rPr lang="en-US" sz="1200" dirty="0">
                <a:solidFill>
                  <a:srgbClr val="0065BD"/>
                </a:solidFill>
              </a:rPr>
              <a:t>Plant Genetics – Department of Molecular Life Sciences – School of Life Sciences</a:t>
            </a:r>
            <a:endParaRPr lang="de-DE" sz="1200" dirty="0">
              <a:solidFill>
                <a:srgbClr val="0065BD"/>
              </a:solidFill>
            </a:endParaRPr>
          </a:p>
        </p:txBody>
      </p:sp>
    </p:spTree>
    <p:extLst>
      <p:ext uri="{BB962C8B-B14F-4D97-AF65-F5344CB8AC3E}">
        <p14:creationId xmlns:p14="http://schemas.microsoft.com/office/powerpoint/2010/main" val="285228182"/>
      </p:ext>
    </p:extLst>
  </p:cSld>
  <p:clrMapOvr>
    <a:masterClrMapping/>
  </p:clrMapOvr>
</p:sld>
</file>

<file path=ppt/theme/theme1.xml><?xml version="1.0" encoding="utf-8"?>
<a:theme xmlns:a="http://schemas.openxmlformats.org/drawingml/2006/main" name="TUM_Vorlage_hellblau">
  <a:themeElements>
    <a:clrScheme name="Leere Präsentation 1">
      <a:dk1>
        <a:srgbClr val="000000"/>
      </a:dk1>
      <a:lt1>
        <a:srgbClr val="FFFFFF"/>
      </a:lt1>
      <a:dk2>
        <a:srgbClr val="0065BD"/>
      </a:dk2>
      <a:lt2>
        <a:srgbClr val="005293"/>
      </a:lt2>
      <a:accent1>
        <a:srgbClr val="A2AD00"/>
      </a:accent1>
      <a:accent2>
        <a:srgbClr val="E37222"/>
      </a:accent2>
      <a:accent3>
        <a:srgbClr val="AAB8DB"/>
      </a:accent3>
      <a:accent4>
        <a:srgbClr val="DADADA"/>
      </a:accent4>
      <a:accent5>
        <a:srgbClr val="CED3AA"/>
      </a:accent5>
      <a:accent6>
        <a:srgbClr val="CE671E"/>
      </a:accent6>
      <a:hlink>
        <a:srgbClr val="DAD7CB"/>
      </a:hlink>
      <a:folHlink>
        <a:srgbClr val="9C9D9F"/>
      </a:folHlink>
    </a:clrScheme>
    <a:fontScheme name="Leere Präsentatio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de-DE" sz="2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de-DE" sz="2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Leere Präsentation 1">
        <a:dk1>
          <a:srgbClr val="000000"/>
        </a:dk1>
        <a:lt1>
          <a:srgbClr val="FFFFFF"/>
        </a:lt1>
        <a:dk2>
          <a:srgbClr val="0065BD"/>
        </a:dk2>
        <a:lt2>
          <a:srgbClr val="005293"/>
        </a:lt2>
        <a:accent1>
          <a:srgbClr val="A2AD00"/>
        </a:accent1>
        <a:accent2>
          <a:srgbClr val="E37222"/>
        </a:accent2>
        <a:accent3>
          <a:srgbClr val="AAB8DB"/>
        </a:accent3>
        <a:accent4>
          <a:srgbClr val="DADADA"/>
        </a:accent4>
        <a:accent5>
          <a:srgbClr val="CED3AA"/>
        </a:accent5>
        <a:accent6>
          <a:srgbClr val="CE671E"/>
        </a:accent6>
        <a:hlink>
          <a:srgbClr val="DAD7CB"/>
        </a:hlink>
        <a:folHlink>
          <a:srgbClr val="9C9D9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12587</TotalTime>
  <Words>2824</Words>
  <Application>Microsoft Macintosh PowerPoint</Application>
  <PresentationFormat>全屏显示(4:3)</PresentationFormat>
  <Paragraphs>327</Paragraphs>
  <Slides>33</Slides>
  <Notes>14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33</vt:i4>
      </vt:variant>
    </vt:vector>
  </HeadingPairs>
  <TitlesOfParts>
    <vt:vector size="44" baseType="lpstr">
      <vt:lpstr>-webkit-standard</vt:lpstr>
      <vt:lpstr>等线</vt:lpstr>
      <vt:lpstr>DeepSeek-CJK-patch</vt:lpstr>
      <vt:lpstr>ElsevierGulliver</vt:lpstr>
      <vt:lpstr>Harding</vt:lpstr>
      <vt:lpstr>HardingText-Regular</vt:lpstr>
      <vt:lpstr>Arial</vt:lpstr>
      <vt:lpstr>Lucida Grande</vt:lpstr>
      <vt:lpstr>Roboto</vt:lpstr>
      <vt:lpstr>Wingdings</vt:lpstr>
      <vt:lpstr>TUM_Vorlage_hellblau</vt:lpstr>
      <vt:lpstr>Omics Data Analysis of Root-Microbe Interactions </vt:lpstr>
      <vt:lpstr>Main content</vt:lpstr>
      <vt:lpstr>I Omics Data in Root – Microbe Studies (21.5)</vt:lpstr>
      <vt:lpstr>Omics Data in Root–Microbe Studies</vt:lpstr>
      <vt:lpstr>Bacterial genome</vt:lpstr>
      <vt:lpstr>16S rRNA gene</vt:lpstr>
      <vt:lpstr>16S rRNA gene amplicon sequencing</vt:lpstr>
      <vt:lpstr>16S rRNA gene amplicon sequencing</vt:lpstr>
      <vt:lpstr>Preparation for the upcoming exercises</vt:lpstr>
      <vt:lpstr>References</vt:lpstr>
      <vt:lpstr>Test datasets</vt:lpstr>
      <vt:lpstr>Softwares</vt:lpstr>
      <vt:lpstr>II Key Statistical Metrics in Microbiome Analysis (28.5)</vt:lpstr>
      <vt:lpstr>Key Statistical Metrics in Microbiome Analysis</vt:lpstr>
      <vt:lpstr>Alpha diversity</vt:lpstr>
      <vt:lpstr>Rarefaction analysis</vt:lpstr>
      <vt:lpstr>Beta diversity</vt:lpstr>
      <vt:lpstr>Taxonomy distribution </vt:lpstr>
      <vt:lpstr>16S Data Structure </vt:lpstr>
      <vt:lpstr>α diversity -shannon</vt:lpstr>
      <vt:lpstr>Rarefaction analysis  </vt:lpstr>
      <vt:lpstr>β diversity - Bray-Curtis distance</vt:lpstr>
      <vt:lpstr>Taxonomy distribution</vt:lpstr>
      <vt:lpstr>III Root transcriptome data analysis (4.6)</vt:lpstr>
      <vt:lpstr>Transcriptome Sequencing</vt:lpstr>
      <vt:lpstr>RNA sequencing</vt:lpstr>
      <vt:lpstr>RNA sequencing data analysis pipeline</vt:lpstr>
      <vt:lpstr>IV Gene Expression – Microbiome Co-regulation Networks (11.6)</vt:lpstr>
      <vt:lpstr>Root and Microbiome interactions</vt:lpstr>
      <vt:lpstr>Microbiome Co-regulation Networks</vt:lpstr>
      <vt:lpstr>Microbiome Co-regulation Networks</vt:lpstr>
      <vt:lpstr>Microbiome Co-regulation Networks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support</dc:creator>
  <cp:lastModifiedBy>Tian Tian</cp:lastModifiedBy>
  <cp:revision>147</cp:revision>
  <dcterms:created xsi:type="dcterms:W3CDTF">2009-06-05T15:14:26Z</dcterms:created>
  <dcterms:modified xsi:type="dcterms:W3CDTF">2025-05-28T18:11:17Z</dcterms:modified>
</cp:coreProperties>
</file>